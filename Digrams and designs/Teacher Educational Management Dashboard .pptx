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Sorts Mill Goudy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/>
              </a:gs>
              <a:gs pos="50000">
                <a:srgbClr val="FFFFFF"/>
              </a:gs>
              <a:gs pos="100000">
                <a:srgbClr val="F9FAFB"/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381000" y="1119188"/>
            <a:ext cx="2390775" cy="342900"/>
          </a:xfrm>
          <a:custGeom>
            <a:avLst/>
            <a:gdLst/>
            <a:ahLst/>
            <a:cxnLst/>
            <a:rect l="l" t="t" r="r" b="b"/>
            <a:pathLst>
              <a:path w="2390775" h="342900">
                <a:moveTo>
                  <a:pt x="0" y="0"/>
                </a:moveTo>
                <a:lnTo>
                  <a:pt x="2390775" y="0"/>
                </a:lnTo>
                <a:lnTo>
                  <a:pt x="23907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1119188"/>
            <a:ext cx="245745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PHASE 1 PROJECT PROPOSAL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995487"/>
            <a:ext cx="117157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Educational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Management Dashboard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4367213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381000" y="4710113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Empowering Educators Through Data-Driven Insights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2906" y="551021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733425" y="5472113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Educational Technology Initiative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50146" y="5491163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1" name="Shape 9"/>
          <p:cNvSpPr/>
          <p:nvPr/>
        </p:nvSpPr>
        <p:spPr>
          <a:xfrm>
            <a:off x="3900190" y="55102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216896" y="5472113"/>
            <a:ext cx="419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2026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429750" y="4572000"/>
            <a:ext cx="2381250" cy="1905000"/>
          </a:xfrm>
          <a:custGeom>
            <a:avLst/>
            <a:gdLst/>
            <a:ahLst/>
            <a:cxnLst/>
            <a:rect l="l" t="t" r="r" b="b"/>
            <a:pathLst>
              <a:path w="2381250" h="1905000">
                <a:moveTo>
                  <a:pt x="476250" y="357188"/>
                </a:moveTo>
                <a:cubicBezTo>
                  <a:pt x="476250" y="225847"/>
                  <a:pt x="583034" y="119062"/>
                  <a:pt x="714375" y="119062"/>
                </a:cubicBezTo>
                <a:lnTo>
                  <a:pt x="2024062" y="119062"/>
                </a:lnTo>
                <a:cubicBezTo>
                  <a:pt x="2155403" y="119062"/>
                  <a:pt x="2262188" y="225847"/>
                  <a:pt x="2262188" y="357188"/>
                </a:cubicBezTo>
                <a:lnTo>
                  <a:pt x="2262188" y="1250156"/>
                </a:lnTo>
                <a:lnTo>
                  <a:pt x="1905000" y="1250156"/>
                </a:lnTo>
                <a:lnTo>
                  <a:pt x="1905000" y="1190625"/>
                </a:lnTo>
                <a:cubicBezTo>
                  <a:pt x="1905000" y="1124769"/>
                  <a:pt x="1851794" y="1071563"/>
                  <a:pt x="1785938" y="1071563"/>
                </a:cubicBezTo>
                <a:lnTo>
                  <a:pt x="1547813" y="1071563"/>
                </a:lnTo>
                <a:cubicBezTo>
                  <a:pt x="1481956" y="1071563"/>
                  <a:pt x="1428750" y="1124769"/>
                  <a:pt x="1428750" y="1190625"/>
                </a:cubicBezTo>
                <a:lnTo>
                  <a:pt x="1428750" y="1250156"/>
                </a:lnTo>
                <a:lnTo>
                  <a:pt x="948407" y="1250156"/>
                </a:lnTo>
                <a:cubicBezTo>
                  <a:pt x="988963" y="1180207"/>
                  <a:pt x="1012031" y="1098724"/>
                  <a:pt x="1012031" y="1012031"/>
                </a:cubicBezTo>
                <a:cubicBezTo>
                  <a:pt x="1012031" y="748978"/>
                  <a:pt x="798835" y="535781"/>
                  <a:pt x="535781" y="535781"/>
                </a:cubicBezTo>
                <a:cubicBezTo>
                  <a:pt x="515689" y="535781"/>
                  <a:pt x="495598" y="536897"/>
                  <a:pt x="476250" y="539502"/>
                </a:cubicBezTo>
                <a:lnTo>
                  <a:pt x="476250" y="357188"/>
                </a:lnTo>
                <a:close/>
                <a:moveTo>
                  <a:pt x="1238994" y="1666875"/>
                </a:moveTo>
                <a:cubicBezTo>
                  <a:pt x="1220019" y="1576834"/>
                  <a:pt x="1178347" y="1495351"/>
                  <a:pt x="1119560" y="1428750"/>
                </a:cubicBezTo>
                <a:lnTo>
                  <a:pt x="2262188" y="1428750"/>
                </a:lnTo>
                <a:cubicBezTo>
                  <a:pt x="2262188" y="1560091"/>
                  <a:pt x="2155403" y="1666875"/>
                  <a:pt x="2024062" y="1666875"/>
                </a:cubicBezTo>
                <a:lnTo>
                  <a:pt x="1238994" y="1666875"/>
                </a:lnTo>
                <a:close/>
                <a:moveTo>
                  <a:pt x="238125" y="1012031"/>
                </a:moveTo>
                <a:cubicBezTo>
                  <a:pt x="238125" y="847750"/>
                  <a:pt x="371500" y="714375"/>
                  <a:pt x="535781" y="714375"/>
                </a:cubicBezTo>
                <a:cubicBezTo>
                  <a:pt x="700062" y="714375"/>
                  <a:pt x="833438" y="847750"/>
                  <a:pt x="833438" y="1012031"/>
                </a:cubicBezTo>
                <a:cubicBezTo>
                  <a:pt x="833438" y="1176312"/>
                  <a:pt x="700062" y="1309688"/>
                  <a:pt x="535781" y="1309688"/>
                </a:cubicBezTo>
                <a:cubicBezTo>
                  <a:pt x="371500" y="1309688"/>
                  <a:pt x="238125" y="1176312"/>
                  <a:pt x="238125" y="1012031"/>
                </a:cubicBezTo>
                <a:close/>
                <a:moveTo>
                  <a:pt x="0" y="1785938"/>
                </a:moveTo>
                <a:cubicBezTo>
                  <a:pt x="0" y="1588740"/>
                  <a:pt x="159990" y="1428750"/>
                  <a:pt x="357188" y="1428750"/>
                </a:cubicBezTo>
                <a:lnTo>
                  <a:pt x="714375" y="1428750"/>
                </a:lnTo>
                <a:cubicBezTo>
                  <a:pt x="911572" y="1428750"/>
                  <a:pt x="1071563" y="1588740"/>
                  <a:pt x="1071563" y="1785938"/>
                </a:cubicBezTo>
                <a:cubicBezTo>
                  <a:pt x="1071563" y="1851794"/>
                  <a:pt x="1018356" y="1905000"/>
                  <a:pt x="952500" y="1905000"/>
                </a:cubicBezTo>
                <a:lnTo>
                  <a:pt x="119062" y="1905000"/>
                </a:lnTo>
                <a:cubicBezTo>
                  <a:pt x="53206" y="1905000"/>
                  <a:pt x="0" y="1851794"/>
                  <a:pt x="0" y="1785938"/>
                </a:cubicBezTo>
                <a:close/>
              </a:path>
            </a:pathLst>
          </a:custGeom>
          <a:solidFill>
            <a:srgbClr val="8B000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0" y="0"/>
                </a:moveTo>
                <a:lnTo>
                  <a:pt x="5543550" y="0"/>
                </a:lnTo>
                <a:lnTo>
                  <a:pt x="55435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23875" y="1409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1100" y="1409700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Domain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1100" y="1714500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Educational Technology landscape, terminology, and business context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2573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0" y="0"/>
                </a:moveTo>
                <a:lnTo>
                  <a:pt x="5543550" y="0"/>
                </a:lnTo>
                <a:lnTo>
                  <a:pt x="55435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6267450" y="12573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389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391275" y="1409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8500" y="1409700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0" y="1714500"/>
            <a:ext cx="3438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Current pain points and intervention opportunities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2479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0" y="0"/>
                </a:moveTo>
                <a:lnTo>
                  <a:pt x="5543550" y="0"/>
                </a:lnTo>
                <a:lnTo>
                  <a:pt x="55435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2247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71500" y="240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23875" y="2400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1100" y="2400300"/>
            <a:ext cx="3429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Scope &amp; IRBM Framework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1100" y="2705100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Integrated Result Based Management methodology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22479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0" y="0"/>
                </a:moveTo>
                <a:lnTo>
                  <a:pt x="5543550" y="0"/>
                </a:lnTo>
                <a:lnTo>
                  <a:pt x="55435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267450" y="22479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38900" y="24003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391275" y="24003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8500" y="2400300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Vision and Objectives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8500" y="27051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SMART goals and strategic direction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32385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0" y="0"/>
                </a:moveTo>
                <a:lnTo>
                  <a:pt x="5543550" y="0"/>
                </a:lnTo>
                <a:lnTo>
                  <a:pt x="55435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32385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71500" y="3390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523875" y="3390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1100" y="3390900"/>
            <a:ext cx="3038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Users &amp; Stakeholders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1100" y="36957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Teachers, administrators, and learner profiles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7450" y="32385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0" y="0"/>
                </a:moveTo>
                <a:lnTo>
                  <a:pt x="5543550" y="0"/>
                </a:lnTo>
                <a:lnTo>
                  <a:pt x="55435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267450" y="32385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438900" y="3390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391275" y="3390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8500" y="3390900"/>
            <a:ext cx="3829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Requirements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36957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Mandatory, functional, and non-functional specifications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42291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0" y="0"/>
                </a:moveTo>
                <a:lnTo>
                  <a:pt x="5543550" y="0"/>
                </a:lnTo>
                <a:lnTo>
                  <a:pt x="55435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1" name="Shape 39"/>
          <p:cNvSpPr/>
          <p:nvPr/>
        </p:nvSpPr>
        <p:spPr>
          <a:xfrm>
            <a:off x="400050" y="4229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57150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523875" y="4381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81100" y="4381500"/>
            <a:ext cx="2838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 Case Example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1100" y="4686300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Adding a learner workflow demonstration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67450" y="4229100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0" y="0"/>
                </a:moveTo>
                <a:lnTo>
                  <a:pt x="5543550" y="0"/>
                </a:lnTo>
                <a:lnTo>
                  <a:pt x="554355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6267450" y="422910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6438900" y="438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6391275" y="43815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48500" y="4381500"/>
            <a:ext cx="314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48500" y="46863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Implementation tools and deployment strategy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 DOMAIN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Educational Technology Landscape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19225"/>
            <a:ext cx="7572375" cy="19050"/>
          </a:xfrm>
          <a:custGeom>
            <a:avLst/>
            <a:gdLst/>
            <a:ahLst/>
            <a:cxnLst/>
            <a:rect l="l" t="t" r="r" b="b"/>
            <a:pathLst>
              <a:path w="7572375" h="19050">
                <a:moveTo>
                  <a:pt x="0" y="0"/>
                </a:moveTo>
                <a:lnTo>
                  <a:pt x="7572375" y="0"/>
                </a:lnTo>
                <a:lnTo>
                  <a:pt x="757237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1104900"/>
            <a:ext cx="7667625" cy="304800"/>
          </a:xfrm>
          <a:prstGeom prst="rect">
            <a:avLst/>
          </a:prstGeom>
          <a:noFill/>
          <a:ln/>
        </p:spPr>
        <p:txBody>
          <a:bodyPr wrap="square" lIns="0" tIns="0" rIns="0" bIns="3810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1.1 General Field of Business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1504950"/>
            <a:ext cx="764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Education Technology (EdTech)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, focused on school and classroom management, specifically supporting teachers with digital tools to improve learning outcomes. The system addresses the growing need for data-driven educational interventions and student progress tracking.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0050" y="2266950"/>
            <a:ext cx="7553325" cy="685800"/>
          </a:xfrm>
          <a:custGeom>
            <a:avLst/>
            <a:gdLst/>
            <a:ahLst/>
            <a:cxnLst/>
            <a:rect l="l" t="t" r="r" b="b"/>
            <a:pathLst>
              <a:path w="7553325" h="685800">
                <a:moveTo>
                  <a:pt x="0" y="0"/>
                </a:moveTo>
                <a:lnTo>
                  <a:pt x="7553325" y="0"/>
                </a:lnTo>
                <a:lnTo>
                  <a:pt x="755332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Shape 6"/>
          <p:cNvSpPr/>
          <p:nvPr/>
        </p:nvSpPr>
        <p:spPr>
          <a:xfrm>
            <a:off x="400050" y="226695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533400" y="2381250"/>
            <a:ext cx="738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Schools and teachers currently rely on spreadsheets or paper-based methods to track learners, creating significant inefficiencies in intervention timing and achievement recognition.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02501" y="1419225"/>
            <a:ext cx="3705225" cy="19050"/>
          </a:xfrm>
          <a:custGeom>
            <a:avLst/>
            <a:gdLst/>
            <a:ahLst/>
            <a:cxnLst/>
            <a:rect l="l" t="t" r="r" b="b"/>
            <a:pathLst>
              <a:path w="3705225" h="19050">
                <a:moveTo>
                  <a:pt x="0" y="0"/>
                </a:moveTo>
                <a:lnTo>
                  <a:pt x="3705225" y="0"/>
                </a:lnTo>
                <a:lnTo>
                  <a:pt x="3705225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102501" y="1104900"/>
            <a:ext cx="3800475" cy="304800"/>
          </a:xfrm>
          <a:prstGeom prst="rect">
            <a:avLst/>
          </a:prstGeom>
          <a:noFill/>
          <a:ln/>
        </p:spPr>
        <p:txBody>
          <a:bodyPr wrap="square" lIns="0" tIns="0" rIns="0" bIns="3810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1.2 Key Terminology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02501" y="150495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42697" y="1504950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Learner: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Student enrolled and tracked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02501" y="177165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42697" y="1771650"/>
            <a:ext cx="335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Primary user, academic progress manager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02501" y="203835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42697" y="2038350"/>
            <a:ext cx="2724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Grade: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Academic level (e.g., Grade 10-12)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02501" y="230505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2697" y="2305050"/>
            <a:ext cx="3076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Records: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Scores and assessments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02501" y="257175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42697" y="257175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At-risk: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Learners needing additional support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02501" y="283845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2697" y="2838450"/>
            <a:ext cx="2990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Achievement: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Awards and accomplishments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02501" y="3105150"/>
            <a:ext cx="142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42697" y="310515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Status: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Active, graduated, or inactive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000" y="3762375"/>
            <a:ext cx="5638800" cy="19050"/>
          </a:xfrm>
          <a:custGeom>
            <a:avLst/>
            <a:gdLst/>
            <a:ahLst/>
            <a:cxnLst/>
            <a:rect l="l" t="t" r="r" b="b"/>
            <a:pathLst>
              <a:path w="5638800" h="19050">
                <a:moveTo>
                  <a:pt x="0" y="0"/>
                </a:moveTo>
                <a:lnTo>
                  <a:pt x="5638800" y="0"/>
                </a:lnTo>
                <a:lnTo>
                  <a:pt x="56388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" y="3448050"/>
            <a:ext cx="5724525" cy="304800"/>
          </a:xfrm>
          <a:prstGeom prst="rect">
            <a:avLst/>
          </a:prstGeom>
          <a:noFill/>
          <a:ln/>
        </p:spPr>
        <p:txBody>
          <a:bodyPr wrap="square" lIns="0" tIns="0" rIns="0" bIns="381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1.3 Business Environment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5288" y="39052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38175" y="38481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Current Challenge: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Manual tracking via spreadsheets and paper-based methods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95288" y="42100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175" y="4152900"/>
            <a:ext cx="460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Market Demand: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Increased need for data-driven intervention systems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5288" y="4514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38175" y="4457700"/>
            <a:ext cx="481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Regulatory Pressure: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Reporting requirements from school administrators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0" y="3762375"/>
            <a:ext cx="5638800" cy="19050"/>
          </a:xfrm>
          <a:custGeom>
            <a:avLst/>
            <a:gdLst/>
            <a:ahLst/>
            <a:cxnLst/>
            <a:rect l="l" t="t" r="r" b="b"/>
            <a:pathLst>
              <a:path w="5638800" h="19050">
                <a:moveTo>
                  <a:pt x="0" y="0"/>
                </a:moveTo>
                <a:lnTo>
                  <a:pt x="5638800" y="0"/>
                </a:lnTo>
                <a:lnTo>
                  <a:pt x="5638800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3448050"/>
            <a:ext cx="5724525" cy="304800"/>
          </a:xfrm>
          <a:prstGeom prst="rect">
            <a:avLst/>
          </a:prstGeom>
          <a:noFill/>
          <a:ln/>
        </p:spPr>
        <p:txBody>
          <a:bodyPr wrap="square" lIns="0" tIns="0" rIns="0" bIns="381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1.4 Competing Software Landscape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2200" y="38862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9525"/>
                </a:moveTo>
                <a:cubicBezTo>
                  <a:pt x="27593" y="9525"/>
                  <a:pt x="19050" y="18068"/>
                  <a:pt x="19050" y="28575"/>
                </a:cubicBezTo>
                <a:lnTo>
                  <a:pt x="19050" y="100013"/>
                </a:lnTo>
                <a:lnTo>
                  <a:pt x="38100" y="100013"/>
                </a:lnTo>
                <a:lnTo>
                  <a:pt x="38100" y="28575"/>
                </a:lnTo>
                <a:lnTo>
                  <a:pt x="152400" y="28575"/>
                </a:lnTo>
                <a:lnTo>
                  <a:pt x="152400" y="100013"/>
                </a:lnTo>
                <a:lnTo>
                  <a:pt x="171450" y="100013"/>
                </a:lnTo>
                <a:lnTo>
                  <a:pt x="171450" y="28575"/>
                </a:lnTo>
                <a:cubicBezTo>
                  <a:pt x="171450" y="18068"/>
                  <a:pt x="162907" y="9525"/>
                  <a:pt x="152400" y="9525"/>
                </a:cubicBezTo>
                <a:lnTo>
                  <a:pt x="38100" y="9525"/>
                </a:lnTo>
                <a:close/>
                <a:moveTo>
                  <a:pt x="5715" y="114300"/>
                </a:moveTo>
                <a:cubicBezTo>
                  <a:pt x="2560" y="114300"/>
                  <a:pt x="0" y="116860"/>
                  <a:pt x="0" y="120015"/>
                </a:cubicBezTo>
                <a:cubicBezTo>
                  <a:pt x="0" y="132636"/>
                  <a:pt x="10239" y="142875"/>
                  <a:pt x="22860" y="142875"/>
                </a:cubicBezTo>
                <a:lnTo>
                  <a:pt x="167640" y="142875"/>
                </a:lnTo>
                <a:cubicBezTo>
                  <a:pt x="180261" y="142875"/>
                  <a:pt x="190500" y="132636"/>
                  <a:pt x="190500" y="120015"/>
                </a:cubicBezTo>
                <a:cubicBezTo>
                  <a:pt x="190500" y="116860"/>
                  <a:pt x="187940" y="114300"/>
                  <a:pt x="184785" y="114300"/>
                </a:cubicBezTo>
                <a:lnTo>
                  <a:pt x="5715" y="11430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6438900" y="38481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Google Classroom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67800" y="38862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9525"/>
                </a:moveTo>
                <a:cubicBezTo>
                  <a:pt x="27593" y="9525"/>
                  <a:pt x="19050" y="18068"/>
                  <a:pt x="19050" y="28575"/>
                </a:cubicBezTo>
                <a:lnTo>
                  <a:pt x="19050" y="100013"/>
                </a:lnTo>
                <a:lnTo>
                  <a:pt x="38100" y="100013"/>
                </a:lnTo>
                <a:lnTo>
                  <a:pt x="38100" y="28575"/>
                </a:lnTo>
                <a:lnTo>
                  <a:pt x="152400" y="28575"/>
                </a:lnTo>
                <a:lnTo>
                  <a:pt x="152400" y="100013"/>
                </a:lnTo>
                <a:lnTo>
                  <a:pt x="171450" y="100013"/>
                </a:lnTo>
                <a:lnTo>
                  <a:pt x="171450" y="28575"/>
                </a:lnTo>
                <a:cubicBezTo>
                  <a:pt x="171450" y="18068"/>
                  <a:pt x="162907" y="9525"/>
                  <a:pt x="152400" y="9525"/>
                </a:cubicBezTo>
                <a:lnTo>
                  <a:pt x="38100" y="9525"/>
                </a:lnTo>
                <a:close/>
                <a:moveTo>
                  <a:pt x="5715" y="114300"/>
                </a:moveTo>
                <a:cubicBezTo>
                  <a:pt x="2560" y="114300"/>
                  <a:pt x="0" y="116860"/>
                  <a:pt x="0" y="120015"/>
                </a:cubicBezTo>
                <a:cubicBezTo>
                  <a:pt x="0" y="132636"/>
                  <a:pt x="10239" y="142875"/>
                  <a:pt x="22860" y="142875"/>
                </a:cubicBezTo>
                <a:lnTo>
                  <a:pt x="167640" y="142875"/>
                </a:lnTo>
                <a:cubicBezTo>
                  <a:pt x="180261" y="142875"/>
                  <a:pt x="190500" y="132636"/>
                  <a:pt x="190500" y="120015"/>
                </a:cubicBezTo>
                <a:cubicBezTo>
                  <a:pt x="190500" y="116860"/>
                  <a:pt x="187940" y="114300"/>
                  <a:pt x="184785" y="114300"/>
                </a:cubicBezTo>
                <a:lnTo>
                  <a:pt x="5715" y="11430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9334500" y="3848100"/>
            <a:ext cx="771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Schoology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2200" y="4152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9525"/>
                </a:moveTo>
                <a:cubicBezTo>
                  <a:pt x="27593" y="9525"/>
                  <a:pt x="19050" y="18068"/>
                  <a:pt x="19050" y="28575"/>
                </a:cubicBezTo>
                <a:lnTo>
                  <a:pt x="19050" y="100013"/>
                </a:lnTo>
                <a:lnTo>
                  <a:pt x="38100" y="100013"/>
                </a:lnTo>
                <a:lnTo>
                  <a:pt x="38100" y="28575"/>
                </a:lnTo>
                <a:lnTo>
                  <a:pt x="152400" y="28575"/>
                </a:lnTo>
                <a:lnTo>
                  <a:pt x="152400" y="100013"/>
                </a:lnTo>
                <a:lnTo>
                  <a:pt x="171450" y="100013"/>
                </a:lnTo>
                <a:lnTo>
                  <a:pt x="171450" y="28575"/>
                </a:lnTo>
                <a:cubicBezTo>
                  <a:pt x="171450" y="18068"/>
                  <a:pt x="162907" y="9525"/>
                  <a:pt x="152400" y="9525"/>
                </a:cubicBezTo>
                <a:lnTo>
                  <a:pt x="38100" y="9525"/>
                </a:lnTo>
                <a:close/>
                <a:moveTo>
                  <a:pt x="5715" y="114300"/>
                </a:moveTo>
                <a:cubicBezTo>
                  <a:pt x="2560" y="114300"/>
                  <a:pt x="0" y="116860"/>
                  <a:pt x="0" y="120015"/>
                </a:cubicBezTo>
                <a:cubicBezTo>
                  <a:pt x="0" y="132636"/>
                  <a:pt x="10239" y="142875"/>
                  <a:pt x="22860" y="142875"/>
                </a:cubicBezTo>
                <a:lnTo>
                  <a:pt x="167640" y="142875"/>
                </a:lnTo>
                <a:cubicBezTo>
                  <a:pt x="180261" y="142875"/>
                  <a:pt x="190500" y="132636"/>
                  <a:pt x="190500" y="120015"/>
                </a:cubicBezTo>
                <a:cubicBezTo>
                  <a:pt x="190500" y="116860"/>
                  <a:pt x="187940" y="114300"/>
                  <a:pt x="184785" y="114300"/>
                </a:cubicBezTo>
                <a:lnTo>
                  <a:pt x="5715" y="11430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6438900" y="41148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Edsby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67800" y="41529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9525"/>
                </a:moveTo>
                <a:cubicBezTo>
                  <a:pt x="27593" y="9525"/>
                  <a:pt x="19050" y="18068"/>
                  <a:pt x="19050" y="28575"/>
                </a:cubicBezTo>
                <a:lnTo>
                  <a:pt x="19050" y="100013"/>
                </a:lnTo>
                <a:lnTo>
                  <a:pt x="38100" y="100013"/>
                </a:lnTo>
                <a:lnTo>
                  <a:pt x="38100" y="28575"/>
                </a:lnTo>
                <a:lnTo>
                  <a:pt x="152400" y="28575"/>
                </a:lnTo>
                <a:lnTo>
                  <a:pt x="152400" y="100013"/>
                </a:lnTo>
                <a:lnTo>
                  <a:pt x="171450" y="100013"/>
                </a:lnTo>
                <a:lnTo>
                  <a:pt x="171450" y="28575"/>
                </a:lnTo>
                <a:cubicBezTo>
                  <a:pt x="171450" y="18068"/>
                  <a:pt x="162907" y="9525"/>
                  <a:pt x="152400" y="9525"/>
                </a:cubicBezTo>
                <a:lnTo>
                  <a:pt x="38100" y="9525"/>
                </a:lnTo>
                <a:close/>
                <a:moveTo>
                  <a:pt x="5715" y="114300"/>
                </a:moveTo>
                <a:cubicBezTo>
                  <a:pt x="2560" y="114300"/>
                  <a:pt x="0" y="116860"/>
                  <a:pt x="0" y="120015"/>
                </a:cubicBezTo>
                <a:cubicBezTo>
                  <a:pt x="0" y="132636"/>
                  <a:pt x="10239" y="142875"/>
                  <a:pt x="22860" y="142875"/>
                </a:cubicBezTo>
                <a:lnTo>
                  <a:pt x="167640" y="142875"/>
                </a:lnTo>
                <a:cubicBezTo>
                  <a:pt x="180261" y="142875"/>
                  <a:pt x="190500" y="132636"/>
                  <a:pt x="190500" y="120015"/>
                </a:cubicBezTo>
                <a:cubicBezTo>
                  <a:pt x="190500" y="116860"/>
                  <a:pt x="187940" y="114300"/>
                  <a:pt x="184785" y="114300"/>
                </a:cubicBezTo>
                <a:lnTo>
                  <a:pt x="5715" y="11430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9334500" y="4114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Powerschool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2200" y="44196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9525"/>
                </a:moveTo>
                <a:cubicBezTo>
                  <a:pt x="27593" y="9525"/>
                  <a:pt x="19050" y="18068"/>
                  <a:pt x="19050" y="28575"/>
                </a:cubicBezTo>
                <a:lnTo>
                  <a:pt x="19050" y="100013"/>
                </a:lnTo>
                <a:lnTo>
                  <a:pt x="38100" y="100013"/>
                </a:lnTo>
                <a:lnTo>
                  <a:pt x="38100" y="28575"/>
                </a:lnTo>
                <a:lnTo>
                  <a:pt x="152400" y="28575"/>
                </a:lnTo>
                <a:lnTo>
                  <a:pt x="152400" y="100013"/>
                </a:lnTo>
                <a:lnTo>
                  <a:pt x="171450" y="100013"/>
                </a:lnTo>
                <a:lnTo>
                  <a:pt x="171450" y="28575"/>
                </a:lnTo>
                <a:cubicBezTo>
                  <a:pt x="171450" y="18068"/>
                  <a:pt x="162907" y="9525"/>
                  <a:pt x="152400" y="9525"/>
                </a:cubicBezTo>
                <a:lnTo>
                  <a:pt x="38100" y="9525"/>
                </a:lnTo>
                <a:close/>
                <a:moveTo>
                  <a:pt x="5715" y="114300"/>
                </a:moveTo>
                <a:cubicBezTo>
                  <a:pt x="2560" y="114300"/>
                  <a:pt x="0" y="116860"/>
                  <a:pt x="0" y="120015"/>
                </a:cubicBezTo>
                <a:cubicBezTo>
                  <a:pt x="0" y="132636"/>
                  <a:pt x="10239" y="142875"/>
                  <a:pt x="22860" y="142875"/>
                </a:cubicBezTo>
                <a:lnTo>
                  <a:pt x="167640" y="142875"/>
                </a:lnTo>
                <a:cubicBezTo>
                  <a:pt x="180261" y="142875"/>
                  <a:pt x="190500" y="132636"/>
                  <a:pt x="190500" y="120015"/>
                </a:cubicBezTo>
                <a:cubicBezTo>
                  <a:pt x="190500" y="116860"/>
                  <a:pt x="187940" y="114300"/>
                  <a:pt x="184785" y="114300"/>
                </a:cubicBezTo>
                <a:lnTo>
                  <a:pt x="5715" y="11430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6438900" y="43815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Infinite Campus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72200" y="468630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Existing solutions offer LMS/SIS services but often lack nuanced at-risk tracking and comprehensive achievement recognition features.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81000" y="5262563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8" name="Text 46"/>
          <p:cNvSpPr/>
          <p:nvPr/>
        </p:nvSpPr>
        <p:spPr>
          <a:xfrm>
            <a:off x="381000" y="5343525"/>
            <a:ext cx="1150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1.5 Domain Similarities: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This system parallels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employee tracking in HR systems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,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lead management in CRM platforms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, and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progress dashboards in business environments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34" y="332434"/>
            <a:ext cx="11593620" cy="199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7" b="1" spc="105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 PROBLEM DEFINITION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2434" y="598380"/>
            <a:ext cx="11676728" cy="33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Current Pain Points &amp; Intervention Opportunities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055" y="1130274"/>
            <a:ext cx="5643059" cy="2800753"/>
          </a:xfrm>
          <a:custGeom>
            <a:avLst/>
            <a:gdLst/>
            <a:ahLst/>
            <a:cxnLst/>
            <a:rect l="l" t="t" r="r" b="b"/>
            <a:pathLst>
              <a:path w="5643059" h="2800753">
                <a:moveTo>
                  <a:pt x="0" y="0"/>
                </a:moveTo>
                <a:lnTo>
                  <a:pt x="5643059" y="0"/>
                </a:lnTo>
                <a:lnTo>
                  <a:pt x="5643059" y="2800753"/>
                </a:lnTo>
                <a:lnTo>
                  <a:pt x="0" y="2800753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349055" y="1130274"/>
            <a:ext cx="33243" cy="2800753"/>
          </a:xfrm>
          <a:custGeom>
            <a:avLst/>
            <a:gdLst/>
            <a:ahLst/>
            <a:cxnLst/>
            <a:rect l="l" t="t" r="r" b="b"/>
            <a:pathLst>
              <a:path w="33243" h="2800753">
                <a:moveTo>
                  <a:pt x="0" y="0"/>
                </a:moveTo>
                <a:lnTo>
                  <a:pt x="33243" y="0"/>
                </a:lnTo>
                <a:lnTo>
                  <a:pt x="33243" y="2800753"/>
                </a:lnTo>
                <a:lnTo>
                  <a:pt x="0" y="280075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65137" y="1304802"/>
            <a:ext cx="249325" cy="249325"/>
          </a:xfrm>
          <a:custGeom>
            <a:avLst/>
            <a:gdLst/>
            <a:ahLst/>
            <a:cxnLst/>
            <a:rect l="l" t="t" r="r" b="b"/>
            <a:pathLst>
              <a:path w="249325" h="249325">
                <a:moveTo>
                  <a:pt x="124663" y="0"/>
                </a:moveTo>
                <a:cubicBezTo>
                  <a:pt x="131821" y="0"/>
                  <a:pt x="138395" y="3944"/>
                  <a:pt x="141804" y="10226"/>
                </a:cubicBezTo>
                <a:lnTo>
                  <a:pt x="246988" y="205012"/>
                </a:lnTo>
                <a:cubicBezTo>
                  <a:pt x="250250" y="211050"/>
                  <a:pt x="250104" y="218354"/>
                  <a:pt x="246598" y="224247"/>
                </a:cubicBezTo>
                <a:cubicBezTo>
                  <a:pt x="243092" y="230139"/>
                  <a:pt x="236713" y="233742"/>
                  <a:pt x="229847" y="233742"/>
                </a:cubicBezTo>
                <a:lnTo>
                  <a:pt x="19479" y="233742"/>
                </a:lnTo>
                <a:cubicBezTo>
                  <a:pt x="12612" y="233742"/>
                  <a:pt x="6282" y="230139"/>
                  <a:pt x="2727" y="224247"/>
                </a:cubicBezTo>
                <a:cubicBezTo>
                  <a:pt x="-828" y="218354"/>
                  <a:pt x="-925" y="211050"/>
                  <a:pt x="2337" y="205012"/>
                </a:cubicBezTo>
                <a:lnTo>
                  <a:pt x="107521" y="10226"/>
                </a:lnTo>
                <a:cubicBezTo>
                  <a:pt x="110930" y="3944"/>
                  <a:pt x="117504" y="0"/>
                  <a:pt x="124663" y="0"/>
                </a:cubicBezTo>
                <a:close/>
                <a:moveTo>
                  <a:pt x="124663" y="81810"/>
                </a:moveTo>
                <a:cubicBezTo>
                  <a:pt x="118186" y="81810"/>
                  <a:pt x="112975" y="87020"/>
                  <a:pt x="112975" y="93497"/>
                </a:cubicBezTo>
                <a:lnTo>
                  <a:pt x="112975" y="148037"/>
                </a:lnTo>
                <a:cubicBezTo>
                  <a:pt x="112975" y="154513"/>
                  <a:pt x="118186" y="159724"/>
                  <a:pt x="124663" y="159724"/>
                </a:cubicBezTo>
                <a:cubicBezTo>
                  <a:pt x="131139" y="159724"/>
                  <a:pt x="136350" y="154513"/>
                  <a:pt x="136350" y="148037"/>
                </a:cubicBezTo>
                <a:lnTo>
                  <a:pt x="136350" y="93497"/>
                </a:lnTo>
                <a:cubicBezTo>
                  <a:pt x="136350" y="87020"/>
                  <a:pt x="131139" y="81810"/>
                  <a:pt x="124663" y="81810"/>
                </a:cubicBezTo>
                <a:close/>
                <a:moveTo>
                  <a:pt x="137664" y="186994"/>
                </a:moveTo>
                <a:cubicBezTo>
                  <a:pt x="137960" y="182168"/>
                  <a:pt x="135553" y="177576"/>
                  <a:pt x="131416" y="175074"/>
                </a:cubicBezTo>
                <a:cubicBezTo>
                  <a:pt x="127279" y="172571"/>
                  <a:pt x="122095" y="172571"/>
                  <a:pt x="117958" y="175074"/>
                </a:cubicBezTo>
                <a:cubicBezTo>
                  <a:pt x="113820" y="177576"/>
                  <a:pt x="111414" y="182168"/>
                  <a:pt x="111709" y="186994"/>
                </a:cubicBezTo>
                <a:cubicBezTo>
                  <a:pt x="111414" y="191820"/>
                  <a:pt x="113820" y="196412"/>
                  <a:pt x="117958" y="198914"/>
                </a:cubicBezTo>
                <a:cubicBezTo>
                  <a:pt x="122095" y="201417"/>
                  <a:pt x="127279" y="201417"/>
                  <a:pt x="131416" y="198914"/>
                </a:cubicBezTo>
                <a:cubicBezTo>
                  <a:pt x="135553" y="196412"/>
                  <a:pt x="137960" y="191820"/>
                  <a:pt x="137664" y="18699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943280" y="1296491"/>
            <a:ext cx="1512573" cy="26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Difficulties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1894" y="1695411"/>
            <a:ext cx="5360491" cy="648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2.1 Lack of Digital Centralization:</a:t>
            </a:r>
            <a:pPr>
              <a:lnSpc>
                <a:spcPct val="140000"/>
              </a:lnSpc>
            </a:pPr>
            <a:r>
              <a:rPr lang="en-US" sz="10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Teachers currently manage learner data across multiple manual platforms—spreadsheets, paper records, and disparate administrative systems. This fragmentation prevents holistic visibility into student performance.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1894" y="2443387"/>
            <a:ext cx="5360491" cy="648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2.2 Delayed Intervention Cycles:</a:t>
            </a:r>
            <a:pPr>
              <a:lnSpc>
                <a:spcPct val="140000"/>
              </a:lnSpc>
            </a:pPr>
            <a:r>
              <a:rPr lang="en-US" sz="10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Manual systems create significant lag between performance decline detection and intervention implementation. Critical at-risk students often go unnoticed until term-end assessments.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1894" y="3191362"/>
            <a:ext cx="5360491" cy="432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2.3 Achievement Recognition Gap:</a:t>
            </a:r>
            <a:pPr>
              <a:lnSpc>
                <a:spcPct val="140000"/>
              </a:lnSpc>
            </a:pPr>
            <a:r>
              <a:rPr lang="en-US" sz="10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Current processes make it difficult to track and recognize student achievements promptly, reducing motivation and engagement opportunities.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4302" y="1130274"/>
            <a:ext cx="5659681" cy="2800753"/>
          </a:xfrm>
          <a:custGeom>
            <a:avLst/>
            <a:gdLst/>
            <a:ahLst/>
            <a:cxnLst/>
            <a:rect l="l" t="t" r="r" b="b"/>
            <a:pathLst>
              <a:path w="5659681" h="2800753">
                <a:moveTo>
                  <a:pt x="0" y="0"/>
                </a:moveTo>
                <a:lnTo>
                  <a:pt x="5659681" y="0"/>
                </a:lnTo>
                <a:lnTo>
                  <a:pt x="5659681" y="2800753"/>
                </a:lnTo>
                <a:lnTo>
                  <a:pt x="0" y="280075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24927" y="1304802"/>
            <a:ext cx="186994" cy="249325"/>
          </a:xfrm>
          <a:custGeom>
            <a:avLst/>
            <a:gdLst/>
            <a:ahLst/>
            <a:cxnLst/>
            <a:rect l="l" t="t" r="r" b="b"/>
            <a:pathLst>
              <a:path w="186994" h="249325">
                <a:moveTo>
                  <a:pt x="142632" y="186994"/>
                </a:moveTo>
                <a:cubicBezTo>
                  <a:pt x="146186" y="176135"/>
                  <a:pt x="153296" y="166298"/>
                  <a:pt x="161331" y="157825"/>
                </a:cubicBezTo>
                <a:cubicBezTo>
                  <a:pt x="177255" y="141073"/>
                  <a:pt x="186994" y="118429"/>
                  <a:pt x="186994" y="93497"/>
                </a:cubicBezTo>
                <a:cubicBezTo>
                  <a:pt x="186994" y="41879"/>
                  <a:pt x="145115" y="0"/>
                  <a:pt x="93497" y="0"/>
                </a:cubicBezTo>
                <a:cubicBezTo>
                  <a:pt x="41879" y="0"/>
                  <a:pt x="0" y="41879"/>
                  <a:pt x="0" y="93497"/>
                </a:cubicBezTo>
                <a:cubicBezTo>
                  <a:pt x="0" y="118429"/>
                  <a:pt x="9739" y="141073"/>
                  <a:pt x="25663" y="157825"/>
                </a:cubicBezTo>
                <a:cubicBezTo>
                  <a:pt x="33698" y="166298"/>
                  <a:pt x="40856" y="176135"/>
                  <a:pt x="44362" y="186994"/>
                </a:cubicBezTo>
                <a:lnTo>
                  <a:pt x="142583" y="186994"/>
                </a:lnTo>
                <a:close/>
                <a:moveTo>
                  <a:pt x="140245" y="210368"/>
                </a:moveTo>
                <a:lnTo>
                  <a:pt x="46748" y="210368"/>
                </a:lnTo>
                <a:lnTo>
                  <a:pt x="46748" y="218160"/>
                </a:lnTo>
                <a:cubicBezTo>
                  <a:pt x="46748" y="239683"/>
                  <a:pt x="64182" y="257117"/>
                  <a:pt x="85706" y="257117"/>
                </a:cubicBezTo>
                <a:lnTo>
                  <a:pt x="101288" y="257117"/>
                </a:lnTo>
                <a:cubicBezTo>
                  <a:pt x="122812" y="257117"/>
                  <a:pt x="140245" y="239683"/>
                  <a:pt x="140245" y="218160"/>
                </a:cubicBezTo>
                <a:lnTo>
                  <a:pt x="140245" y="210368"/>
                </a:lnTo>
                <a:close/>
                <a:moveTo>
                  <a:pt x="89601" y="54540"/>
                </a:moveTo>
                <a:cubicBezTo>
                  <a:pt x="70220" y="54540"/>
                  <a:pt x="54540" y="70220"/>
                  <a:pt x="54540" y="89601"/>
                </a:cubicBezTo>
                <a:cubicBezTo>
                  <a:pt x="54540" y="96078"/>
                  <a:pt x="49329" y="101288"/>
                  <a:pt x="42853" y="101288"/>
                </a:cubicBezTo>
                <a:cubicBezTo>
                  <a:pt x="36376" y="101288"/>
                  <a:pt x="31166" y="96078"/>
                  <a:pt x="31166" y="89601"/>
                </a:cubicBezTo>
                <a:cubicBezTo>
                  <a:pt x="31166" y="57316"/>
                  <a:pt x="57316" y="31166"/>
                  <a:pt x="89601" y="31166"/>
                </a:cubicBezTo>
                <a:cubicBezTo>
                  <a:pt x="96078" y="31166"/>
                  <a:pt x="101288" y="36376"/>
                  <a:pt x="101288" y="42853"/>
                </a:cubicBezTo>
                <a:cubicBezTo>
                  <a:pt x="101288" y="49329"/>
                  <a:pt x="96078" y="54540"/>
                  <a:pt x="89601" y="5454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3" name="Text 11"/>
          <p:cNvSpPr/>
          <p:nvPr/>
        </p:nvSpPr>
        <p:spPr>
          <a:xfrm>
            <a:off x="6771905" y="1296491"/>
            <a:ext cx="2002912" cy="26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1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Strategic Opportunity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60518" y="1695411"/>
            <a:ext cx="5393734" cy="648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7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2.4 Automation Potential:</a:t>
            </a:r>
            <a:pPr>
              <a:lnSpc>
                <a:spcPct val="140000"/>
              </a:lnSpc>
            </a:pPr>
            <a:r>
              <a:rPr lang="en-US" sz="1047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The opportunity exists to automate alerts and enable data-driven guidance, significantly boosting teacher productivity and learning outcomes through real-time insights.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0518" y="2443387"/>
            <a:ext cx="5393734" cy="648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7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2.5 Unified Platform Vision:</a:t>
            </a:r>
            <a:pPr>
              <a:lnSpc>
                <a:spcPct val="140000"/>
              </a:lnSpc>
            </a:pPr>
            <a:r>
              <a:rPr lang="en-US" sz="1047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 centralized dashboard would consolidate all learner data, providing teachers with immediate access to performance trends, at-risk indicators, and achievement tracking.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60518" y="3228761"/>
            <a:ext cx="5327247" cy="8311"/>
          </a:xfrm>
          <a:custGeom>
            <a:avLst/>
            <a:gdLst/>
            <a:ahLst/>
            <a:cxnLst/>
            <a:rect l="l" t="t" r="r" b="b"/>
            <a:pathLst>
              <a:path w="5327247" h="8311">
                <a:moveTo>
                  <a:pt x="0" y="0"/>
                </a:moveTo>
                <a:lnTo>
                  <a:pt x="5327247" y="0"/>
                </a:lnTo>
                <a:lnTo>
                  <a:pt x="5327247" y="8311"/>
                </a:lnTo>
                <a:lnTo>
                  <a:pt x="0" y="831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6360518" y="3365890"/>
            <a:ext cx="5393734" cy="39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7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"The goal is to transform reactive administrative burden into proactive educational intervention."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2434" y="4147108"/>
            <a:ext cx="3731566" cy="33243"/>
          </a:xfrm>
          <a:custGeom>
            <a:avLst/>
            <a:gdLst/>
            <a:ahLst/>
            <a:cxnLst/>
            <a:rect l="l" t="t" r="r" b="b"/>
            <a:pathLst>
              <a:path w="3731566" h="33243">
                <a:moveTo>
                  <a:pt x="0" y="0"/>
                </a:moveTo>
                <a:lnTo>
                  <a:pt x="3731566" y="0"/>
                </a:lnTo>
                <a:lnTo>
                  <a:pt x="3731566" y="33243"/>
                </a:lnTo>
                <a:lnTo>
                  <a:pt x="0" y="3324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048102" y="4296703"/>
            <a:ext cx="299190" cy="299190"/>
          </a:xfrm>
          <a:custGeom>
            <a:avLst/>
            <a:gdLst/>
            <a:ahLst/>
            <a:cxnLst/>
            <a:rect l="l" t="t" r="r" b="b"/>
            <a:pathLst>
              <a:path w="299190" h="299190">
                <a:moveTo>
                  <a:pt x="149595" y="0"/>
                </a:moveTo>
                <a:cubicBezTo>
                  <a:pt x="232159" y="0"/>
                  <a:pt x="299190" y="67031"/>
                  <a:pt x="299190" y="149595"/>
                </a:cubicBezTo>
                <a:cubicBezTo>
                  <a:pt x="299190" y="232159"/>
                  <a:pt x="232159" y="299190"/>
                  <a:pt x="149595" y="299190"/>
                </a:cubicBezTo>
                <a:cubicBezTo>
                  <a:pt x="67031" y="299190"/>
                  <a:pt x="0" y="232159"/>
                  <a:pt x="0" y="149595"/>
                </a:cubicBezTo>
                <a:cubicBezTo>
                  <a:pt x="0" y="67031"/>
                  <a:pt x="67031" y="0"/>
                  <a:pt x="149595" y="0"/>
                </a:cubicBezTo>
                <a:close/>
                <a:moveTo>
                  <a:pt x="135571" y="70123"/>
                </a:moveTo>
                <a:lnTo>
                  <a:pt x="135571" y="149595"/>
                </a:lnTo>
                <a:cubicBezTo>
                  <a:pt x="135571" y="154270"/>
                  <a:pt x="137908" y="158653"/>
                  <a:pt x="141823" y="161282"/>
                </a:cubicBezTo>
                <a:lnTo>
                  <a:pt x="197921" y="198681"/>
                </a:lnTo>
                <a:cubicBezTo>
                  <a:pt x="204349" y="203005"/>
                  <a:pt x="213056" y="201252"/>
                  <a:pt x="217380" y="194766"/>
                </a:cubicBezTo>
                <a:cubicBezTo>
                  <a:pt x="221705" y="188279"/>
                  <a:pt x="219952" y="179631"/>
                  <a:pt x="213465" y="175307"/>
                </a:cubicBezTo>
                <a:lnTo>
                  <a:pt x="163620" y="142115"/>
                </a:lnTo>
                <a:lnTo>
                  <a:pt x="163620" y="70123"/>
                </a:lnTo>
                <a:cubicBezTo>
                  <a:pt x="163620" y="62351"/>
                  <a:pt x="157367" y="56098"/>
                  <a:pt x="149595" y="56098"/>
                </a:cubicBezTo>
                <a:cubicBezTo>
                  <a:pt x="141823" y="56098"/>
                  <a:pt x="135571" y="62351"/>
                  <a:pt x="135571" y="7012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23853" y="4695624"/>
            <a:ext cx="3548728" cy="232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Time Inefficiency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2164" y="4994814"/>
            <a:ext cx="3532106" cy="39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Teachers spend excessive hours on manual data entry and cross-referencing multiple systems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29178" y="4147108"/>
            <a:ext cx="3731566" cy="33243"/>
          </a:xfrm>
          <a:custGeom>
            <a:avLst/>
            <a:gdLst/>
            <a:ahLst/>
            <a:cxnLst/>
            <a:rect l="l" t="t" r="r" b="b"/>
            <a:pathLst>
              <a:path w="3731566" h="33243">
                <a:moveTo>
                  <a:pt x="0" y="0"/>
                </a:moveTo>
                <a:lnTo>
                  <a:pt x="3731566" y="0"/>
                </a:lnTo>
                <a:lnTo>
                  <a:pt x="3731566" y="33243"/>
                </a:lnTo>
                <a:lnTo>
                  <a:pt x="0" y="3324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5926147" y="4296703"/>
            <a:ext cx="336589" cy="299190"/>
          </a:xfrm>
          <a:custGeom>
            <a:avLst/>
            <a:gdLst/>
            <a:ahLst/>
            <a:cxnLst/>
            <a:rect l="l" t="t" r="r" b="b"/>
            <a:pathLst>
              <a:path w="336589" h="299190">
                <a:moveTo>
                  <a:pt x="23959" y="-14550"/>
                </a:moveTo>
                <a:cubicBezTo>
                  <a:pt x="18466" y="-20043"/>
                  <a:pt x="9583" y="-20043"/>
                  <a:pt x="4149" y="-14550"/>
                </a:cubicBezTo>
                <a:cubicBezTo>
                  <a:pt x="-1286" y="-9058"/>
                  <a:pt x="-1344" y="-175"/>
                  <a:pt x="4090" y="5318"/>
                </a:cubicBezTo>
                <a:lnTo>
                  <a:pt x="312630" y="313858"/>
                </a:lnTo>
                <a:cubicBezTo>
                  <a:pt x="318123" y="319350"/>
                  <a:pt x="327006" y="319350"/>
                  <a:pt x="332440" y="313858"/>
                </a:cubicBezTo>
                <a:cubicBezTo>
                  <a:pt x="337875" y="308365"/>
                  <a:pt x="337933" y="299482"/>
                  <a:pt x="332440" y="294048"/>
                </a:cubicBezTo>
                <a:lnTo>
                  <a:pt x="182027" y="143576"/>
                </a:lnTo>
                <a:cubicBezTo>
                  <a:pt x="214166" y="137207"/>
                  <a:pt x="238417" y="108807"/>
                  <a:pt x="238417" y="74798"/>
                </a:cubicBezTo>
                <a:cubicBezTo>
                  <a:pt x="238417" y="36055"/>
                  <a:pt x="207037" y="4675"/>
                  <a:pt x="168294" y="4675"/>
                </a:cubicBezTo>
                <a:cubicBezTo>
                  <a:pt x="134285" y="4675"/>
                  <a:pt x="105885" y="28926"/>
                  <a:pt x="99516" y="61065"/>
                </a:cubicBezTo>
                <a:lnTo>
                  <a:pt x="23959" y="-14550"/>
                </a:lnTo>
                <a:close/>
                <a:moveTo>
                  <a:pt x="137674" y="178462"/>
                </a:moveTo>
                <a:cubicBezTo>
                  <a:pt x="86426" y="185007"/>
                  <a:pt x="46748" y="228775"/>
                  <a:pt x="46748" y="281835"/>
                </a:cubicBezTo>
                <a:cubicBezTo>
                  <a:pt x="46748" y="291418"/>
                  <a:pt x="54520" y="299190"/>
                  <a:pt x="64104" y="299190"/>
                </a:cubicBezTo>
                <a:lnTo>
                  <a:pt x="258402" y="299190"/>
                </a:lnTo>
                <a:lnTo>
                  <a:pt x="137674" y="17846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320597" y="4695624"/>
            <a:ext cx="3548728" cy="232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Missed Interventions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28908" y="4994814"/>
            <a:ext cx="3532106" cy="39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Delayed identification of at-risk students reduces effectiveness of support measures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6052" y="4147108"/>
            <a:ext cx="3731566" cy="33243"/>
          </a:xfrm>
          <a:custGeom>
            <a:avLst/>
            <a:gdLst/>
            <a:ahLst/>
            <a:cxnLst/>
            <a:rect l="l" t="t" r="r" b="b"/>
            <a:pathLst>
              <a:path w="3731566" h="33243">
                <a:moveTo>
                  <a:pt x="0" y="0"/>
                </a:moveTo>
                <a:lnTo>
                  <a:pt x="3731566" y="0"/>
                </a:lnTo>
                <a:lnTo>
                  <a:pt x="3731566" y="33243"/>
                </a:lnTo>
                <a:lnTo>
                  <a:pt x="0" y="3324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9841721" y="4296703"/>
            <a:ext cx="299190" cy="299190"/>
          </a:xfrm>
          <a:custGeom>
            <a:avLst/>
            <a:gdLst/>
            <a:ahLst/>
            <a:cxnLst/>
            <a:rect l="l" t="t" r="r" b="b"/>
            <a:pathLst>
              <a:path w="299190" h="299190">
                <a:moveTo>
                  <a:pt x="84323" y="0"/>
                </a:moveTo>
                <a:lnTo>
                  <a:pt x="215218" y="0"/>
                </a:lnTo>
                <a:cubicBezTo>
                  <a:pt x="230704" y="0"/>
                  <a:pt x="243326" y="12739"/>
                  <a:pt x="242741" y="28166"/>
                </a:cubicBezTo>
                <a:cubicBezTo>
                  <a:pt x="242625" y="31263"/>
                  <a:pt x="242508" y="34360"/>
                  <a:pt x="242332" y="37399"/>
                </a:cubicBezTo>
                <a:lnTo>
                  <a:pt x="271316" y="37399"/>
                </a:lnTo>
                <a:cubicBezTo>
                  <a:pt x="286568" y="37399"/>
                  <a:pt x="300008" y="50021"/>
                  <a:pt x="298840" y="66500"/>
                </a:cubicBezTo>
                <a:cubicBezTo>
                  <a:pt x="294457" y="127097"/>
                  <a:pt x="263486" y="160406"/>
                  <a:pt x="229886" y="177819"/>
                </a:cubicBezTo>
                <a:cubicBezTo>
                  <a:pt x="220653" y="182611"/>
                  <a:pt x="211245" y="186176"/>
                  <a:pt x="202304" y="188805"/>
                </a:cubicBezTo>
                <a:cubicBezTo>
                  <a:pt x="190500" y="205518"/>
                  <a:pt x="178229" y="214342"/>
                  <a:pt x="168470" y="219075"/>
                </a:cubicBezTo>
                <a:lnTo>
                  <a:pt x="168470" y="261791"/>
                </a:lnTo>
                <a:lnTo>
                  <a:pt x="205869" y="261791"/>
                </a:lnTo>
                <a:cubicBezTo>
                  <a:pt x="216212" y="261791"/>
                  <a:pt x="224568" y="270148"/>
                  <a:pt x="224568" y="280491"/>
                </a:cubicBezTo>
                <a:cubicBezTo>
                  <a:pt x="224568" y="290834"/>
                  <a:pt x="216212" y="299190"/>
                  <a:pt x="205869" y="299190"/>
                </a:cubicBezTo>
                <a:lnTo>
                  <a:pt x="93672" y="299190"/>
                </a:lnTo>
                <a:cubicBezTo>
                  <a:pt x="83329" y="299190"/>
                  <a:pt x="74973" y="290834"/>
                  <a:pt x="74973" y="280491"/>
                </a:cubicBezTo>
                <a:cubicBezTo>
                  <a:pt x="74973" y="270148"/>
                  <a:pt x="83329" y="261791"/>
                  <a:pt x="93672" y="261791"/>
                </a:cubicBezTo>
                <a:lnTo>
                  <a:pt x="131071" y="261791"/>
                </a:lnTo>
                <a:lnTo>
                  <a:pt x="131071" y="219075"/>
                </a:lnTo>
                <a:cubicBezTo>
                  <a:pt x="121721" y="214575"/>
                  <a:pt x="110093" y="206219"/>
                  <a:pt x="98756" y="190851"/>
                </a:cubicBezTo>
                <a:cubicBezTo>
                  <a:pt x="88004" y="188046"/>
                  <a:pt x="76317" y="183780"/>
                  <a:pt x="64922" y="177352"/>
                </a:cubicBezTo>
                <a:cubicBezTo>
                  <a:pt x="33308" y="159646"/>
                  <a:pt x="4792" y="126279"/>
                  <a:pt x="701" y="66383"/>
                </a:cubicBezTo>
                <a:cubicBezTo>
                  <a:pt x="-409" y="49962"/>
                  <a:pt x="12973" y="37340"/>
                  <a:pt x="28224" y="37340"/>
                </a:cubicBezTo>
                <a:lnTo>
                  <a:pt x="57208" y="37340"/>
                </a:lnTo>
                <a:cubicBezTo>
                  <a:pt x="57033" y="34302"/>
                  <a:pt x="56916" y="31263"/>
                  <a:pt x="56799" y="28108"/>
                </a:cubicBezTo>
                <a:cubicBezTo>
                  <a:pt x="56215" y="12622"/>
                  <a:pt x="68837" y="-58"/>
                  <a:pt x="84323" y="-58"/>
                </a:cubicBezTo>
                <a:close/>
                <a:moveTo>
                  <a:pt x="59312" y="65448"/>
                </a:moveTo>
                <a:lnTo>
                  <a:pt x="28692" y="65448"/>
                </a:lnTo>
                <a:cubicBezTo>
                  <a:pt x="32315" y="114943"/>
                  <a:pt x="55046" y="139719"/>
                  <a:pt x="78479" y="152867"/>
                </a:cubicBezTo>
                <a:cubicBezTo>
                  <a:pt x="70064" y="131071"/>
                  <a:pt x="63110" y="102613"/>
                  <a:pt x="59312" y="65448"/>
                </a:cubicBezTo>
                <a:close/>
                <a:moveTo>
                  <a:pt x="222055" y="150063"/>
                </a:moveTo>
                <a:cubicBezTo>
                  <a:pt x="245722" y="136155"/>
                  <a:pt x="267109" y="111437"/>
                  <a:pt x="270732" y="65448"/>
                </a:cubicBezTo>
                <a:lnTo>
                  <a:pt x="240170" y="65448"/>
                </a:lnTo>
                <a:cubicBezTo>
                  <a:pt x="236547" y="101035"/>
                  <a:pt x="230002" y="128675"/>
                  <a:pt x="222055" y="15006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217471" y="4695624"/>
            <a:ext cx="3548728" cy="232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Recognition Delays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5782" y="4994814"/>
            <a:ext cx="3532106" cy="39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7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Slow achievement tracking diminishes positive reinforcement and student motivation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2434" y="5697080"/>
            <a:ext cx="11527133" cy="8311"/>
          </a:xfrm>
          <a:custGeom>
            <a:avLst/>
            <a:gdLst/>
            <a:ahLst/>
            <a:cxnLst/>
            <a:rect l="l" t="t" r="r" b="b"/>
            <a:pathLst>
              <a:path w="11527133" h="8311">
                <a:moveTo>
                  <a:pt x="0" y="0"/>
                </a:moveTo>
                <a:lnTo>
                  <a:pt x="11527133" y="0"/>
                </a:lnTo>
                <a:lnTo>
                  <a:pt x="11527133" y="8311"/>
                </a:lnTo>
                <a:lnTo>
                  <a:pt x="0" y="8311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332434" y="5834209"/>
            <a:ext cx="11593620" cy="39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2.6 Impact Assessment:</a:t>
            </a:r>
            <a:pPr>
              <a:lnSpc>
                <a:spcPct val="130000"/>
              </a:lnSpc>
            </a:pPr>
            <a:r>
              <a:rPr lang="en-US" sz="10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Current manual processes result in </a:t>
            </a:r>
            <a:pPr>
              <a:lnSpc>
                <a:spcPct val="130000"/>
              </a:lnSpc>
            </a:pPr>
            <a:r>
              <a:rPr lang="en-US" sz="1047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delayed intervention decisions</a:t>
            </a:r>
            <a:pPr>
              <a:lnSpc>
                <a:spcPct val="130000"/>
              </a:lnSpc>
            </a:pPr>
            <a:r>
              <a:rPr lang="en-US" sz="10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</a:t>
            </a:r>
            <a:pPr>
              <a:lnSpc>
                <a:spcPct val="130000"/>
              </a:lnSpc>
            </a:pPr>
            <a:r>
              <a:rPr lang="en-US" sz="1047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fragmented communication</a:t>
            </a:r>
            <a:pPr>
              <a:lnSpc>
                <a:spcPct val="130000"/>
              </a:lnSpc>
            </a:pPr>
            <a:r>
              <a:rPr lang="en-US" sz="10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between teachers and administrators, and </a:t>
            </a:r>
            <a:pPr>
              <a:lnSpc>
                <a:spcPct val="130000"/>
              </a:lnSpc>
            </a:pPr>
            <a:r>
              <a:rPr lang="en-US" sz="1047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missed opportunities</a:t>
            </a:r>
            <a:pPr>
              <a:lnSpc>
                <a:spcPct val="130000"/>
              </a:lnSpc>
            </a:pPr>
            <a:r>
              <a:rPr lang="en-US" sz="1047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both academic support and achievement recognition.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302" y="327302"/>
            <a:ext cx="11602856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b="1" spc="103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 PROJECT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302" y="556413"/>
            <a:ext cx="11660134" cy="294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3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Integrated Result Based Management (IRBM)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667" y="916446"/>
            <a:ext cx="4516768" cy="3305750"/>
          </a:xfrm>
          <a:custGeom>
            <a:avLst/>
            <a:gdLst/>
            <a:ahLst/>
            <a:cxnLst/>
            <a:rect l="l" t="t" r="r" b="b"/>
            <a:pathLst>
              <a:path w="4516768" h="3305750">
                <a:moveTo>
                  <a:pt x="0" y="0"/>
                </a:moveTo>
                <a:lnTo>
                  <a:pt x="4516768" y="0"/>
                </a:lnTo>
                <a:lnTo>
                  <a:pt x="4516768" y="3305750"/>
                </a:lnTo>
                <a:lnTo>
                  <a:pt x="0" y="3305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343667" y="916446"/>
            <a:ext cx="32730" cy="3305750"/>
          </a:xfrm>
          <a:custGeom>
            <a:avLst/>
            <a:gdLst/>
            <a:ahLst/>
            <a:cxnLst/>
            <a:rect l="l" t="t" r="r" b="b"/>
            <a:pathLst>
              <a:path w="32730" h="3305750">
                <a:moveTo>
                  <a:pt x="0" y="0"/>
                </a:moveTo>
                <a:lnTo>
                  <a:pt x="32730" y="0"/>
                </a:lnTo>
                <a:lnTo>
                  <a:pt x="32730" y="3305750"/>
                </a:lnTo>
                <a:lnTo>
                  <a:pt x="0" y="3305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90953" y="1849256"/>
            <a:ext cx="4238561" cy="16365"/>
          </a:xfrm>
          <a:custGeom>
            <a:avLst/>
            <a:gdLst/>
            <a:ahLst/>
            <a:cxnLst/>
            <a:rect l="l" t="t" r="r" b="b"/>
            <a:pathLst>
              <a:path w="4238561" h="16365">
                <a:moveTo>
                  <a:pt x="0" y="0"/>
                </a:moveTo>
                <a:lnTo>
                  <a:pt x="4238561" y="0"/>
                </a:lnTo>
                <a:lnTo>
                  <a:pt x="4238561" y="16365"/>
                </a:lnTo>
                <a:lnTo>
                  <a:pt x="0" y="1636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90953" y="1546502"/>
            <a:ext cx="4320387" cy="294572"/>
          </a:xfrm>
          <a:prstGeom prst="rect">
            <a:avLst/>
          </a:prstGeom>
          <a:noFill/>
          <a:ln/>
        </p:spPr>
        <p:txBody>
          <a:bodyPr wrap="square" lIns="0" tIns="0" rIns="0" bIns="65460" rtlCol="0" anchor="ctr"/>
          <a:lstStyle/>
          <a:p>
            <a:pPr>
              <a:lnSpc>
                <a:spcPct val="120000"/>
              </a:lnSpc>
            </a:pPr>
            <a:r>
              <a:rPr lang="en-US" sz="128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3.1 Scope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0953" y="1922899"/>
            <a:ext cx="4304021" cy="589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project focuses on </a:t>
            </a:r>
            <a:pPr>
              <a:lnSpc>
                <a:spcPct val="130000"/>
              </a:lnSpc>
            </a:pPr>
            <a:r>
              <a:rPr lang="en-US" sz="103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teacher-driven academic management</a:t>
            </a:r>
            <a:pPr>
              <a:lnSpc>
                <a:spcPct val="130000"/>
              </a:lnSpc>
            </a:pPr>
            <a:r>
              <a:rPr lang="en-US" sz="103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, consolidating learner data, highlighting at-risk students, and recognizing achievements through a unified digital platform.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7318" y="2642964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65460" y="130921"/>
                </a:moveTo>
                <a:cubicBezTo>
                  <a:pt x="101589" y="130921"/>
                  <a:pt x="130921" y="101589"/>
                  <a:pt x="130921" y="65460"/>
                </a:cubicBezTo>
                <a:cubicBezTo>
                  <a:pt x="130921" y="29332"/>
                  <a:pt x="101589" y="0"/>
                  <a:pt x="65460" y="0"/>
                </a:cubicBezTo>
                <a:cubicBezTo>
                  <a:pt x="29332" y="0"/>
                  <a:pt x="0" y="29332"/>
                  <a:pt x="0" y="65460"/>
                </a:cubicBezTo>
                <a:cubicBezTo>
                  <a:pt x="0" y="101589"/>
                  <a:pt x="29332" y="130921"/>
                  <a:pt x="65460" y="130921"/>
                </a:cubicBezTo>
                <a:close/>
                <a:moveTo>
                  <a:pt x="87042" y="54388"/>
                </a:moveTo>
                <a:lnTo>
                  <a:pt x="66586" y="87119"/>
                </a:lnTo>
                <a:cubicBezTo>
                  <a:pt x="65512" y="88832"/>
                  <a:pt x="63670" y="89906"/>
                  <a:pt x="61650" y="90008"/>
                </a:cubicBezTo>
                <a:cubicBezTo>
                  <a:pt x="59630" y="90110"/>
                  <a:pt x="57687" y="89190"/>
                  <a:pt x="56485" y="87553"/>
                </a:cubicBezTo>
                <a:lnTo>
                  <a:pt x="44211" y="71188"/>
                </a:lnTo>
                <a:cubicBezTo>
                  <a:pt x="42166" y="68478"/>
                  <a:pt x="42728" y="64642"/>
                  <a:pt x="45439" y="62597"/>
                </a:cubicBezTo>
                <a:cubicBezTo>
                  <a:pt x="48149" y="60551"/>
                  <a:pt x="51985" y="61113"/>
                  <a:pt x="54030" y="63824"/>
                </a:cubicBezTo>
                <a:lnTo>
                  <a:pt x="60934" y="73029"/>
                </a:lnTo>
                <a:lnTo>
                  <a:pt x="76635" y="47893"/>
                </a:lnTo>
                <a:cubicBezTo>
                  <a:pt x="78425" y="45030"/>
                  <a:pt x="82209" y="44135"/>
                  <a:pt x="85099" y="45950"/>
                </a:cubicBezTo>
                <a:cubicBezTo>
                  <a:pt x="87988" y="47766"/>
                  <a:pt x="88857" y="51524"/>
                  <a:pt x="87042" y="5441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20064" y="2610234"/>
            <a:ext cx="2021090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Real-time performance monitoring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318" y="2904805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65460" y="130921"/>
                </a:moveTo>
                <a:cubicBezTo>
                  <a:pt x="101589" y="130921"/>
                  <a:pt x="130921" y="101589"/>
                  <a:pt x="130921" y="65460"/>
                </a:cubicBezTo>
                <a:cubicBezTo>
                  <a:pt x="130921" y="29332"/>
                  <a:pt x="101589" y="0"/>
                  <a:pt x="65460" y="0"/>
                </a:cubicBezTo>
                <a:cubicBezTo>
                  <a:pt x="29332" y="0"/>
                  <a:pt x="0" y="29332"/>
                  <a:pt x="0" y="65460"/>
                </a:cubicBezTo>
                <a:cubicBezTo>
                  <a:pt x="0" y="101589"/>
                  <a:pt x="29332" y="130921"/>
                  <a:pt x="65460" y="130921"/>
                </a:cubicBezTo>
                <a:close/>
                <a:moveTo>
                  <a:pt x="87042" y="54388"/>
                </a:moveTo>
                <a:lnTo>
                  <a:pt x="66586" y="87119"/>
                </a:lnTo>
                <a:cubicBezTo>
                  <a:pt x="65512" y="88832"/>
                  <a:pt x="63670" y="89906"/>
                  <a:pt x="61650" y="90008"/>
                </a:cubicBezTo>
                <a:cubicBezTo>
                  <a:pt x="59630" y="90110"/>
                  <a:pt x="57687" y="89190"/>
                  <a:pt x="56485" y="87553"/>
                </a:cubicBezTo>
                <a:lnTo>
                  <a:pt x="44211" y="71188"/>
                </a:lnTo>
                <a:cubicBezTo>
                  <a:pt x="42166" y="68478"/>
                  <a:pt x="42728" y="64642"/>
                  <a:pt x="45439" y="62597"/>
                </a:cubicBezTo>
                <a:cubicBezTo>
                  <a:pt x="48149" y="60551"/>
                  <a:pt x="51985" y="61113"/>
                  <a:pt x="54030" y="63824"/>
                </a:cubicBezTo>
                <a:lnTo>
                  <a:pt x="60934" y="73029"/>
                </a:lnTo>
                <a:lnTo>
                  <a:pt x="76635" y="47893"/>
                </a:lnTo>
                <a:cubicBezTo>
                  <a:pt x="78425" y="45030"/>
                  <a:pt x="82209" y="44135"/>
                  <a:pt x="85099" y="45950"/>
                </a:cubicBezTo>
                <a:cubicBezTo>
                  <a:pt x="87988" y="47766"/>
                  <a:pt x="88857" y="51524"/>
                  <a:pt x="87042" y="5441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20064" y="2872075"/>
            <a:ext cx="1881987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at-risk identification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318" y="3166647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65460" y="130921"/>
                </a:moveTo>
                <a:cubicBezTo>
                  <a:pt x="101589" y="130921"/>
                  <a:pt x="130921" y="101589"/>
                  <a:pt x="130921" y="65460"/>
                </a:cubicBezTo>
                <a:cubicBezTo>
                  <a:pt x="130921" y="29332"/>
                  <a:pt x="101589" y="0"/>
                  <a:pt x="65460" y="0"/>
                </a:cubicBezTo>
                <a:cubicBezTo>
                  <a:pt x="29332" y="0"/>
                  <a:pt x="0" y="29332"/>
                  <a:pt x="0" y="65460"/>
                </a:cubicBezTo>
                <a:cubicBezTo>
                  <a:pt x="0" y="101589"/>
                  <a:pt x="29332" y="130921"/>
                  <a:pt x="65460" y="130921"/>
                </a:cubicBezTo>
                <a:close/>
                <a:moveTo>
                  <a:pt x="87042" y="54388"/>
                </a:moveTo>
                <a:lnTo>
                  <a:pt x="66586" y="87119"/>
                </a:lnTo>
                <a:cubicBezTo>
                  <a:pt x="65512" y="88832"/>
                  <a:pt x="63670" y="89906"/>
                  <a:pt x="61650" y="90008"/>
                </a:cubicBezTo>
                <a:cubicBezTo>
                  <a:pt x="59630" y="90110"/>
                  <a:pt x="57687" y="89190"/>
                  <a:pt x="56485" y="87553"/>
                </a:cubicBezTo>
                <a:lnTo>
                  <a:pt x="44211" y="71188"/>
                </a:lnTo>
                <a:cubicBezTo>
                  <a:pt x="42166" y="68478"/>
                  <a:pt x="42728" y="64642"/>
                  <a:pt x="45439" y="62597"/>
                </a:cubicBezTo>
                <a:cubicBezTo>
                  <a:pt x="48149" y="60551"/>
                  <a:pt x="51985" y="61113"/>
                  <a:pt x="54030" y="63824"/>
                </a:cubicBezTo>
                <a:lnTo>
                  <a:pt x="60934" y="73029"/>
                </a:lnTo>
                <a:lnTo>
                  <a:pt x="76635" y="47893"/>
                </a:lnTo>
                <a:cubicBezTo>
                  <a:pt x="78425" y="45030"/>
                  <a:pt x="82209" y="44135"/>
                  <a:pt x="85099" y="45950"/>
                </a:cubicBezTo>
                <a:cubicBezTo>
                  <a:pt x="87988" y="47766"/>
                  <a:pt x="88857" y="51524"/>
                  <a:pt x="87042" y="5441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20064" y="3133917"/>
            <a:ext cx="2152011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Achievement tracking &amp; recognition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7318" y="3428489"/>
            <a:ext cx="130921" cy="130921"/>
          </a:xfrm>
          <a:custGeom>
            <a:avLst/>
            <a:gdLst/>
            <a:ahLst/>
            <a:cxnLst/>
            <a:rect l="l" t="t" r="r" b="b"/>
            <a:pathLst>
              <a:path w="130921" h="130921">
                <a:moveTo>
                  <a:pt x="65460" y="130921"/>
                </a:moveTo>
                <a:cubicBezTo>
                  <a:pt x="101589" y="130921"/>
                  <a:pt x="130921" y="101589"/>
                  <a:pt x="130921" y="65460"/>
                </a:cubicBezTo>
                <a:cubicBezTo>
                  <a:pt x="130921" y="29332"/>
                  <a:pt x="101589" y="0"/>
                  <a:pt x="65460" y="0"/>
                </a:cubicBezTo>
                <a:cubicBezTo>
                  <a:pt x="29332" y="0"/>
                  <a:pt x="0" y="29332"/>
                  <a:pt x="0" y="65460"/>
                </a:cubicBezTo>
                <a:cubicBezTo>
                  <a:pt x="0" y="101589"/>
                  <a:pt x="29332" y="130921"/>
                  <a:pt x="65460" y="130921"/>
                </a:cubicBezTo>
                <a:close/>
                <a:moveTo>
                  <a:pt x="87042" y="54388"/>
                </a:moveTo>
                <a:lnTo>
                  <a:pt x="66586" y="87119"/>
                </a:lnTo>
                <a:cubicBezTo>
                  <a:pt x="65512" y="88832"/>
                  <a:pt x="63670" y="89906"/>
                  <a:pt x="61650" y="90008"/>
                </a:cubicBezTo>
                <a:cubicBezTo>
                  <a:pt x="59630" y="90110"/>
                  <a:pt x="57687" y="89190"/>
                  <a:pt x="56485" y="87553"/>
                </a:cubicBezTo>
                <a:lnTo>
                  <a:pt x="44211" y="71188"/>
                </a:lnTo>
                <a:cubicBezTo>
                  <a:pt x="42166" y="68478"/>
                  <a:pt x="42728" y="64642"/>
                  <a:pt x="45439" y="62597"/>
                </a:cubicBezTo>
                <a:cubicBezTo>
                  <a:pt x="48149" y="60551"/>
                  <a:pt x="51985" y="61113"/>
                  <a:pt x="54030" y="63824"/>
                </a:cubicBezTo>
                <a:lnTo>
                  <a:pt x="60934" y="73029"/>
                </a:lnTo>
                <a:lnTo>
                  <a:pt x="76635" y="47893"/>
                </a:lnTo>
                <a:cubicBezTo>
                  <a:pt x="78425" y="45030"/>
                  <a:pt x="82209" y="44135"/>
                  <a:pt x="85099" y="45950"/>
                </a:cubicBezTo>
                <a:cubicBezTo>
                  <a:pt x="87988" y="47766"/>
                  <a:pt x="88857" y="51524"/>
                  <a:pt x="87042" y="5441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20064" y="3395758"/>
            <a:ext cx="2176558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Comprehensive reporting capabilities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93785" y="916446"/>
            <a:ext cx="3387576" cy="1603780"/>
          </a:xfrm>
          <a:custGeom>
            <a:avLst/>
            <a:gdLst/>
            <a:ahLst/>
            <a:cxnLst/>
            <a:rect l="l" t="t" r="r" b="b"/>
            <a:pathLst>
              <a:path w="3387576" h="1603780">
                <a:moveTo>
                  <a:pt x="0" y="0"/>
                </a:moveTo>
                <a:lnTo>
                  <a:pt x="3387576" y="0"/>
                </a:lnTo>
                <a:lnTo>
                  <a:pt x="3387576" y="1603780"/>
                </a:lnTo>
                <a:lnTo>
                  <a:pt x="0" y="160378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112432" y="1055549"/>
            <a:ext cx="147286" cy="147286"/>
          </a:xfrm>
          <a:custGeom>
            <a:avLst/>
            <a:gdLst/>
            <a:ahLst/>
            <a:cxnLst/>
            <a:rect l="l" t="t" r="r" b="b"/>
            <a:pathLst>
              <a:path w="147286" h="147286">
                <a:moveTo>
                  <a:pt x="99245" y="78533"/>
                </a:moveTo>
                <a:cubicBezTo>
                  <a:pt x="101949" y="75829"/>
                  <a:pt x="101949" y="71457"/>
                  <a:pt x="99245" y="68781"/>
                </a:cubicBezTo>
                <a:lnTo>
                  <a:pt x="57821" y="27328"/>
                </a:lnTo>
                <a:cubicBezTo>
                  <a:pt x="55836" y="25344"/>
                  <a:pt x="52873" y="24768"/>
                  <a:pt x="50284" y="25833"/>
                </a:cubicBezTo>
                <a:cubicBezTo>
                  <a:pt x="47695" y="26897"/>
                  <a:pt x="46027" y="29428"/>
                  <a:pt x="46027" y="32219"/>
                </a:cubicBezTo>
                <a:lnTo>
                  <a:pt x="46027" y="55232"/>
                </a:lnTo>
                <a:lnTo>
                  <a:pt x="13808" y="55232"/>
                </a:lnTo>
                <a:cubicBezTo>
                  <a:pt x="6185" y="55232"/>
                  <a:pt x="0" y="61417"/>
                  <a:pt x="0" y="69040"/>
                </a:cubicBezTo>
                <a:lnTo>
                  <a:pt x="0" y="78246"/>
                </a:lnTo>
                <a:cubicBezTo>
                  <a:pt x="0" y="85869"/>
                  <a:pt x="6185" y="92054"/>
                  <a:pt x="13808" y="92054"/>
                </a:cubicBezTo>
                <a:lnTo>
                  <a:pt x="46027" y="92054"/>
                </a:lnTo>
                <a:lnTo>
                  <a:pt x="46027" y="115067"/>
                </a:lnTo>
                <a:cubicBezTo>
                  <a:pt x="46027" y="117857"/>
                  <a:pt x="47695" y="120389"/>
                  <a:pt x="50284" y="121453"/>
                </a:cubicBezTo>
                <a:cubicBezTo>
                  <a:pt x="52873" y="122518"/>
                  <a:pt x="55836" y="121942"/>
                  <a:pt x="57821" y="119957"/>
                </a:cubicBezTo>
                <a:lnTo>
                  <a:pt x="99245" y="78533"/>
                </a:lnTo>
                <a:close/>
                <a:moveTo>
                  <a:pt x="101259" y="119670"/>
                </a:moveTo>
                <a:cubicBezTo>
                  <a:pt x="96167" y="119670"/>
                  <a:pt x="92054" y="123783"/>
                  <a:pt x="92054" y="128875"/>
                </a:cubicBezTo>
                <a:cubicBezTo>
                  <a:pt x="92054" y="133967"/>
                  <a:pt x="96167" y="138081"/>
                  <a:pt x="101259" y="138081"/>
                </a:cubicBezTo>
                <a:lnTo>
                  <a:pt x="119670" y="138081"/>
                </a:lnTo>
                <a:cubicBezTo>
                  <a:pt x="134916" y="138081"/>
                  <a:pt x="147286" y="125711"/>
                  <a:pt x="147286" y="110464"/>
                </a:cubicBezTo>
                <a:lnTo>
                  <a:pt x="147286" y="36821"/>
                </a:lnTo>
                <a:cubicBezTo>
                  <a:pt x="147286" y="21575"/>
                  <a:pt x="134916" y="9205"/>
                  <a:pt x="119670" y="9205"/>
                </a:cubicBezTo>
                <a:lnTo>
                  <a:pt x="101259" y="9205"/>
                </a:lnTo>
                <a:cubicBezTo>
                  <a:pt x="96167" y="9205"/>
                  <a:pt x="92054" y="13319"/>
                  <a:pt x="92054" y="18411"/>
                </a:cubicBezTo>
                <a:cubicBezTo>
                  <a:pt x="92054" y="23502"/>
                  <a:pt x="96167" y="27616"/>
                  <a:pt x="101259" y="27616"/>
                </a:cubicBezTo>
                <a:lnTo>
                  <a:pt x="119670" y="27616"/>
                </a:lnTo>
                <a:cubicBezTo>
                  <a:pt x="124762" y="27616"/>
                  <a:pt x="128875" y="31730"/>
                  <a:pt x="128875" y="36821"/>
                </a:cubicBezTo>
                <a:lnTo>
                  <a:pt x="128875" y="110464"/>
                </a:lnTo>
                <a:cubicBezTo>
                  <a:pt x="128875" y="115556"/>
                  <a:pt x="124762" y="119670"/>
                  <a:pt x="119670" y="119670"/>
                </a:cubicBezTo>
                <a:lnTo>
                  <a:pt x="101259" y="11967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9" name="Text 17"/>
          <p:cNvSpPr/>
          <p:nvPr/>
        </p:nvSpPr>
        <p:spPr>
          <a:xfrm>
            <a:off x="5341543" y="1014636"/>
            <a:ext cx="630056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INPUTS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91976" y="1309208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Existing learner records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91976" y="1538319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Performance history data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91976" y="1767431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Teacher feedback &amp; requirements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91976" y="1996542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Available school technology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91976" y="2225654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Administrative specifications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77378" y="916446"/>
            <a:ext cx="3387576" cy="1603780"/>
          </a:xfrm>
          <a:custGeom>
            <a:avLst/>
            <a:gdLst/>
            <a:ahLst/>
            <a:cxnLst/>
            <a:rect l="l" t="t" r="r" b="b"/>
            <a:pathLst>
              <a:path w="3387576" h="1603780">
                <a:moveTo>
                  <a:pt x="0" y="0"/>
                </a:moveTo>
                <a:lnTo>
                  <a:pt x="3387576" y="0"/>
                </a:lnTo>
                <a:lnTo>
                  <a:pt x="3387576" y="1603780"/>
                </a:lnTo>
                <a:lnTo>
                  <a:pt x="0" y="160378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6" name="Shape 24"/>
          <p:cNvSpPr/>
          <p:nvPr/>
        </p:nvSpPr>
        <p:spPr>
          <a:xfrm>
            <a:off x="8577614" y="1055549"/>
            <a:ext cx="184107" cy="147286"/>
          </a:xfrm>
          <a:custGeom>
            <a:avLst/>
            <a:gdLst/>
            <a:ahLst/>
            <a:cxnLst/>
            <a:rect l="l" t="t" r="r" b="b"/>
            <a:pathLst>
              <a:path w="184107" h="147286">
                <a:moveTo>
                  <a:pt x="119641" y="60554"/>
                </a:moveTo>
                <a:cubicBezTo>
                  <a:pt x="123151" y="59605"/>
                  <a:pt x="126833" y="61273"/>
                  <a:pt x="128415" y="64524"/>
                </a:cubicBezTo>
                <a:lnTo>
                  <a:pt x="133766" y="75340"/>
                </a:lnTo>
                <a:cubicBezTo>
                  <a:pt x="136728" y="75743"/>
                  <a:pt x="139634" y="76548"/>
                  <a:pt x="142367" y="77670"/>
                </a:cubicBezTo>
                <a:lnTo>
                  <a:pt x="152435" y="70968"/>
                </a:lnTo>
                <a:cubicBezTo>
                  <a:pt x="155456" y="68954"/>
                  <a:pt x="159454" y="69357"/>
                  <a:pt x="162014" y="71917"/>
                </a:cubicBezTo>
                <a:lnTo>
                  <a:pt x="167538" y="77440"/>
                </a:lnTo>
                <a:cubicBezTo>
                  <a:pt x="170098" y="80000"/>
                  <a:pt x="170501" y="84028"/>
                  <a:pt x="168487" y="87020"/>
                </a:cubicBezTo>
                <a:lnTo>
                  <a:pt x="161784" y="97059"/>
                </a:lnTo>
                <a:cubicBezTo>
                  <a:pt x="162331" y="98411"/>
                  <a:pt x="162820" y="99821"/>
                  <a:pt x="163223" y="101288"/>
                </a:cubicBezTo>
                <a:cubicBezTo>
                  <a:pt x="163625" y="102755"/>
                  <a:pt x="163884" y="104193"/>
                  <a:pt x="164086" y="105660"/>
                </a:cubicBezTo>
                <a:lnTo>
                  <a:pt x="174931" y="111011"/>
                </a:lnTo>
                <a:cubicBezTo>
                  <a:pt x="178181" y="112622"/>
                  <a:pt x="179850" y="116304"/>
                  <a:pt x="178901" y="119785"/>
                </a:cubicBezTo>
                <a:lnTo>
                  <a:pt x="176887" y="127322"/>
                </a:lnTo>
                <a:cubicBezTo>
                  <a:pt x="175938" y="130803"/>
                  <a:pt x="172687" y="133161"/>
                  <a:pt x="169062" y="132931"/>
                </a:cubicBezTo>
                <a:lnTo>
                  <a:pt x="156980" y="132155"/>
                </a:lnTo>
                <a:cubicBezTo>
                  <a:pt x="155168" y="134485"/>
                  <a:pt x="153068" y="136642"/>
                  <a:pt x="150680" y="138483"/>
                </a:cubicBezTo>
                <a:lnTo>
                  <a:pt x="151457" y="150537"/>
                </a:lnTo>
                <a:cubicBezTo>
                  <a:pt x="151687" y="154161"/>
                  <a:pt x="149328" y="157441"/>
                  <a:pt x="145848" y="158361"/>
                </a:cubicBezTo>
                <a:lnTo>
                  <a:pt x="138311" y="160375"/>
                </a:lnTo>
                <a:cubicBezTo>
                  <a:pt x="134801" y="161324"/>
                  <a:pt x="131148" y="159656"/>
                  <a:pt x="129537" y="156405"/>
                </a:cubicBezTo>
                <a:lnTo>
                  <a:pt x="124186" y="145589"/>
                </a:lnTo>
                <a:cubicBezTo>
                  <a:pt x="121223" y="145186"/>
                  <a:pt x="118318" y="144380"/>
                  <a:pt x="115585" y="143259"/>
                </a:cubicBezTo>
                <a:lnTo>
                  <a:pt x="105517" y="149961"/>
                </a:lnTo>
                <a:cubicBezTo>
                  <a:pt x="102496" y="151975"/>
                  <a:pt x="98497" y="151572"/>
                  <a:pt x="95937" y="149012"/>
                </a:cubicBezTo>
                <a:lnTo>
                  <a:pt x="90414" y="143489"/>
                </a:lnTo>
                <a:cubicBezTo>
                  <a:pt x="87854" y="140928"/>
                  <a:pt x="87451" y="136930"/>
                  <a:pt x="89465" y="133909"/>
                </a:cubicBezTo>
                <a:lnTo>
                  <a:pt x="96167" y="123841"/>
                </a:lnTo>
                <a:cubicBezTo>
                  <a:pt x="95621" y="122489"/>
                  <a:pt x="95132" y="121079"/>
                  <a:pt x="94729" y="119612"/>
                </a:cubicBezTo>
                <a:cubicBezTo>
                  <a:pt x="94326" y="118145"/>
                  <a:pt x="94067" y="116678"/>
                  <a:pt x="93866" y="115240"/>
                </a:cubicBezTo>
                <a:lnTo>
                  <a:pt x="83021" y="109889"/>
                </a:lnTo>
                <a:cubicBezTo>
                  <a:pt x="79770" y="108278"/>
                  <a:pt x="78131" y="104596"/>
                  <a:pt x="79051" y="101115"/>
                </a:cubicBezTo>
                <a:lnTo>
                  <a:pt x="81065" y="93578"/>
                </a:lnTo>
                <a:cubicBezTo>
                  <a:pt x="82014" y="90098"/>
                  <a:pt x="85265" y="87739"/>
                  <a:pt x="88889" y="87969"/>
                </a:cubicBezTo>
                <a:lnTo>
                  <a:pt x="100943" y="88746"/>
                </a:lnTo>
                <a:cubicBezTo>
                  <a:pt x="102755" y="86415"/>
                  <a:pt x="104855" y="84258"/>
                  <a:pt x="107243" y="82417"/>
                </a:cubicBezTo>
                <a:lnTo>
                  <a:pt x="106466" y="70392"/>
                </a:lnTo>
                <a:cubicBezTo>
                  <a:pt x="106236" y="66768"/>
                  <a:pt x="108595" y="63488"/>
                  <a:pt x="112075" y="62568"/>
                </a:cubicBezTo>
                <a:lnTo>
                  <a:pt x="119612" y="60554"/>
                </a:lnTo>
                <a:close/>
                <a:moveTo>
                  <a:pt x="128990" y="97807"/>
                </a:moveTo>
                <a:cubicBezTo>
                  <a:pt x="122004" y="97815"/>
                  <a:pt x="116339" y="103493"/>
                  <a:pt x="116347" y="110479"/>
                </a:cubicBezTo>
                <a:cubicBezTo>
                  <a:pt x="116355" y="117465"/>
                  <a:pt x="122033" y="123130"/>
                  <a:pt x="129019" y="123122"/>
                </a:cubicBezTo>
                <a:cubicBezTo>
                  <a:pt x="136005" y="123114"/>
                  <a:pt x="141670" y="117436"/>
                  <a:pt x="141662" y="110450"/>
                </a:cubicBezTo>
                <a:cubicBezTo>
                  <a:pt x="141654" y="103464"/>
                  <a:pt x="135976" y="97799"/>
                  <a:pt x="128990" y="97807"/>
                </a:cubicBezTo>
                <a:close/>
                <a:moveTo>
                  <a:pt x="64696" y="-13089"/>
                </a:moveTo>
                <a:lnTo>
                  <a:pt x="72233" y="-11075"/>
                </a:lnTo>
                <a:cubicBezTo>
                  <a:pt x="75714" y="-10126"/>
                  <a:pt x="78073" y="-6846"/>
                  <a:pt x="77843" y="-3251"/>
                </a:cubicBezTo>
                <a:lnTo>
                  <a:pt x="77066" y="8774"/>
                </a:lnTo>
                <a:cubicBezTo>
                  <a:pt x="79454" y="10615"/>
                  <a:pt x="81554" y="12744"/>
                  <a:pt x="83366" y="15103"/>
                </a:cubicBezTo>
                <a:lnTo>
                  <a:pt x="95448" y="14326"/>
                </a:lnTo>
                <a:cubicBezTo>
                  <a:pt x="99044" y="14096"/>
                  <a:pt x="102323" y="16455"/>
                  <a:pt x="103273" y="19935"/>
                </a:cubicBezTo>
                <a:lnTo>
                  <a:pt x="105286" y="27472"/>
                </a:lnTo>
                <a:cubicBezTo>
                  <a:pt x="106207" y="30953"/>
                  <a:pt x="104567" y="34635"/>
                  <a:pt x="101317" y="36246"/>
                </a:cubicBezTo>
                <a:lnTo>
                  <a:pt x="90472" y="41597"/>
                </a:lnTo>
                <a:cubicBezTo>
                  <a:pt x="90270" y="43064"/>
                  <a:pt x="89982" y="44531"/>
                  <a:pt x="89609" y="45969"/>
                </a:cubicBezTo>
                <a:cubicBezTo>
                  <a:pt x="89235" y="47408"/>
                  <a:pt x="88717" y="48846"/>
                  <a:pt x="88170" y="50198"/>
                </a:cubicBezTo>
                <a:lnTo>
                  <a:pt x="94873" y="60266"/>
                </a:lnTo>
                <a:cubicBezTo>
                  <a:pt x="96887" y="63287"/>
                  <a:pt x="96484" y="67285"/>
                  <a:pt x="93924" y="69846"/>
                </a:cubicBezTo>
                <a:lnTo>
                  <a:pt x="88400" y="75369"/>
                </a:lnTo>
                <a:cubicBezTo>
                  <a:pt x="85840" y="77929"/>
                  <a:pt x="81841" y="78332"/>
                  <a:pt x="78821" y="76318"/>
                </a:cubicBezTo>
                <a:lnTo>
                  <a:pt x="68753" y="69616"/>
                </a:lnTo>
                <a:cubicBezTo>
                  <a:pt x="66020" y="70738"/>
                  <a:pt x="63114" y="71543"/>
                  <a:pt x="60151" y="71946"/>
                </a:cubicBezTo>
                <a:lnTo>
                  <a:pt x="54801" y="82762"/>
                </a:lnTo>
                <a:cubicBezTo>
                  <a:pt x="53190" y="86013"/>
                  <a:pt x="49508" y="87652"/>
                  <a:pt x="46027" y="86732"/>
                </a:cubicBezTo>
                <a:lnTo>
                  <a:pt x="38490" y="84718"/>
                </a:lnTo>
                <a:cubicBezTo>
                  <a:pt x="34980" y="83769"/>
                  <a:pt x="32650" y="80489"/>
                  <a:pt x="32880" y="76894"/>
                </a:cubicBezTo>
                <a:lnTo>
                  <a:pt x="33657" y="64840"/>
                </a:lnTo>
                <a:cubicBezTo>
                  <a:pt x="31269" y="62999"/>
                  <a:pt x="29170" y="60871"/>
                  <a:pt x="27357" y="58512"/>
                </a:cubicBezTo>
                <a:lnTo>
                  <a:pt x="15275" y="59288"/>
                </a:lnTo>
                <a:cubicBezTo>
                  <a:pt x="11679" y="59518"/>
                  <a:pt x="8400" y="57160"/>
                  <a:pt x="7451" y="53679"/>
                </a:cubicBezTo>
                <a:lnTo>
                  <a:pt x="5437" y="46142"/>
                </a:lnTo>
                <a:cubicBezTo>
                  <a:pt x="4516" y="42661"/>
                  <a:pt x="6156" y="38979"/>
                  <a:pt x="9407" y="37368"/>
                </a:cubicBezTo>
                <a:lnTo>
                  <a:pt x="20252" y="32017"/>
                </a:lnTo>
                <a:cubicBezTo>
                  <a:pt x="20453" y="30550"/>
                  <a:pt x="20741" y="29112"/>
                  <a:pt x="21115" y="27645"/>
                </a:cubicBezTo>
                <a:cubicBezTo>
                  <a:pt x="21518" y="26178"/>
                  <a:pt x="21978" y="24768"/>
                  <a:pt x="22553" y="23416"/>
                </a:cubicBezTo>
                <a:lnTo>
                  <a:pt x="15850" y="13377"/>
                </a:lnTo>
                <a:cubicBezTo>
                  <a:pt x="13837" y="10356"/>
                  <a:pt x="14240" y="6357"/>
                  <a:pt x="16800" y="3797"/>
                </a:cubicBezTo>
                <a:lnTo>
                  <a:pt x="22323" y="-1726"/>
                </a:lnTo>
                <a:cubicBezTo>
                  <a:pt x="24883" y="-4286"/>
                  <a:pt x="28882" y="-4689"/>
                  <a:pt x="31902" y="-2675"/>
                </a:cubicBezTo>
                <a:lnTo>
                  <a:pt x="41971" y="4027"/>
                </a:lnTo>
                <a:cubicBezTo>
                  <a:pt x="44704" y="2905"/>
                  <a:pt x="47609" y="2100"/>
                  <a:pt x="50572" y="1697"/>
                </a:cubicBezTo>
                <a:lnTo>
                  <a:pt x="55923" y="-9119"/>
                </a:lnTo>
                <a:cubicBezTo>
                  <a:pt x="57534" y="-12370"/>
                  <a:pt x="61187" y="-14009"/>
                  <a:pt x="64696" y="-13089"/>
                </a:cubicBezTo>
                <a:close/>
                <a:moveTo>
                  <a:pt x="55347" y="24164"/>
                </a:moveTo>
                <a:cubicBezTo>
                  <a:pt x="48361" y="24164"/>
                  <a:pt x="42690" y="29836"/>
                  <a:pt x="42690" y="36821"/>
                </a:cubicBezTo>
                <a:cubicBezTo>
                  <a:pt x="42690" y="43807"/>
                  <a:pt x="48361" y="49479"/>
                  <a:pt x="55347" y="49479"/>
                </a:cubicBezTo>
                <a:cubicBezTo>
                  <a:pt x="62333" y="49479"/>
                  <a:pt x="68005" y="43807"/>
                  <a:pt x="68005" y="36821"/>
                </a:cubicBezTo>
                <a:cubicBezTo>
                  <a:pt x="68005" y="29836"/>
                  <a:pt x="62333" y="24164"/>
                  <a:pt x="55347" y="24164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Text 25"/>
          <p:cNvSpPr/>
          <p:nvPr/>
        </p:nvSpPr>
        <p:spPr>
          <a:xfrm>
            <a:off x="8825136" y="1014636"/>
            <a:ext cx="957358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ACTIVITIES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75568" y="1309208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Dashboard architecture design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75568" y="1538319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Notification system implementation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75568" y="1767431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Achievement recognition features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75568" y="1996542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Teacher training programs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75568" y="2225654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Pilot rollout &amp; testing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993785" y="2618416"/>
            <a:ext cx="3387576" cy="1603780"/>
          </a:xfrm>
          <a:custGeom>
            <a:avLst/>
            <a:gdLst/>
            <a:ahLst/>
            <a:cxnLst/>
            <a:rect l="l" t="t" r="r" b="b"/>
            <a:pathLst>
              <a:path w="3387576" h="1603780">
                <a:moveTo>
                  <a:pt x="0" y="0"/>
                </a:moveTo>
                <a:lnTo>
                  <a:pt x="3387576" y="0"/>
                </a:lnTo>
                <a:lnTo>
                  <a:pt x="3387576" y="1603780"/>
                </a:lnTo>
                <a:lnTo>
                  <a:pt x="0" y="160378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4" name="Shape 32"/>
          <p:cNvSpPr/>
          <p:nvPr/>
        </p:nvSpPr>
        <p:spPr>
          <a:xfrm>
            <a:off x="5112432" y="2757519"/>
            <a:ext cx="147286" cy="147286"/>
          </a:xfrm>
          <a:custGeom>
            <a:avLst/>
            <a:gdLst/>
            <a:ahLst/>
            <a:cxnLst/>
            <a:rect l="l" t="t" r="r" b="b"/>
            <a:pathLst>
              <a:path w="147286" h="147286">
                <a:moveTo>
                  <a:pt x="145272" y="78533"/>
                </a:moveTo>
                <a:cubicBezTo>
                  <a:pt x="147976" y="75829"/>
                  <a:pt x="147976" y="71457"/>
                  <a:pt x="145272" y="68781"/>
                </a:cubicBezTo>
                <a:lnTo>
                  <a:pt x="103848" y="27328"/>
                </a:lnTo>
                <a:cubicBezTo>
                  <a:pt x="101863" y="25344"/>
                  <a:pt x="98900" y="24768"/>
                  <a:pt x="96311" y="25833"/>
                </a:cubicBezTo>
                <a:cubicBezTo>
                  <a:pt x="93722" y="26897"/>
                  <a:pt x="92054" y="29428"/>
                  <a:pt x="92054" y="32219"/>
                </a:cubicBezTo>
                <a:lnTo>
                  <a:pt x="92054" y="55232"/>
                </a:lnTo>
                <a:lnTo>
                  <a:pt x="59835" y="55232"/>
                </a:lnTo>
                <a:cubicBezTo>
                  <a:pt x="52212" y="55232"/>
                  <a:pt x="46027" y="61417"/>
                  <a:pt x="46027" y="69040"/>
                </a:cubicBezTo>
                <a:lnTo>
                  <a:pt x="46027" y="78246"/>
                </a:lnTo>
                <a:cubicBezTo>
                  <a:pt x="46027" y="85869"/>
                  <a:pt x="52212" y="92054"/>
                  <a:pt x="59835" y="92054"/>
                </a:cubicBezTo>
                <a:lnTo>
                  <a:pt x="92054" y="92054"/>
                </a:lnTo>
                <a:lnTo>
                  <a:pt x="92054" y="115067"/>
                </a:lnTo>
                <a:cubicBezTo>
                  <a:pt x="92054" y="117857"/>
                  <a:pt x="93722" y="120389"/>
                  <a:pt x="96311" y="121453"/>
                </a:cubicBezTo>
                <a:cubicBezTo>
                  <a:pt x="98900" y="122518"/>
                  <a:pt x="101863" y="121942"/>
                  <a:pt x="103848" y="119957"/>
                </a:cubicBezTo>
                <a:lnTo>
                  <a:pt x="145272" y="78533"/>
                </a:lnTo>
                <a:close/>
                <a:moveTo>
                  <a:pt x="46027" y="27616"/>
                </a:moveTo>
                <a:cubicBezTo>
                  <a:pt x="51119" y="27616"/>
                  <a:pt x="55232" y="23502"/>
                  <a:pt x="55232" y="18411"/>
                </a:cubicBezTo>
                <a:cubicBezTo>
                  <a:pt x="55232" y="13319"/>
                  <a:pt x="51119" y="9205"/>
                  <a:pt x="46027" y="9205"/>
                </a:cubicBezTo>
                <a:lnTo>
                  <a:pt x="27616" y="9205"/>
                </a:lnTo>
                <a:cubicBezTo>
                  <a:pt x="12370" y="9205"/>
                  <a:pt x="0" y="21575"/>
                  <a:pt x="0" y="36821"/>
                </a:cubicBezTo>
                <a:lnTo>
                  <a:pt x="0" y="110464"/>
                </a:lnTo>
                <a:cubicBezTo>
                  <a:pt x="0" y="125711"/>
                  <a:pt x="12370" y="138081"/>
                  <a:pt x="27616" y="138081"/>
                </a:cubicBezTo>
                <a:lnTo>
                  <a:pt x="46027" y="138081"/>
                </a:lnTo>
                <a:cubicBezTo>
                  <a:pt x="51119" y="138081"/>
                  <a:pt x="55232" y="133967"/>
                  <a:pt x="55232" y="128875"/>
                </a:cubicBezTo>
                <a:cubicBezTo>
                  <a:pt x="55232" y="123783"/>
                  <a:pt x="51119" y="119670"/>
                  <a:pt x="46027" y="119670"/>
                </a:cubicBezTo>
                <a:lnTo>
                  <a:pt x="27616" y="119670"/>
                </a:lnTo>
                <a:cubicBezTo>
                  <a:pt x="22524" y="119670"/>
                  <a:pt x="18411" y="115556"/>
                  <a:pt x="18411" y="110464"/>
                </a:cubicBezTo>
                <a:lnTo>
                  <a:pt x="18411" y="36821"/>
                </a:lnTo>
                <a:cubicBezTo>
                  <a:pt x="18411" y="31730"/>
                  <a:pt x="22524" y="27616"/>
                  <a:pt x="27616" y="27616"/>
                </a:cubicBezTo>
                <a:lnTo>
                  <a:pt x="46027" y="27616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5" name="Text 33"/>
          <p:cNvSpPr/>
          <p:nvPr/>
        </p:nvSpPr>
        <p:spPr>
          <a:xfrm>
            <a:off x="5341543" y="2716607"/>
            <a:ext cx="818255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OUTPUTS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91976" y="3011179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Real-time performance access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91976" y="3240290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Automated alert generation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91976" y="3469401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Achievement record system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91976" y="3698513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Comprehensive reports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91976" y="3927624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User-friendly interface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77378" y="2618416"/>
            <a:ext cx="3387576" cy="1603780"/>
          </a:xfrm>
          <a:custGeom>
            <a:avLst/>
            <a:gdLst/>
            <a:ahLst/>
            <a:cxnLst/>
            <a:rect l="l" t="t" r="r" b="b"/>
            <a:pathLst>
              <a:path w="3387576" h="1603780">
                <a:moveTo>
                  <a:pt x="0" y="0"/>
                </a:moveTo>
                <a:lnTo>
                  <a:pt x="3387576" y="0"/>
                </a:lnTo>
                <a:lnTo>
                  <a:pt x="3387576" y="1603780"/>
                </a:lnTo>
                <a:lnTo>
                  <a:pt x="0" y="160378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8596025" y="2757519"/>
            <a:ext cx="147286" cy="147286"/>
          </a:xfrm>
          <a:custGeom>
            <a:avLst/>
            <a:gdLst/>
            <a:ahLst/>
            <a:cxnLst/>
            <a:rect l="l" t="t" r="r" b="b"/>
            <a:pathLst>
              <a:path w="147286" h="147286">
                <a:moveTo>
                  <a:pt x="18411" y="18411"/>
                </a:moveTo>
                <a:cubicBezTo>
                  <a:pt x="18411" y="13319"/>
                  <a:pt x="14297" y="9205"/>
                  <a:pt x="9205" y="9205"/>
                </a:cubicBezTo>
                <a:cubicBezTo>
                  <a:pt x="4114" y="9205"/>
                  <a:pt x="0" y="13319"/>
                  <a:pt x="0" y="18411"/>
                </a:cubicBezTo>
                <a:lnTo>
                  <a:pt x="0" y="115067"/>
                </a:lnTo>
                <a:cubicBezTo>
                  <a:pt x="0" y="127782"/>
                  <a:pt x="10299" y="138081"/>
                  <a:pt x="23013" y="138081"/>
                </a:cubicBezTo>
                <a:lnTo>
                  <a:pt x="138081" y="138081"/>
                </a:lnTo>
                <a:cubicBezTo>
                  <a:pt x="143172" y="138081"/>
                  <a:pt x="147286" y="133967"/>
                  <a:pt x="147286" y="128875"/>
                </a:cubicBezTo>
                <a:cubicBezTo>
                  <a:pt x="147286" y="123783"/>
                  <a:pt x="143172" y="119670"/>
                  <a:pt x="138081" y="119670"/>
                </a:cubicBezTo>
                <a:lnTo>
                  <a:pt x="23013" y="119670"/>
                </a:lnTo>
                <a:cubicBezTo>
                  <a:pt x="20482" y="119670"/>
                  <a:pt x="18411" y="117599"/>
                  <a:pt x="18411" y="115067"/>
                </a:cubicBezTo>
                <a:lnTo>
                  <a:pt x="18411" y="18411"/>
                </a:lnTo>
                <a:close/>
                <a:moveTo>
                  <a:pt x="135376" y="43323"/>
                </a:moveTo>
                <a:cubicBezTo>
                  <a:pt x="138972" y="39727"/>
                  <a:pt x="138972" y="33887"/>
                  <a:pt x="135376" y="30291"/>
                </a:cubicBezTo>
                <a:cubicBezTo>
                  <a:pt x="131781" y="26696"/>
                  <a:pt x="125941" y="26696"/>
                  <a:pt x="122345" y="30291"/>
                </a:cubicBezTo>
                <a:lnTo>
                  <a:pt x="92054" y="60612"/>
                </a:lnTo>
                <a:lnTo>
                  <a:pt x="75542" y="44128"/>
                </a:lnTo>
                <a:cubicBezTo>
                  <a:pt x="71946" y="40532"/>
                  <a:pt x="66106" y="40532"/>
                  <a:pt x="62510" y="44128"/>
                </a:cubicBezTo>
                <a:lnTo>
                  <a:pt x="34894" y="71744"/>
                </a:lnTo>
                <a:cubicBezTo>
                  <a:pt x="31298" y="75340"/>
                  <a:pt x="31298" y="81180"/>
                  <a:pt x="34894" y="84776"/>
                </a:cubicBezTo>
                <a:cubicBezTo>
                  <a:pt x="38490" y="88372"/>
                  <a:pt x="44330" y="88372"/>
                  <a:pt x="47925" y="84776"/>
                </a:cubicBezTo>
                <a:lnTo>
                  <a:pt x="69040" y="63661"/>
                </a:lnTo>
                <a:lnTo>
                  <a:pt x="85552" y="80173"/>
                </a:lnTo>
                <a:cubicBezTo>
                  <a:pt x="89148" y="83769"/>
                  <a:pt x="94988" y="83769"/>
                  <a:pt x="98584" y="80173"/>
                </a:cubicBezTo>
                <a:lnTo>
                  <a:pt x="135405" y="43352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3" name="Text 41"/>
          <p:cNvSpPr/>
          <p:nvPr/>
        </p:nvSpPr>
        <p:spPr>
          <a:xfrm>
            <a:off x="8825136" y="2716607"/>
            <a:ext cx="981906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OUTCOMES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75568" y="3011179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Timely student interventions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75568" y="3240290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Improved achievement recognition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75568" y="3469401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Enhanced academic results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75568" y="3698513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Reduced administrative burden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75568" y="3927624"/>
            <a:ext cx="325665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Data-driven decision making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7302" y="4287656"/>
            <a:ext cx="11537396" cy="687334"/>
          </a:xfrm>
          <a:custGeom>
            <a:avLst/>
            <a:gdLst/>
            <a:ahLst/>
            <a:cxnLst/>
            <a:rect l="l" t="t" r="r" b="b"/>
            <a:pathLst>
              <a:path w="11537396" h="687334">
                <a:moveTo>
                  <a:pt x="0" y="0"/>
                </a:moveTo>
                <a:lnTo>
                  <a:pt x="11537396" y="0"/>
                </a:lnTo>
                <a:lnTo>
                  <a:pt x="11537396" y="687334"/>
                </a:lnTo>
                <a:lnTo>
                  <a:pt x="0" y="687334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0" name="Shape 48"/>
          <p:cNvSpPr/>
          <p:nvPr/>
        </p:nvSpPr>
        <p:spPr>
          <a:xfrm>
            <a:off x="450040" y="4402212"/>
            <a:ext cx="196381" cy="196381"/>
          </a:xfrm>
          <a:custGeom>
            <a:avLst/>
            <a:gdLst/>
            <a:ahLst/>
            <a:cxnLst/>
            <a:rect l="l" t="t" r="r" b="b"/>
            <a:pathLst>
              <a:path w="196381" h="196381">
                <a:moveTo>
                  <a:pt x="134974" y="107396"/>
                </a:moveTo>
                <a:lnTo>
                  <a:pt x="61753" y="107396"/>
                </a:lnTo>
                <a:cubicBezTo>
                  <a:pt x="62865" y="132135"/>
                  <a:pt x="68350" y="154919"/>
                  <a:pt x="76136" y="171603"/>
                </a:cubicBezTo>
                <a:cubicBezTo>
                  <a:pt x="80509" y="181001"/>
                  <a:pt x="85226" y="187636"/>
                  <a:pt x="89599" y="191702"/>
                </a:cubicBezTo>
                <a:cubicBezTo>
                  <a:pt x="93895" y="195729"/>
                  <a:pt x="96848" y="196381"/>
                  <a:pt x="98382" y="196381"/>
                </a:cubicBezTo>
                <a:cubicBezTo>
                  <a:pt x="99917" y="196381"/>
                  <a:pt x="102870" y="195729"/>
                  <a:pt x="107166" y="191702"/>
                </a:cubicBezTo>
                <a:cubicBezTo>
                  <a:pt x="111538" y="187636"/>
                  <a:pt x="116256" y="180962"/>
                  <a:pt x="120629" y="171603"/>
                </a:cubicBezTo>
                <a:cubicBezTo>
                  <a:pt x="128415" y="154919"/>
                  <a:pt x="133900" y="132135"/>
                  <a:pt x="135012" y="107396"/>
                </a:cubicBezTo>
                <a:close/>
                <a:moveTo>
                  <a:pt x="61714" y="88985"/>
                </a:moveTo>
                <a:lnTo>
                  <a:pt x="134935" y="88985"/>
                </a:lnTo>
                <a:cubicBezTo>
                  <a:pt x="133861" y="64246"/>
                  <a:pt x="128377" y="41463"/>
                  <a:pt x="120590" y="24778"/>
                </a:cubicBezTo>
                <a:cubicBezTo>
                  <a:pt x="116218" y="15419"/>
                  <a:pt x="111500" y="8745"/>
                  <a:pt x="107127" y="4679"/>
                </a:cubicBezTo>
                <a:cubicBezTo>
                  <a:pt x="102832" y="652"/>
                  <a:pt x="99878" y="0"/>
                  <a:pt x="98344" y="0"/>
                </a:cubicBezTo>
                <a:cubicBezTo>
                  <a:pt x="96810" y="0"/>
                  <a:pt x="93856" y="652"/>
                  <a:pt x="89561" y="4679"/>
                </a:cubicBezTo>
                <a:cubicBezTo>
                  <a:pt x="85188" y="8745"/>
                  <a:pt x="80470" y="15419"/>
                  <a:pt x="76098" y="24778"/>
                </a:cubicBezTo>
                <a:cubicBezTo>
                  <a:pt x="68312" y="41463"/>
                  <a:pt x="62827" y="64246"/>
                  <a:pt x="61714" y="88985"/>
                </a:cubicBezTo>
                <a:close/>
                <a:moveTo>
                  <a:pt x="43304" y="88985"/>
                </a:moveTo>
                <a:cubicBezTo>
                  <a:pt x="44646" y="56153"/>
                  <a:pt x="53123" y="25660"/>
                  <a:pt x="65512" y="5638"/>
                </a:cubicBezTo>
                <a:cubicBezTo>
                  <a:pt x="30186" y="18142"/>
                  <a:pt x="4181" y="50323"/>
                  <a:pt x="575" y="88985"/>
                </a:cubicBezTo>
                <a:lnTo>
                  <a:pt x="43304" y="88985"/>
                </a:lnTo>
                <a:close/>
                <a:moveTo>
                  <a:pt x="575" y="107396"/>
                </a:moveTo>
                <a:cubicBezTo>
                  <a:pt x="4181" y="146059"/>
                  <a:pt x="30186" y="178239"/>
                  <a:pt x="65512" y="190743"/>
                </a:cubicBezTo>
                <a:cubicBezTo>
                  <a:pt x="53123" y="170721"/>
                  <a:pt x="44646" y="140228"/>
                  <a:pt x="43304" y="107396"/>
                </a:cubicBezTo>
                <a:lnTo>
                  <a:pt x="575" y="107396"/>
                </a:lnTo>
                <a:close/>
                <a:moveTo>
                  <a:pt x="153384" y="107396"/>
                </a:moveTo>
                <a:cubicBezTo>
                  <a:pt x="152042" y="140228"/>
                  <a:pt x="143565" y="170721"/>
                  <a:pt x="131177" y="190743"/>
                </a:cubicBezTo>
                <a:cubicBezTo>
                  <a:pt x="166502" y="178201"/>
                  <a:pt x="192507" y="146059"/>
                  <a:pt x="196113" y="107396"/>
                </a:cubicBezTo>
                <a:lnTo>
                  <a:pt x="153384" y="107396"/>
                </a:lnTo>
                <a:close/>
                <a:moveTo>
                  <a:pt x="196113" y="88985"/>
                </a:moveTo>
                <a:cubicBezTo>
                  <a:pt x="192507" y="50323"/>
                  <a:pt x="166502" y="18142"/>
                  <a:pt x="131177" y="5638"/>
                </a:cubicBezTo>
                <a:cubicBezTo>
                  <a:pt x="143565" y="25660"/>
                  <a:pt x="152042" y="56153"/>
                  <a:pt x="153384" y="88985"/>
                </a:cubicBezTo>
                <a:lnTo>
                  <a:pt x="196113" y="88985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1" name="Text 49"/>
          <p:cNvSpPr/>
          <p:nvPr/>
        </p:nvSpPr>
        <p:spPr>
          <a:xfrm>
            <a:off x="769160" y="4385847"/>
            <a:ext cx="679152" cy="229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IMPACT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25493" y="4680419"/>
            <a:ext cx="11406475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school community empowered to use data for boosting learner success and teacher effectiveness, creating a culture of proactive support and continuous improvement.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7302" y="5310475"/>
            <a:ext cx="11537396" cy="16365"/>
          </a:xfrm>
          <a:custGeom>
            <a:avLst/>
            <a:gdLst/>
            <a:ahLst/>
            <a:cxnLst/>
            <a:rect l="l" t="t" r="r" b="b"/>
            <a:pathLst>
              <a:path w="11537396" h="16365">
                <a:moveTo>
                  <a:pt x="0" y="0"/>
                </a:moveTo>
                <a:lnTo>
                  <a:pt x="11537396" y="0"/>
                </a:lnTo>
                <a:lnTo>
                  <a:pt x="11537396" y="16365"/>
                </a:lnTo>
                <a:lnTo>
                  <a:pt x="0" y="1636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327302" y="5040451"/>
            <a:ext cx="11611039" cy="261842"/>
          </a:xfrm>
          <a:prstGeom prst="rect">
            <a:avLst/>
          </a:prstGeom>
          <a:noFill/>
          <a:ln/>
        </p:spPr>
        <p:txBody>
          <a:bodyPr wrap="square" lIns="0" tIns="0" rIns="0" bIns="3273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3.2 Methodology: Assess → Think → Envision → Plan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7302" y="5400483"/>
            <a:ext cx="2806615" cy="1129192"/>
          </a:xfrm>
          <a:custGeom>
            <a:avLst/>
            <a:gdLst/>
            <a:ahLst/>
            <a:cxnLst/>
            <a:rect l="l" t="t" r="r" b="b"/>
            <a:pathLst>
              <a:path w="2806615" h="1129192">
                <a:moveTo>
                  <a:pt x="0" y="0"/>
                </a:moveTo>
                <a:lnTo>
                  <a:pt x="2806615" y="0"/>
                </a:lnTo>
                <a:lnTo>
                  <a:pt x="2806615" y="1129192"/>
                </a:lnTo>
                <a:lnTo>
                  <a:pt x="0" y="112919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6" name="Shape 54"/>
          <p:cNvSpPr/>
          <p:nvPr/>
        </p:nvSpPr>
        <p:spPr>
          <a:xfrm>
            <a:off x="327302" y="5400483"/>
            <a:ext cx="2806615" cy="32730"/>
          </a:xfrm>
          <a:custGeom>
            <a:avLst/>
            <a:gdLst/>
            <a:ahLst/>
            <a:cxnLst/>
            <a:rect l="l" t="t" r="r" b="b"/>
            <a:pathLst>
              <a:path w="2806615" h="32730">
                <a:moveTo>
                  <a:pt x="0" y="0"/>
                </a:moveTo>
                <a:lnTo>
                  <a:pt x="2806615" y="0"/>
                </a:lnTo>
                <a:lnTo>
                  <a:pt x="280661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568748" y="5482309"/>
            <a:ext cx="327302" cy="327302"/>
          </a:xfrm>
          <a:custGeom>
            <a:avLst/>
            <a:gdLst/>
            <a:ahLst/>
            <a:cxnLst/>
            <a:rect l="l" t="t" r="r" b="b"/>
            <a:pathLst>
              <a:path w="327302" h="327302">
                <a:moveTo>
                  <a:pt x="0" y="0"/>
                </a:moveTo>
                <a:lnTo>
                  <a:pt x="327302" y="0"/>
                </a:lnTo>
                <a:lnTo>
                  <a:pt x="327302" y="327302"/>
                </a:lnTo>
                <a:lnTo>
                  <a:pt x="0" y="32730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8" name="Text 56"/>
          <p:cNvSpPr/>
          <p:nvPr/>
        </p:nvSpPr>
        <p:spPr>
          <a:xfrm>
            <a:off x="1531927" y="5482309"/>
            <a:ext cx="400945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60032" y="5842341"/>
            <a:ext cx="274115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ASSESS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360032" y="6071452"/>
            <a:ext cx="2741154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Teachers manage data across multiple manual platforms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235687" y="5400483"/>
            <a:ext cx="2806615" cy="1129192"/>
          </a:xfrm>
          <a:custGeom>
            <a:avLst/>
            <a:gdLst/>
            <a:ahLst/>
            <a:cxnLst/>
            <a:rect l="l" t="t" r="r" b="b"/>
            <a:pathLst>
              <a:path w="2806615" h="1129192">
                <a:moveTo>
                  <a:pt x="0" y="0"/>
                </a:moveTo>
                <a:lnTo>
                  <a:pt x="2806615" y="0"/>
                </a:lnTo>
                <a:lnTo>
                  <a:pt x="2806615" y="1129192"/>
                </a:lnTo>
                <a:lnTo>
                  <a:pt x="0" y="112919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2" name="Shape 60"/>
          <p:cNvSpPr/>
          <p:nvPr/>
        </p:nvSpPr>
        <p:spPr>
          <a:xfrm>
            <a:off x="3235687" y="5400483"/>
            <a:ext cx="2806615" cy="32730"/>
          </a:xfrm>
          <a:custGeom>
            <a:avLst/>
            <a:gdLst/>
            <a:ahLst/>
            <a:cxnLst/>
            <a:rect l="l" t="t" r="r" b="b"/>
            <a:pathLst>
              <a:path w="2806615" h="32730">
                <a:moveTo>
                  <a:pt x="0" y="0"/>
                </a:moveTo>
                <a:lnTo>
                  <a:pt x="2806615" y="0"/>
                </a:lnTo>
                <a:lnTo>
                  <a:pt x="280661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4477134" y="5482309"/>
            <a:ext cx="327302" cy="327302"/>
          </a:xfrm>
          <a:custGeom>
            <a:avLst/>
            <a:gdLst/>
            <a:ahLst/>
            <a:cxnLst/>
            <a:rect l="l" t="t" r="r" b="b"/>
            <a:pathLst>
              <a:path w="327302" h="327302">
                <a:moveTo>
                  <a:pt x="0" y="0"/>
                </a:moveTo>
                <a:lnTo>
                  <a:pt x="327302" y="0"/>
                </a:lnTo>
                <a:lnTo>
                  <a:pt x="327302" y="327302"/>
                </a:lnTo>
                <a:lnTo>
                  <a:pt x="0" y="32730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4" name="Text 62"/>
          <p:cNvSpPr/>
          <p:nvPr/>
        </p:nvSpPr>
        <p:spPr>
          <a:xfrm>
            <a:off x="4440312" y="5482309"/>
            <a:ext cx="400945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268417" y="5842341"/>
            <a:ext cx="274115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THINK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268417" y="6071452"/>
            <a:ext cx="2741154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Caused by lack of unified systems; all stakeholders affected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144072" y="5400483"/>
            <a:ext cx="2806615" cy="1129192"/>
          </a:xfrm>
          <a:custGeom>
            <a:avLst/>
            <a:gdLst/>
            <a:ahLst/>
            <a:cxnLst/>
            <a:rect l="l" t="t" r="r" b="b"/>
            <a:pathLst>
              <a:path w="2806615" h="1129192">
                <a:moveTo>
                  <a:pt x="0" y="0"/>
                </a:moveTo>
                <a:lnTo>
                  <a:pt x="2806615" y="0"/>
                </a:lnTo>
                <a:lnTo>
                  <a:pt x="2806615" y="1129192"/>
                </a:lnTo>
                <a:lnTo>
                  <a:pt x="0" y="112919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8" name="Shape 66"/>
          <p:cNvSpPr/>
          <p:nvPr/>
        </p:nvSpPr>
        <p:spPr>
          <a:xfrm>
            <a:off x="6144072" y="5400483"/>
            <a:ext cx="2806615" cy="32730"/>
          </a:xfrm>
          <a:custGeom>
            <a:avLst/>
            <a:gdLst/>
            <a:ahLst/>
            <a:cxnLst/>
            <a:rect l="l" t="t" r="r" b="b"/>
            <a:pathLst>
              <a:path w="2806615" h="32730">
                <a:moveTo>
                  <a:pt x="0" y="0"/>
                </a:moveTo>
                <a:lnTo>
                  <a:pt x="2806615" y="0"/>
                </a:lnTo>
                <a:lnTo>
                  <a:pt x="280661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7385519" y="5482309"/>
            <a:ext cx="327302" cy="327302"/>
          </a:xfrm>
          <a:custGeom>
            <a:avLst/>
            <a:gdLst/>
            <a:ahLst/>
            <a:cxnLst/>
            <a:rect l="l" t="t" r="r" b="b"/>
            <a:pathLst>
              <a:path w="327302" h="327302">
                <a:moveTo>
                  <a:pt x="0" y="0"/>
                </a:moveTo>
                <a:lnTo>
                  <a:pt x="327302" y="0"/>
                </a:lnTo>
                <a:lnTo>
                  <a:pt x="327302" y="327302"/>
                </a:lnTo>
                <a:lnTo>
                  <a:pt x="0" y="32730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0" name="Text 68"/>
          <p:cNvSpPr/>
          <p:nvPr/>
        </p:nvSpPr>
        <p:spPr>
          <a:xfrm>
            <a:off x="7348697" y="5482309"/>
            <a:ext cx="400945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176803" y="5842341"/>
            <a:ext cx="274115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ENVISION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176803" y="6071452"/>
            <a:ext cx="2741154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Dashboard empowering teachers with improved tracking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052458" y="5400483"/>
            <a:ext cx="2806615" cy="1129192"/>
          </a:xfrm>
          <a:custGeom>
            <a:avLst/>
            <a:gdLst/>
            <a:ahLst/>
            <a:cxnLst/>
            <a:rect l="l" t="t" r="r" b="b"/>
            <a:pathLst>
              <a:path w="2806615" h="1129192">
                <a:moveTo>
                  <a:pt x="0" y="0"/>
                </a:moveTo>
                <a:lnTo>
                  <a:pt x="2806615" y="0"/>
                </a:lnTo>
                <a:lnTo>
                  <a:pt x="2806615" y="1129192"/>
                </a:lnTo>
                <a:lnTo>
                  <a:pt x="0" y="112919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4" name="Shape 72"/>
          <p:cNvSpPr/>
          <p:nvPr/>
        </p:nvSpPr>
        <p:spPr>
          <a:xfrm>
            <a:off x="9052458" y="5400483"/>
            <a:ext cx="2806615" cy="32730"/>
          </a:xfrm>
          <a:custGeom>
            <a:avLst/>
            <a:gdLst/>
            <a:ahLst/>
            <a:cxnLst/>
            <a:rect l="l" t="t" r="r" b="b"/>
            <a:pathLst>
              <a:path w="2806615" h="32730">
                <a:moveTo>
                  <a:pt x="0" y="0"/>
                </a:moveTo>
                <a:lnTo>
                  <a:pt x="2806615" y="0"/>
                </a:lnTo>
                <a:lnTo>
                  <a:pt x="2806615" y="32730"/>
                </a:lnTo>
                <a:lnTo>
                  <a:pt x="0" y="3273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5" name="Shape 73"/>
          <p:cNvSpPr/>
          <p:nvPr/>
        </p:nvSpPr>
        <p:spPr>
          <a:xfrm>
            <a:off x="10293904" y="5482309"/>
            <a:ext cx="327302" cy="327302"/>
          </a:xfrm>
          <a:custGeom>
            <a:avLst/>
            <a:gdLst/>
            <a:ahLst/>
            <a:cxnLst/>
            <a:rect l="l" t="t" r="r" b="b"/>
            <a:pathLst>
              <a:path w="327302" h="327302">
                <a:moveTo>
                  <a:pt x="0" y="0"/>
                </a:moveTo>
                <a:lnTo>
                  <a:pt x="327302" y="0"/>
                </a:lnTo>
                <a:lnTo>
                  <a:pt x="327302" y="327302"/>
                </a:lnTo>
                <a:lnTo>
                  <a:pt x="0" y="32730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6" name="Text 74"/>
          <p:cNvSpPr/>
          <p:nvPr/>
        </p:nvSpPr>
        <p:spPr>
          <a:xfrm>
            <a:off x="10257083" y="5482309"/>
            <a:ext cx="400945" cy="327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9085188" y="5842341"/>
            <a:ext cx="2741154" cy="196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9085188" y="6071452"/>
            <a:ext cx="2741154" cy="392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Iterative development with teacher involvement &amp; pilot rollout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797" y="340797"/>
            <a:ext cx="11578566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spc="107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 VISION AND 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797" y="613434"/>
            <a:ext cx="11663765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Strategic Direction &amp; SMART Goals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0797" y="1090549"/>
            <a:ext cx="11510407" cy="1610264"/>
          </a:xfrm>
          <a:custGeom>
            <a:avLst/>
            <a:gdLst/>
            <a:ahLst/>
            <a:cxnLst/>
            <a:rect l="l" t="t" r="r" b="b"/>
            <a:pathLst>
              <a:path w="11510407" h="1610264">
                <a:moveTo>
                  <a:pt x="0" y="0"/>
                </a:moveTo>
                <a:lnTo>
                  <a:pt x="11510407" y="0"/>
                </a:lnTo>
                <a:lnTo>
                  <a:pt x="11510407" y="1610264"/>
                </a:lnTo>
                <a:lnTo>
                  <a:pt x="0" y="16102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70834" y="1295027"/>
            <a:ext cx="460075" cy="408956"/>
          </a:xfrm>
          <a:custGeom>
            <a:avLst/>
            <a:gdLst/>
            <a:ahLst/>
            <a:cxnLst/>
            <a:rect l="l" t="t" r="r" b="b"/>
            <a:pathLst>
              <a:path w="460075" h="408956">
                <a:moveTo>
                  <a:pt x="230038" y="25560"/>
                </a:moveTo>
                <a:cubicBezTo>
                  <a:pt x="165499" y="25560"/>
                  <a:pt x="113821" y="54953"/>
                  <a:pt x="76200" y="89938"/>
                </a:cubicBezTo>
                <a:cubicBezTo>
                  <a:pt x="38819" y="124684"/>
                  <a:pt x="13818" y="166138"/>
                  <a:pt x="1917" y="194653"/>
                </a:cubicBezTo>
                <a:cubicBezTo>
                  <a:pt x="-719" y="200964"/>
                  <a:pt x="-719" y="207992"/>
                  <a:pt x="1917" y="214303"/>
                </a:cubicBezTo>
                <a:cubicBezTo>
                  <a:pt x="13818" y="242818"/>
                  <a:pt x="38819" y="284352"/>
                  <a:pt x="76200" y="319018"/>
                </a:cubicBezTo>
                <a:cubicBezTo>
                  <a:pt x="113821" y="353923"/>
                  <a:pt x="165499" y="383396"/>
                  <a:pt x="230038" y="383396"/>
                </a:cubicBezTo>
                <a:cubicBezTo>
                  <a:pt x="294576" y="383396"/>
                  <a:pt x="346255" y="354003"/>
                  <a:pt x="383875" y="319018"/>
                </a:cubicBezTo>
                <a:cubicBezTo>
                  <a:pt x="421257" y="284272"/>
                  <a:pt x="446257" y="242818"/>
                  <a:pt x="458158" y="214303"/>
                </a:cubicBezTo>
                <a:cubicBezTo>
                  <a:pt x="460794" y="207992"/>
                  <a:pt x="460794" y="200964"/>
                  <a:pt x="458158" y="194653"/>
                </a:cubicBezTo>
                <a:cubicBezTo>
                  <a:pt x="446257" y="166138"/>
                  <a:pt x="421257" y="124604"/>
                  <a:pt x="383875" y="89938"/>
                </a:cubicBezTo>
                <a:cubicBezTo>
                  <a:pt x="346255" y="55033"/>
                  <a:pt x="294576" y="25560"/>
                  <a:pt x="230038" y="25560"/>
                </a:cubicBezTo>
                <a:close/>
                <a:moveTo>
                  <a:pt x="115019" y="204478"/>
                </a:moveTo>
                <a:cubicBezTo>
                  <a:pt x="115019" y="140997"/>
                  <a:pt x="166557" y="89459"/>
                  <a:pt x="230038" y="89459"/>
                </a:cubicBezTo>
                <a:cubicBezTo>
                  <a:pt x="293518" y="89459"/>
                  <a:pt x="345057" y="140997"/>
                  <a:pt x="345057" y="204478"/>
                </a:cubicBezTo>
                <a:cubicBezTo>
                  <a:pt x="345057" y="267959"/>
                  <a:pt x="293518" y="319497"/>
                  <a:pt x="230038" y="319497"/>
                </a:cubicBezTo>
                <a:cubicBezTo>
                  <a:pt x="166557" y="319497"/>
                  <a:pt x="115019" y="267959"/>
                  <a:pt x="115019" y="204478"/>
                </a:cubicBezTo>
                <a:close/>
                <a:moveTo>
                  <a:pt x="230038" y="153358"/>
                </a:moveTo>
                <a:cubicBezTo>
                  <a:pt x="230038" y="181554"/>
                  <a:pt x="207114" y="204478"/>
                  <a:pt x="178918" y="204478"/>
                </a:cubicBezTo>
                <a:cubicBezTo>
                  <a:pt x="169733" y="204478"/>
                  <a:pt x="161106" y="202082"/>
                  <a:pt x="153598" y="197769"/>
                </a:cubicBezTo>
                <a:cubicBezTo>
                  <a:pt x="152799" y="206475"/>
                  <a:pt x="153518" y="215421"/>
                  <a:pt x="155914" y="224287"/>
                </a:cubicBezTo>
                <a:cubicBezTo>
                  <a:pt x="166857" y="265182"/>
                  <a:pt x="208951" y="289464"/>
                  <a:pt x="249847" y="278521"/>
                </a:cubicBezTo>
                <a:cubicBezTo>
                  <a:pt x="290742" y="267579"/>
                  <a:pt x="315024" y="225485"/>
                  <a:pt x="304081" y="184589"/>
                </a:cubicBezTo>
                <a:cubicBezTo>
                  <a:pt x="294336" y="148087"/>
                  <a:pt x="259751" y="124843"/>
                  <a:pt x="223328" y="128038"/>
                </a:cubicBezTo>
                <a:cubicBezTo>
                  <a:pt x="227562" y="135467"/>
                  <a:pt x="230038" y="144093"/>
                  <a:pt x="230038" y="153358"/>
                </a:cubicBezTo>
                <a:close/>
              </a:path>
            </a:pathLst>
          </a:custGeom>
          <a:solidFill>
            <a:srgbClr val="F9FAFB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226868" y="1295027"/>
            <a:ext cx="10522096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Vision Statement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6868" y="1669904"/>
            <a:ext cx="10505057" cy="281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2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"Empower teachers with actionable insights to maximize learner success."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6868" y="2049040"/>
            <a:ext cx="10488017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vision positions the dashboard as a transformative tool that converts raw educational data into meaningful, timely actions—enabling educators to identify challenges early, celebrate achievements promptly, and optimize learning outcomes for every student.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0797" y="3182189"/>
            <a:ext cx="11510407" cy="17040"/>
          </a:xfrm>
          <a:custGeom>
            <a:avLst/>
            <a:gdLst/>
            <a:ahLst/>
            <a:cxnLst/>
            <a:rect l="l" t="t" r="r" b="b"/>
            <a:pathLst>
              <a:path w="11510407" h="17040">
                <a:moveTo>
                  <a:pt x="0" y="0"/>
                </a:moveTo>
                <a:lnTo>
                  <a:pt x="11510407" y="0"/>
                </a:lnTo>
                <a:lnTo>
                  <a:pt x="11510407" y="17040"/>
                </a:lnTo>
                <a:lnTo>
                  <a:pt x="0" y="1704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340797" y="2832872"/>
            <a:ext cx="11612646" cy="340797"/>
          </a:xfrm>
          <a:prstGeom prst="rect">
            <a:avLst/>
          </a:prstGeom>
          <a:noFill/>
          <a:ln/>
        </p:spPr>
        <p:txBody>
          <a:bodyPr wrap="square" lIns="0" tIns="0" rIns="0" bIns="68159" rtlCol="0" anchor="ctr"/>
          <a:lstStyle/>
          <a:p>
            <a:pPr>
              <a:lnSpc>
                <a:spcPct val="110000"/>
              </a:lnSpc>
            </a:pPr>
            <a:r>
              <a:rPr lang="en-US" sz="161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4.1 SMART Objectives Framework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7836" y="3327027"/>
            <a:ext cx="2206658" cy="1823262"/>
          </a:xfrm>
          <a:custGeom>
            <a:avLst/>
            <a:gdLst/>
            <a:ahLst/>
            <a:cxnLst/>
            <a:rect l="l" t="t" r="r" b="b"/>
            <a:pathLst>
              <a:path w="2206658" h="1823262">
                <a:moveTo>
                  <a:pt x="0" y="0"/>
                </a:moveTo>
                <a:lnTo>
                  <a:pt x="2206658" y="0"/>
                </a:lnTo>
                <a:lnTo>
                  <a:pt x="2206658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57836" y="3327027"/>
            <a:ext cx="34080" cy="1823262"/>
          </a:xfrm>
          <a:custGeom>
            <a:avLst/>
            <a:gdLst/>
            <a:ahLst/>
            <a:cxnLst/>
            <a:rect l="l" t="t" r="r" b="b"/>
            <a:pathLst>
              <a:path w="34080" h="1823262">
                <a:moveTo>
                  <a:pt x="0" y="0"/>
                </a:moveTo>
                <a:lnTo>
                  <a:pt x="34080" y="0"/>
                </a:lnTo>
                <a:lnTo>
                  <a:pt x="34080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511195" y="3463346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0" y="0"/>
                </a:moveTo>
                <a:lnTo>
                  <a:pt x="340797" y="0"/>
                </a:lnTo>
                <a:lnTo>
                  <a:pt x="340797" y="340797"/>
                </a:lnTo>
                <a:lnTo>
                  <a:pt x="0" y="34079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68595" y="3463346"/>
            <a:ext cx="42599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2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0151" y="3514465"/>
            <a:ext cx="656034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Specific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1195" y="3906382"/>
            <a:ext cx="1985140" cy="110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Develop a unified dashboard for tracking learner progress, implementing interventions, and managing achievements in a single integrated platform.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80445" y="3327027"/>
            <a:ext cx="2206658" cy="1823262"/>
          </a:xfrm>
          <a:custGeom>
            <a:avLst/>
            <a:gdLst/>
            <a:ahLst/>
            <a:cxnLst/>
            <a:rect l="l" t="t" r="r" b="b"/>
            <a:pathLst>
              <a:path w="2206658" h="1823262">
                <a:moveTo>
                  <a:pt x="0" y="0"/>
                </a:moveTo>
                <a:lnTo>
                  <a:pt x="2206658" y="0"/>
                </a:lnTo>
                <a:lnTo>
                  <a:pt x="2206658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0445" y="3327027"/>
            <a:ext cx="34080" cy="1823262"/>
          </a:xfrm>
          <a:custGeom>
            <a:avLst/>
            <a:gdLst/>
            <a:ahLst/>
            <a:cxnLst/>
            <a:rect l="l" t="t" r="r" b="b"/>
            <a:pathLst>
              <a:path w="34080" h="1823262">
                <a:moveTo>
                  <a:pt x="0" y="0"/>
                </a:moveTo>
                <a:lnTo>
                  <a:pt x="34080" y="0"/>
                </a:lnTo>
                <a:lnTo>
                  <a:pt x="34080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833804" y="3463346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0" y="0"/>
                </a:moveTo>
                <a:lnTo>
                  <a:pt x="340797" y="0"/>
                </a:lnTo>
                <a:lnTo>
                  <a:pt x="340797" y="340797"/>
                </a:lnTo>
                <a:lnTo>
                  <a:pt x="0" y="34079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2791204" y="3463346"/>
            <a:ext cx="42599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2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42760" y="3514465"/>
            <a:ext cx="928671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Measurable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33804" y="3906382"/>
            <a:ext cx="1985140" cy="110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Enable teachers to identify at-risk learners within 24 hours of performance entry and generate comprehensive reports in under 5 minutes.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03188" y="3327027"/>
            <a:ext cx="2206658" cy="1823262"/>
          </a:xfrm>
          <a:custGeom>
            <a:avLst/>
            <a:gdLst/>
            <a:ahLst/>
            <a:cxnLst/>
            <a:rect l="l" t="t" r="r" b="b"/>
            <a:pathLst>
              <a:path w="2206658" h="1823262">
                <a:moveTo>
                  <a:pt x="0" y="0"/>
                </a:moveTo>
                <a:lnTo>
                  <a:pt x="2206658" y="0"/>
                </a:lnTo>
                <a:lnTo>
                  <a:pt x="2206658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5003188" y="3327027"/>
            <a:ext cx="34080" cy="1823262"/>
          </a:xfrm>
          <a:custGeom>
            <a:avLst/>
            <a:gdLst/>
            <a:ahLst/>
            <a:cxnLst/>
            <a:rect l="l" t="t" r="r" b="b"/>
            <a:pathLst>
              <a:path w="34080" h="1823262">
                <a:moveTo>
                  <a:pt x="0" y="0"/>
                </a:moveTo>
                <a:lnTo>
                  <a:pt x="34080" y="0"/>
                </a:lnTo>
                <a:lnTo>
                  <a:pt x="34080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156546" y="3463346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0" y="0"/>
                </a:moveTo>
                <a:lnTo>
                  <a:pt x="340797" y="0"/>
                </a:lnTo>
                <a:lnTo>
                  <a:pt x="340797" y="340797"/>
                </a:lnTo>
                <a:lnTo>
                  <a:pt x="0" y="34079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113947" y="3463346"/>
            <a:ext cx="42599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2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65502" y="3514465"/>
            <a:ext cx="920151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Achievable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56546" y="3906382"/>
            <a:ext cx="1985140" cy="88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Build upon existing school IT infrastructure and incorporate direct teacher input throughout the development lifecycle.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25930" y="3327027"/>
            <a:ext cx="2206658" cy="1823262"/>
          </a:xfrm>
          <a:custGeom>
            <a:avLst/>
            <a:gdLst/>
            <a:ahLst/>
            <a:cxnLst/>
            <a:rect l="l" t="t" r="r" b="b"/>
            <a:pathLst>
              <a:path w="2206658" h="1823262">
                <a:moveTo>
                  <a:pt x="0" y="0"/>
                </a:moveTo>
                <a:lnTo>
                  <a:pt x="2206658" y="0"/>
                </a:lnTo>
                <a:lnTo>
                  <a:pt x="2206658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7325930" y="3327027"/>
            <a:ext cx="34080" cy="1823262"/>
          </a:xfrm>
          <a:custGeom>
            <a:avLst/>
            <a:gdLst/>
            <a:ahLst/>
            <a:cxnLst/>
            <a:rect l="l" t="t" r="r" b="b"/>
            <a:pathLst>
              <a:path w="34080" h="1823262">
                <a:moveTo>
                  <a:pt x="0" y="0"/>
                </a:moveTo>
                <a:lnTo>
                  <a:pt x="34080" y="0"/>
                </a:lnTo>
                <a:lnTo>
                  <a:pt x="34080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479288" y="3463346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0" y="0"/>
                </a:moveTo>
                <a:lnTo>
                  <a:pt x="340797" y="0"/>
                </a:lnTo>
                <a:lnTo>
                  <a:pt x="340797" y="340797"/>
                </a:lnTo>
                <a:lnTo>
                  <a:pt x="0" y="34079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7436689" y="3463346"/>
            <a:ext cx="42599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2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888244" y="3514465"/>
            <a:ext cx="741233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Relevant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79288" y="3906382"/>
            <a:ext cx="1985140" cy="110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Directly addresses core classroom management needs and aligns with school administrative reporting requirements.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48672" y="3327027"/>
            <a:ext cx="2206658" cy="1823262"/>
          </a:xfrm>
          <a:custGeom>
            <a:avLst/>
            <a:gdLst/>
            <a:ahLst/>
            <a:cxnLst/>
            <a:rect l="l" t="t" r="r" b="b"/>
            <a:pathLst>
              <a:path w="2206658" h="1823262">
                <a:moveTo>
                  <a:pt x="0" y="0"/>
                </a:moveTo>
                <a:lnTo>
                  <a:pt x="2206658" y="0"/>
                </a:lnTo>
                <a:lnTo>
                  <a:pt x="2206658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9648672" y="3327027"/>
            <a:ext cx="34080" cy="1823262"/>
          </a:xfrm>
          <a:custGeom>
            <a:avLst/>
            <a:gdLst/>
            <a:ahLst/>
            <a:cxnLst/>
            <a:rect l="l" t="t" r="r" b="b"/>
            <a:pathLst>
              <a:path w="34080" h="1823262">
                <a:moveTo>
                  <a:pt x="0" y="0"/>
                </a:moveTo>
                <a:lnTo>
                  <a:pt x="34080" y="0"/>
                </a:lnTo>
                <a:lnTo>
                  <a:pt x="34080" y="1823262"/>
                </a:lnTo>
                <a:lnTo>
                  <a:pt x="0" y="1823262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9802030" y="3463346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0" y="0"/>
                </a:moveTo>
                <a:lnTo>
                  <a:pt x="340797" y="0"/>
                </a:lnTo>
                <a:lnTo>
                  <a:pt x="340797" y="340797"/>
                </a:lnTo>
                <a:lnTo>
                  <a:pt x="0" y="340797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9759431" y="3463346"/>
            <a:ext cx="425996" cy="340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2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210986" y="3514465"/>
            <a:ext cx="1013870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Time-bound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802030" y="3906382"/>
            <a:ext cx="1985140" cy="886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Complete pilot rollout within the next academic term, with full deployment by the following semester.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0797" y="5303648"/>
            <a:ext cx="3748763" cy="34080"/>
          </a:xfrm>
          <a:custGeom>
            <a:avLst/>
            <a:gdLst/>
            <a:ahLst/>
            <a:cxnLst/>
            <a:rect l="l" t="t" r="r" b="b"/>
            <a:pathLst>
              <a:path w="3748763" h="34080">
                <a:moveTo>
                  <a:pt x="0" y="0"/>
                </a:moveTo>
                <a:lnTo>
                  <a:pt x="3748763" y="0"/>
                </a:lnTo>
                <a:lnTo>
                  <a:pt x="3748763" y="34080"/>
                </a:lnTo>
                <a:lnTo>
                  <a:pt x="0" y="3408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2" name="Text 40"/>
          <p:cNvSpPr/>
          <p:nvPr/>
        </p:nvSpPr>
        <p:spPr>
          <a:xfrm>
            <a:off x="379136" y="5422927"/>
            <a:ext cx="3672084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&lt;24h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08956" y="5763723"/>
            <a:ext cx="361244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At-risk identification time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223349" y="5303648"/>
            <a:ext cx="3748763" cy="34080"/>
          </a:xfrm>
          <a:custGeom>
            <a:avLst/>
            <a:gdLst/>
            <a:ahLst/>
            <a:cxnLst/>
            <a:rect l="l" t="t" r="r" b="b"/>
            <a:pathLst>
              <a:path w="3748763" h="34080">
                <a:moveTo>
                  <a:pt x="0" y="0"/>
                </a:moveTo>
                <a:lnTo>
                  <a:pt x="3748763" y="0"/>
                </a:lnTo>
                <a:lnTo>
                  <a:pt x="3748763" y="34080"/>
                </a:lnTo>
                <a:lnTo>
                  <a:pt x="0" y="3408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Text 43"/>
          <p:cNvSpPr/>
          <p:nvPr/>
        </p:nvSpPr>
        <p:spPr>
          <a:xfrm>
            <a:off x="4261689" y="5422927"/>
            <a:ext cx="3672084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&lt;5min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291508" y="5763723"/>
            <a:ext cx="361244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Report generation time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05901" y="5303648"/>
            <a:ext cx="3748763" cy="34080"/>
          </a:xfrm>
          <a:custGeom>
            <a:avLst/>
            <a:gdLst/>
            <a:ahLst/>
            <a:cxnLst/>
            <a:rect l="l" t="t" r="r" b="b"/>
            <a:pathLst>
              <a:path w="3748763" h="34080">
                <a:moveTo>
                  <a:pt x="0" y="0"/>
                </a:moveTo>
                <a:lnTo>
                  <a:pt x="3748763" y="0"/>
                </a:lnTo>
                <a:lnTo>
                  <a:pt x="3748763" y="34080"/>
                </a:lnTo>
                <a:lnTo>
                  <a:pt x="0" y="3408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8144241" y="5422927"/>
            <a:ext cx="3672084" cy="306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 Term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74061" y="5763723"/>
            <a:ext cx="361244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3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Pilot rollout timeline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513" y="341513"/>
            <a:ext cx="1157727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spc="108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 SYSTEM USERS &amp; STAKEHOLDERS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513" y="614723"/>
            <a:ext cx="11662655" cy="34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Personas &amp; Role Analysis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513" y="1092840"/>
            <a:ext cx="3748101" cy="2919933"/>
          </a:xfrm>
          <a:custGeom>
            <a:avLst/>
            <a:gdLst/>
            <a:ahLst/>
            <a:cxnLst/>
            <a:rect l="l" t="t" r="r" b="b"/>
            <a:pathLst>
              <a:path w="3748101" h="2919933">
                <a:moveTo>
                  <a:pt x="0" y="0"/>
                </a:moveTo>
                <a:lnTo>
                  <a:pt x="3748101" y="0"/>
                </a:lnTo>
                <a:lnTo>
                  <a:pt x="3748101" y="2919933"/>
                </a:lnTo>
                <a:lnTo>
                  <a:pt x="0" y="291993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512269" y="1263597"/>
            <a:ext cx="384202" cy="307361"/>
          </a:xfrm>
          <a:custGeom>
            <a:avLst/>
            <a:gdLst/>
            <a:ahLst/>
            <a:cxnLst/>
            <a:rect l="l" t="t" r="r" b="b"/>
            <a:pathLst>
              <a:path w="384202" h="307361">
                <a:moveTo>
                  <a:pt x="76840" y="57630"/>
                </a:moveTo>
                <a:cubicBezTo>
                  <a:pt x="76840" y="36439"/>
                  <a:pt x="94069" y="19210"/>
                  <a:pt x="115261" y="19210"/>
                </a:cubicBezTo>
                <a:lnTo>
                  <a:pt x="326571" y="19210"/>
                </a:lnTo>
                <a:cubicBezTo>
                  <a:pt x="347763" y="19210"/>
                  <a:pt x="364992" y="36439"/>
                  <a:pt x="364992" y="57630"/>
                </a:cubicBezTo>
                <a:lnTo>
                  <a:pt x="364992" y="201706"/>
                </a:lnTo>
                <a:lnTo>
                  <a:pt x="307361" y="201706"/>
                </a:lnTo>
                <a:lnTo>
                  <a:pt x="307361" y="192101"/>
                </a:lnTo>
                <a:cubicBezTo>
                  <a:pt x="307361" y="181475"/>
                  <a:pt x="298777" y="172891"/>
                  <a:pt x="288151" y="172891"/>
                </a:cubicBezTo>
                <a:lnTo>
                  <a:pt x="249731" y="172891"/>
                </a:lnTo>
                <a:cubicBezTo>
                  <a:pt x="239106" y="172891"/>
                  <a:pt x="230521" y="181475"/>
                  <a:pt x="230521" y="192101"/>
                </a:cubicBezTo>
                <a:lnTo>
                  <a:pt x="230521" y="201706"/>
                </a:lnTo>
                <a:lnTo>
                  <a:pt x="153020" y="201706"/>
                </a:lnTo>
                <a:cubicBezTo>
                  <a:pt x="159564" y="190420"/>
                  <a:pt x="163286" y="177273"/>
                  <a:pt x="163286" y="163286"/>
                </a:cubicBezTo>
                <a:cubicBezTo>
                  <a:pt x="163286" y="120843"/>
                  <a:pt x="128888" y="86445"/>
                  <a:pt x="86445" y="86445"/>
                </a:cubicBezTo>
                <a:cubicBezTo>
                  <a:pt x="83204" y="86445"/>
                  <a:pt x="79962" y="86625"/>
                  <a:pt x="76840" y="87046"/>
                </a:cubicBezTo>
                <a:lnTo>
                  <a:pt x="76840" y="57630"/>
                </a:lnTo>
                <a:close/>
                <a:moveTo>
                  <a:pt x="199905" y="268941"/>
                </a:moveTo>
                <a:cubicBezTo>
                  <a:pt x="196843" y="254414"/>
                  <a:pt x="190120" y="241267"/>
                  <a:pt x="180635" y="230521"/>
                </a:cubicBezTo>
                <a:lnTo>
                  <a:pt x="364992" y="230521"/>
                </a:lnTo>
                <a:cubicBezTo>
                  <a:pt x="364992" y="251712"/>
                  <a:pt x="347763" y="268941"/>
                  <a:pt x="326571" y="268941"/>
                </a:cubicBezTo>
                <a:lnTo>
                  <a:pt x="199905" y="268941"/>
                </a:lnTo>
                <a:close/>
                <a:moveTo>
                  <a:pt x="38420" y="163286"/>
                </a:moveTo>
                <a:cubicBezTo>
                  <a:pt x="38420" y="136780"/>
                  <a:pt x="59940" y="115261"/>
                  <a:pt x="86445" y="115261"/>
                </a:cubicBezTo>
                <a:cubicBezTo>
                  <a:pt x="112951" y="115261"/>
                  <a:pt x="134471" y="136780"/>
                  <a:pt x="134471" y="163286"/>
                </a:cubicBezTo>
                <a:cubicBezTo>
                  <a:pt x="134471" y="189792"/>
                  <a:pt x="112951" y="211311"/>
                  <a:pt x="86445" y="211311"/>
                </a:cubicBezTo>
                <a:cubicBezTo>
                  <a:pt x="59940" y="211311"/>
                  <a:pt x="38420" y="189792"/>
                  <a:pt x="38420" y="163286"/>
                </a:cubicBezTo>
                <a:close/>
                <a:moveTo>
                  <a:pt x="0" y="288151"/>
                </a:moveTo>
                <a:cubicBezTo>
                  <a:pt x="0" y="256335"/>
                  <a:pt x="25814" y="230521"/>
                  <a:pt x="57630" y="230521"/>
                </a:cubicBezTo>
                <a:lnTo>
                  <a:pt x="115261" y="230521"/>
                </a:lnTo>
                <a:cubicBezTo>
                  <a:pt x="147077" y="230521"/>
                  <a:pt x="172891" y="256335"/>
                  <a:pt x="172891" y="288151"/>
                </a:cubicBezTo>
                <a:cubicBezTo>
                  <a:pt x="172891" y="298777"/>
                  <a:pt x="164306" y="307361"/>
                  <a:pt x="153681" y="307361"/>
                </a:cubicBezTo>
                <a:lnTo>
                  <a:pt x="19210" y="307361"/>
                </a:lnTo>
                <a:cubicBezTo>
                  <a:pt x="8585" y="307361"/>
                  <a:pt x="0" y="298777"/>
                  <a:pt x="0" y="288151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Text 4"/>
          <p:cNvSpPr/>
          <p:nvPr/>
        </p:nvSpPr>
        <p:spPr>
          <a:xfrm>
            <a:off x="998924" y="1280672"/>
            <a:ext cx="905008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12269" y="1707563"/>
            <a:ext cx="1195294" cy="239059"/>
          </a:xfrm>
          <a:custGeom>
            <a:avLst/>
            <a:gdLst/>
            <a:ahLst/>
            <a:cxnLst/>
            <a:rect l="l" t="t" r="r" b="b"/>
            <a:pathLst>
              <a:path w="1195294" h="239059">
                <a:moveTo>
                  <a:pt x="0" y="0"/>
                </a:moveTo>
                <a:lnTo>
                  <a:pt x="1195294" y="0"/>
                </a:lnTo>
                <a:lnTo>
                  <a:pt x="1195294" y="239059"/>
                </a:lnTo>
                <a:lnTo>
                  <a:pt x="0" y="23905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8" name="Text 6"/>
          <p:cNvSpPr/>
          <p:nvPr/>
        </p:nvSpPr>
        <p:spPr>
          <a:xfrm>
            <a:off x="512269" y="1707563"/>
            <a:ext cx="1255059" cy="239059"/>
          </a:xfrm>
          <a:prstGeom prst="rect">
            <a:avLst/>
          </a:prstGeom>
          <a:noFill/>
          <a:ln/>
        </p:spPr>
        <p:txBody>
          <a:bodyPr wrap="square" lIns="102454" tIns="34151" rIns="102454" bIns="34151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PRIMARY USERS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2269" y="2049076"/>
            <a:ext cx="3474891" cy="66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6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Responsibilities:</a:t>
            </a:r>
            <a:pPr>
              <a:lnSpc>
                <a:spcPct val="14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Handle all learner data entries, monitor academic progress, and respond to performance alerts in real-time.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9345" y="285163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Text 9"/>
          <p:cNvSpPr/>
          <p:nvPr/>
        </p:nvSpPr>
        <p:spPr>
          <a:xfrm>
            <a:off x="729983" y="2817479"/>
            <a:ext cx="232228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Add, edit, and monitor learner records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9345" y="312484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3" name="Text 11"/>
          <p:cNvSpPr/>
          <p:nvPr/>
        </p:nvSpPr>
        <p:spPr>
          <a:xfrm>
            <a:off x="729983" y="3090689"/>
            <a:ext cx="221983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View and react to performance alerts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9345" y="339805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5" name="Text 13"/>
          <p:cNvSpPr/>
          <p:nvPr/>
        </p:nvSpPr>
        <p:spPr>
          <a:xfrm>
            <a:off x="729983" y="3363899"/>
            <a:ext cx="216006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Recognize and record achievements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9345" y="3671261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Text 15"/>
          <p:cNvSpPr/>
          <p:nvPr/>
        </p:nvSpPr>
        <p:spPr>
          <a:xfrm>
            <a:off x="729983" y="3637109"/>
            <a:ext cx="2236908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Generate individual and class reports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22083" y="1092840"/>
            <a:ext cx="3748101" cy="2919933"/>
          </a:xfrm>
          <a:custGeom>
            <a:avLst/>
            <a:gdLst/>
            <a:ahLst/>
            <a:cxnLst/>
            <a:rect l="l" t="t" r="r" b="b"/>
            <a:pathLst>
              <a:path w="3748101" h="2919933">
                <a:moveTo>
                  <a:pt x="0" y="0"/>
                </a:moveTo>
                <a:lnTo>
                  <a:pt x="3748101" y="0"/>
                </a:lnTo>
                <a:lnTo>
                  <a:pt x="3748101" y="2919933"/>
                </a:lnTo>
                <a:lnTo>
                  <a:pt x="0" y="2919933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9" name="Shape 17"/>
          <p:cNvSpPr/>
          <p:nvPr/>
        </p:nvSpPr>
        <p:spPr>
          <a:xfrm>
            <a:off x="4450470" y="1263597"/>
            <a:ext cx="268941" cy="307361"/>
          </a:xfrm>
          <a:custGeom>
            <a:avLst/>
            <a:gdLst/>
            <a:ahLst/>
            <a:cxnLst/>
            <a:rect l="l" t="t" r="r" b="b"/>
            <a:pathLst>
              <a:path w="268941" h="307361">
                <a:moveTo>
                  <a:pt x="134471" y="148878"/>
                </a:moveTo>
                <a:cubicBezTo>
                  <a:pt x="94712" y="148878"/>
                  <a:pt x="62433" y="116599"/>
                  <a:pt x="62433" y="76840"/>
                </a:cubicBezTo>
                <a:cubicBezTo>
                  <a:pt x="62433" y="37082"/>
                  <a:pt x="94712" y="4803"/>
                  <a:pt x="134471" y="4803"/>
                </a:cubicBezTo>
                <a:cubicBezTo>
                  <a:pt x="174229" y="4803"/>
                  <a:pt x="206508" y="37082"/>
                  <a:pt x="206508" y="76840"/>
                </a:cubicBezTo>
                <a:cubicBezTo>
                  <a:pt x="206508" y="116599"/>
                  <a:pt x="174229" y="148878"/>
                  <a:pt x="134471" y="148878"/>
                </a:cubicBezTo>
                <a:close/>
                <a:moveTo>
                  <a:pt x="116161" y="182496"/>
                </a:moveTo>
                <a:lnTo>
                  <a:pt x="152780" y="182496"/>
                </a:lnTo>
                <a:cubicBezTo>
                  <a:pt x="158603" y="182496"/>
                  <a:pt x="163286" y="187178"/>
                  <a:pt x="163286" y="193001"/>
                </a:cubicBezTo>
                <a:cubicBezTo>
                  <a:pt x="163286" y="195523"/>
                  <a:pt x="162385" y="197924"/>
                  <a:pt x="160764" y="199845"/>
                </a:cubicBezTo>
                <a:lnTo>
                  <a:pt x="144316" y="219055"/>
                </a:lnTo>
                <a:lnTo>
                  <a:pt x="162926" y="288151"/>
                </a:lnTo>
                <a:lnTo>
                  <a:pt x="163286" y="288151"/>
                </a:lnTo>
                <a:lnTo>
                  <a:pt x="184057" y="205008"/>
                </a:lnTo>
                <a:cubicBezTo>
                  <a:pt x="185377" y="199785"/>
                  <a:pt x="190720" y="196603"/>
                  <a:pt x="195763" y="198524"/>
                </a:cubicBezTo>
                <a:cubicBezTo>
                  <a:pt x="232922" y="212692"/>
                  <a:pt x="259336" y="248711"/>
                  <a:pt x="259336" y="290853"/>
                </a:cubicBezTo>
                <a:cubicBezTo>
                  <a:pt x="259336" y="299917"/>
                  <a:pt x="251952" y="307301"/>
                  <a:pt x="242888" y="307301"/>
                </a:cubicBezTo>
                <a:lnTo>
                  <a:pt x="26054" y="307361"/>
                </a:lnTo>
                <a:cubicBezTo>
                  <a:pt x="16989" y="307361"/>
                  <a:pt x="9605" y="299977"/>
                  <a:pt x="9605" y="290913"/>
                </a:cubicBezTo>
                <a:cubicBezTo>
                  <a:pt x="9605" y="248771"/>
                  <a:pt x="36019" y="212752"/>
                  <a:pt x="73178" y="198584"/>
                </a:cubicBezTo>
                <a:cubicBezTo>
                  <a:pt x="78221" y="196663"/>
                  <a:pt x="83564" y="199845"/>
                  <a:pt x="84885" y="205068"/>
                </a:cubicBezTo>
                <a:lnTo>
                  <a:pt x="105655" y="288211"/>
                </a:lnTo>
                <a:lnTo>
                  <a:pt x="106016" y="288211"/>
                </a:lnTo>
                <a:lnTo>
                  <a:pt x="124625" y="219115"/>
                </a:lnTo>
                <a:lnTo>
                  <a:pt x="108177" y="199905"/>
                </a:lnTo>
                <a:cubicBezTo>
                  <a:pt x="106556" y="197984"/>
                  <a:pt x="105655" y="195583"/>
                  <a:pt x="105655" y="193061"/>
                </a:cubicBezTo>
                <a:cubicBezTo>
                  <a:pt x="105655" y="187238"/>
                  <a:pt x="110338" y="182556"/>
                  <a:pt x="116161" y="182556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Text 18"/>
          <p:cNvSpPr/>
          <p:nvPr/>
        </p:nvSpPr>
        <p:spPr>
          <a:xfrm>
            <a:off x="4879495" y="1280672"/>
            <a:ext cx="1451429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92839" y="1707563"/>
            <a:ext cx="930622" cy="239059"/>
          </a:xfrm>
          <a:custGeom>
            <a:avLst/>
            <a:gdLst/>
            <a:ahLst/>
            <a:cxnLst/>
            <a:rect l="l" t="t" r="r" b="b"/>
            <a:pathLst>
              <a:path w="930622" h="239059">
                <a:moveTo>
                  <a:pt x="0" y="0"/>
                </a:moveTo>
                <a:lnTo>
                  <a:pt x="930622" y="0"/>
                </a:lnTo>
                <a:lnTo>
                  <a:pt x="930622" y="239059"/>
                </a:lnTo>
                <a:lnTo>
                  <a:pt x="0" y="23905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2" name="Text 20"/>
          <p:cNvSpPr/>
          <p:nvPr/>
        </p:nvSpPr>
        <p:spPr>
          <a:xfrm>
            <a:off x="4392839" y="1707563"/>
            <a:ext cx="990387" cy="239059"/>
          </a:xfrm>
          <a:prstGeom prst="rect">
            <a:avLst/>
          </a:prstGeom>
          <a:noFill/>
          <a:ln/>
        </p:spPr>
        <p:txBody>
          <a:bodyPr wrap="square" lIns="102454" tIns="34151" rIns="102454" bIns="34151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OVERSEERS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92839" y="2049076"/>
            <a:ext cx="3474891" cy="66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6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Strategic Role:</a:t>
            </a:r>
            <a:pPr>
              <a:lnSpc>
                <a:spcPct val="14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Oversee school-wide performance metrics, manage user accounts, and ensure data integrity across the institution.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9915" y="285163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Text 23"/>
          <p:cNvSpPr/>
          <p:nvPr/>
        </p:nvSpPr>
        <p:spPr>
          <a:xfrm>
            <a:off x="4610554" y="2817479"/>
            <a:ext cx="2347899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Oversee school-wide performance data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09915" y="312484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Text 25"/>
          <p:cNvSpPr/>
          <p:nvPr/>
        </p:nvSpPr>
        <p:spPr>
          <a:xfrm>
            <a:off x="4610554" y="3090689"/>
            <a:ext cx="1980773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Generate comprehensive reports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09915" y="339805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9" name="Text 27"/>
          <p:cNvSpPr/>
          <p:nvPr/>
        </p:nvSpPr>
        <p:spPr>
          <a:xfrm>
            <a:off x="4610554" y="3363899"/>
            <a:ext cx="233082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Manage user accounts and permissions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09915" y="3671261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Text 29"/>
          <p:cNvSpPr/>
          <p:nvPr/>
        </p:nvSpPr>
        <p:spPr>
          <a:xfrm>
            <a:off x="4610554" y="3637109"/>
            <a:ext cx="208322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Maintain school database integrity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02653" y="1092840"/>
            <a:ext cx="3748101" cy="2919933"/>
          </a:xfrm>
          <a:custGeom>
            <a:avLst/>
            <a:gdLst/>
            <a:ahLst/>
            <a:cxnLst/>
            <a:rect l="l" t="t" r="r" b="b"/>
            <a:pathLst>
              <a:path w="3748101" h="2919933">
                <a:moveTo>
                  <a:pt x="0" y="0"/>
                </a:moveTo>
                <a:lnTo>
                  <a:pt x="3748101" y="0"/>
                </a:lnTo>
                <a:lnTo>
                  <a:pt x="3748101" y="2919933"/>
                </a:lnTo>
                <a:lnTo>
                  <a:pt x="0" y="2919933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3" name="Shape 31"/>
          <p:cNvSpPr/>
          <p:nvPr/>
        </p:nvSpPr>
        <p:spPr>
          <a:xfrm>
            <a:off x="8331040" y="1263597"/>
            <a:ext cx="268941" cy="307361"/>
          </a:xfrm>
          <a:custGeom>
            <a:avLst/>
            <a:gdLst/>
            <a:ahLst/>
            <a:cxnLst/>
            <a:rect l="l" t="t" r="r" b="b"/>
            <a:pathLst>
              <a:path w="268941" h="307361">
                <a:moveTo>
                  <a:pt x="144856" y="-7804"/>
                </a:moveTo>
                <a:cubicBezTo>
                  <a:pt x="138012" y="-9185"/>
                  <a:pt x="130989" y="-9185"/>
                  <a:pt x="124145" y="-7804"/>
                </a:cubicBezTo>
                <a:lnTo>
                  <a:pt x="11586" y="14708"/>
                </a:lnTo>
                <a:cubicBezTo>
                  <a:pt x="4863" y="16028"/>
                  <a:pt x="0" y="21972"/>
                  <a:pt x="0" y="28815"/>
                </a:cubicBezTo>
                <a:cubicBezTo>
                  <a:pt x="0" y="34998"/>
                  <a:pt x="3902" y="40401"/>
                  <a:pt x="9605" y="42382"/>
                </a:cubicBezTo>
                <a:lnTo>
                  <a:pt x="9605" y="86445"/>
                </a:lnTo>
                <a:lnTo>
                  <a:pt x="180" y="133630"/>
                </a:lnTo>
                <a:cubicBezTo>
                  <a:pt x="60" y="134170"/>
                  <a:pt x="0" y="134771"/>
                  <a:pt x="0" y="135371"/>
                </a:cubicBezTo>
                <a:cubicBezTo>
                  <a:pt x="0" y="140174"/>
                  <a:pt x="3902" y="144136"/>
                  <a:pt x="8765" y="144136"/>
                </a:cubicBezTo>
                <a:lnTo>
                  <a:pt x="29716" y="144136"/>
                </a:lnTo>
                <a:cubicBezTo>
                  <a:pt x="34518" y="144136"/>
                  <a:pt x="38480" y="140234"/>
                  <a:pt x="38480" y="135371"/>
                </a:cubicBezTo>
                <a:cubicBezTo>
                  <a:pt x="38480" y="134771"/>
                  <a:pt x="38420" y="134230"/>
                  <a:pt x="38300" y="133630"/>
                </a:cubicBezTo>
                <a:lnTo>
                  <a:pt x="28815" y="86445"/>
                </a:lnTo>
                <a:lnTo>
                  <a:pt x="28815" y="46404"/>
                </a:lnTo>
                <a:lnTo>
                  <a:pt x="57630" y="52167"/>
                </a:lnTo>
                <a:lnTo>
                  <a:pt x="57630" y="86445"/>
                </a:lnTo>
                <a:cubicBezTo>
                  <a:pt x="57630" y="128888"/>
                  <a:pt x="92028" y="163286"/>
                  <a:pt x="134471" y="163286"/>
                </a:cubicBezTo>
                <a:cubicBezTo>
                  <a:pt x="176913" y="163286"/>
                  <a:pt x="211311" y="128888"/>
                  <a:pt x="211311" y="86445"/>
                </a:cubicBezTo>
                <a:lnTo>
                  <a:pt x="211311" y="52167"/>
                </a:lnTo>
                <a:lnTo>
                  <a:pt x="257355" y="42983"/>
                </a:lnTo>
                <a:cubicBezTo>
                  <a:pt x="264079" y="41602"/>
                  <a:pt x="268941" y="35659"/>
                  <a:pt x="268941" y="28815"/>
                </a:cubicBezTo>
                <a:cubicBezTo>
                  <a:pt x="268941" y="21972"/>
                  <a:pt x="264079" y="16028"/>
                  <a:pt x="257355" y="14708"/>
                </a:cubicBezTo>
                <a:lnTo>
                  <a:pt x="144856" y="-7804"/>
                </a:lnTo>
                <a:close/>
                <a:moveTo>
                  <a:pt x="134471" y="134471"/>
                </a:moveTo>
                <a:cubicBezTo>
                  <a:pt x="107937" y="134471"/>
                  <a:pt x="86445" y="112979"/>
                  <a:pt x="86445" y="86445"/>
                </a:cubicBezTo>
                <a:lnTo>
                  <a:pt x="182496" y="86445"/>
                </a:lnTo>
                <a:cubicBezTo>
                  <a:pt x="182496" y="112979"/>
                  <a:pt x="161005" y="134471"/>
                  <a:pt x="134471" y="134471"/>
                </a:cubicBezTo>
                <a:close/>
                <a:moveTo>
                  <a:pt x="72098" y="192161"/>
                </a:moveTo>
                <a:cubicBezTo>
                  <a:pt x="35238" y="209090"/>
                  <a:pt x="9605" y="246309"/>
                  <a:pt x="9605" y="289532"/>
                </a:cubicBezTo>
                <a:cubicBezTo>
                  <a:pt x="9605" y="299377"/>
                  <a:pt x="17589" y="307361"/>
                  <a:pt x="27434" y="307361"/>
                </a:cubicBezTo>
                <a:lnTo>
                  <a:pt x="120063" y="307361"/>
                </a:lnTo>
                <a:lnTo>
                  <a:pt x="120063" y="219715"/>
                </a:lnTo>
                <a:lnTo>
                  <a:pt x="85605" y="193902"/>
                </a:lnTo>
                <a:cubicBezTo>
                  <a:pt x="81703" y="190960"/>
                  <a:pt x="76480" y="190180"/>
                  <a:pt x="72038" y="192221"/>
                </a:cubicBezTo>
                <a:close/>
                <a:moveTo>
                  <a:pt x="148878" y="307361"/>
                </a:moveTo>
                <a:lnTo>
                  <a:pt x="241507" y="307361"/>
                </a:lnTo>
                <a:cubicBezTo>
                  <a:pt x="251352" y="307361"/>
                  <a:pt x="259336" y="299377"/>
                  <a:pt x="259336" y="289532"/>
                </a:cubicBezTo>
                <a:cubicBezTo>
                  <a:pt x="259336" y="246309"/>
                  <a:pt x="233703" y="209090"/>
                  <a:pt x="196843" y="192221"/>
                </a:cubicBezTo>
                <a:cubicBezTo>
                  <a:pt x="192401" y="190180"/>
                  <a:pt x="187178" y="190960"/>
                  <a:pt x="183276" y="193902"/>
                </a:cubicBezTo>
                <a:lnTo>
                  <a:pt x="148818" y="219715"/>
                </a:lnTo>
                <a:lnTo>
                  <a:pt x="148818" y="307361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Text 32"/>
          <p:cNvSpPr/>
          <p:nvPr/>
        </p:nvSpPr>
        <p:spPr>
          <a:xfrm>
            <a:off x="8760065" y="1280672"/>
            <a:ext cx="870857" cy="27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3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Learners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73410" y="1707563"/>
            <a:ext cx="1758790" cy="239059"/>
          </a:xfrm>
          <a:custGeom>
            <a:avLst/>
            <a:gdLst/>
            <a:ahLst/>
            <a:cxnLst/>
            <a:rect l="l" t="t" r="r" b="b"/>
            <a:pathLst>
              <a:path w="1758790" h="239059">
                <a:moveTo>
                  <a:pt x="0" y="0"/>
                </a:moveTo>
                <a:lnTo>
                  <a:pt x="1758790" y="0"/>
                </a:lnTo>
                <a:lnTo>
                  <a:pt x="1758790" y="239059"/>
                </a:lnTo>
                <a:lnTo>
                  <a:pt x="0" y="239059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73410" y="1707563"/>
            <a:ext cx="1818555" cy="239059"/>
          </a:xfrm>
          <a:prstGeom prst="rect">
            <a:avLst/>
          </a:prstGeom>
          <a:noFill/>
          <a:ln/>
        </p:spPr>
        <p:txBody>
          <a:bodyPr wrap="square" lIns="102454" tIns="34151" rIns="102454" bIns="34151" rtlCol="0" anchor="ctr"/>
          <a:lstStyle/>
          <a:p>
            <a:pPr>
              <a:lnSpc>
                <a:spcPct val="120000"/>
              </a:lnSpc>
            </a:pPr>
            <a:r>
              <a:rPr lang="en-US" sz="941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INDIRECT BENEFICIARIES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73410" y="2049076"/>
            <a:ext cx="3474891" cy="665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6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Benefits Received:</a:t>
            </a:r>
            <a:pPr>
              <a:lnSpc>
                <a:spcPct val="14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Academic progress is systematically tracked, achievements are promptly recognized, and at-risk status triggers timely interventions.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90485" y="285163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9" name="Text 37"/>
          <p:cNvSpPr/>
          <p:nvPr/>
        </p:nvSpPr>
        <p:spPr>
          <a:xfrm>
            <a:off x="8491124" y="2817479"/>
            <a:ext cx="2450353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Academic progress continuously tracked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90485" y="312484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1" name="Text 39"/>
          <p:cNvSpPr/>
          <p:nvPr/>
        </p:nvSpPr>
        <p:spPr>
          <a:xfrm>
            <a:off x="8491124" y="3090689"/>
            <a:ext cx="2458891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Achievements recognized and celebrated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90485" y="3398050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3" name="Text 41"/>
          <p:cNvSpPr/>
          <p:nvPr/>
        </p:nvSpPr>
        <p:spPr>
          <a:xfrm>
            <a:off x="8491124" y="3363899"/>
            <a:ext cx="262964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Early intervention when performance drops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90485" y="3671261"/>
            <a:ext cx="119529" cy="119529"/>
          </a:xfrm>
          <a:custGeom>
            <a:avLst/>
            <a:gdLst/>
            <a:ahLst/>
            <a:cxnLst/>
            <a:rect l="l" t="t" r="r" b="b"/>
            <a:pathLst>
              <a:path w="119529" h="119529">
                <a:moveTo>
                  <a:pt x="117335" y="65041"/>
                </a:moveTo>
                <a:cubicBezTo>
                  <a:pt x="120253" y="62123"/>
                  <a:pt x="120253" y="57383"/>
                  <a:pt x="117335" y="54465"/>
                </a:cubicBezTo>
                <a:lnTo>
                  <a:pt x="79982" y="17112"/>
                </a:lnTo>
                <a:cubicBezTo>
                  <a:pt x="77064" y="14194"/>
                  <a:pt x="72325" y="14194"/>
                  <a:pt x="69406" y="17112"/>
                </a:cubicBezTo>
                <a:cubicBezTo>
                  <a:pt x="66488" y="20031"/>
                  <a:pt x="66488" y="24770"/>
                  <a:pt x="69406" y="27688"/>
                </a:cubicBezTo>
                <a:lnTo>
                  <a:pt x="94013" y="52294"/>
                </a:lnTo>
                <a:lnTo>
                  <a:pt x="7471" y="52294"/>
                </a:lnTo>
                <a:cubicBezTo>
                  <a:pt x="3338" y="52294"/>
                  <a:pt x="0" y="55633"/>
                  <a:pt x="0" y="59765"/>
                </a:cubicBezTo>
                <a:cubicBezTo>
                  <a:pt x="0" y="63897"/>
                  <a:pt x="3338" y="67235"/>
                  <a:pt x="7471" y="67235"/>
                </a:cubicBezTo>
                <a:lnTo>
                  <a:pt x="94013" y="67235"/>
                </a:lnTo>
                <a:lnTo>
                  <a:pt x="69406" y="91842"/>
                </a:lnTo>
                <a:cubicBezTo>
                  <a:pt x="66488" y="94760"/>
                  <a:pt x="66488" y="99499"/>
                  <a:pt x="69406" y="102417"/>
                </a:cubicBezTo>
                <a:cubicBezTo>
                  <a:pt x="72325" y="105335"/>
                  <a:pt x="77064" y="105335"/>
                  <a:pt x="79982" y="102417"/>
                </a:cubicBezTo>
                <a:lnTo>
                  <a:pt x="117335" y="6506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5" name="Text 43"/>
          <p:cNvSpPr/>
          <p:nvPr/>
        </p:nvSpPr>
        <p:spPr>
          <a:xfrm>
            <a:off x="8491124" y="3637109"/>
            <a:ext cx="2236908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Historical performance data available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58588" y="4149378"/>
            <a:ext cx="11491899" cy="1485580"/>
          </a:xfrm>
          <a:custGeom>
            <a:avLst/>
            <a:gdLst/>
            <a:ahLst/>
            <a:cxnLst/>
            <a:rect l="l" t="t" r="r" b="b"/>
            <a:pathLst>
              <a:path w="11491899" h="1485580">
                <a:moveTo>
                  <a:pt x="0" y="0"/>
                </a:moveTo>
                <a:lnTo>
                  <a:pt x="11491899" y="0"/>
                </a:lnTo>
                <a:lnTo>
                  <a:pt x="11491899" y="1485580"/>
                </a:lnTo>
                <a:lnTo>
                  <a:pt x="0" y="148558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358588" y="4149378"/>
            <a:ext cx="34151" cy="1485580"/>
          </a:xfrm>
          <a:custGeom>
            <a:avLst/>
            <a:gdLst/>
            <a:ahLst/>
            <a:cxnLst/>
            <a:rect l="l" t="t" r="r" b="b"/>
            <a:pathLst>
              <a:path w="34151" h="1485580">
                <a:moveTo>
                  <a:pt x="0" y="0"/>
                </a:moveTo>
                <a:lnTo>
                  <a:pt x="34151" y="0"/>
                </a:lnTo>
                <a:lnTo>
                  <a:pt x="34151" y="1485580"/>
                </a:lnTo>
                <a:lnTo>
                  <a:pt x="0" y="148558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512269" y="4285983"/>
            <a:ext cx="11286992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5.1 User Interaction Matrix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16538" y="4631765"/>
            <a:ext cx="2715025" cy="862319"/>
          </a:xfrm>
          <a:custGeom>
            <a:avLst/>
            <a:gdLst/>
            <a:ahLst/>
            <a:cxnLst/>
            <a:rect l="l" t="t" r="r" b="b"/>
            <a:pathLst>
              <a:path w="2715025" h="862319">
                <a:moveTo>
                  <a:pt x="0" y="0"/>
                </a:moveTo>
                <a:lnTo>
                  <a:pt x="2715025" y="0"/>
                </a:lnTo>
                <a:lnTo>
                  <a:pt x="2715025" y="862319"/>
                </a:lnTo>
                <a:lnTo>
                  <a:pt x="0" y="862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3261" y="4738487"/>
            <a:ext cx="256988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Entry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3261" y="5011697"/>
            <a:ext cx="256988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Teachers → Primary input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23261" y="5216605"/>
            <a:ext cx="256134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Administrators → User management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341487" y="4631765"/>
            <a:ext cx="2715025" cy="862319"/>
          </a:xfrm>
          <a:custGeom>
            <a:avLst/>
            <a:gdLst/>
            <a:ahLst/>
            <a:cxnLst/>
            <a:rect l="l" t="t" r="r" b="b"/>
            <a:pathLst>
              <a:path w="2715025" h="862319">
                <a:moveTo>
                  <a:pt x="0" y="0"/>
                </a:moveTo>
                <a:lnTo>
                  <a:pt x="2715025" y="0"/>
                </a:lnTo>
                <a:lnTo>
                  <a:pt x="2715025" y="862319"/>
                </a:lnTo>
                <a:lnTo>
                  <a:pt x="0" y="862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48210" y="4738487"/>
            <a:ext cx="256988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448210" y="5011697"/>
            <a:ext cx="256988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Teachers → Daily tracking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448210" y="5216605"/>
            <a:ext cx="256134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Administrators → Overview dashboards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66570" y="4631765"/>
            <a:ext cx="2715025" cy="862319"/>
          </a:xfrm>
          <a:custGeom>
            <a:avLst/>
            <a:gdLst/>
            <a:ahLst/>
            <a:cxnLst/>
            <a:rect l="l" t="t" r="r" b="b"/>
            <a:pathLst>
              <a:path w="2715025" h="862319">
                <a:moveTo>
                  <a:pt x="0" y="0"/>
                </a:moveTo>
                <a:lnTo>
                  <a:pt x="2715025" y="0"/>
                </a:lnTo>
                <a:lnTo>
                  <a:pt x="2715025" y="862319"/>
                </a:lnTo>
                <a:lnTo>
                  <a:pt x="0" y="862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3293" y="4738487"/>
            <a:ext cx="256988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Alerts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273293" y="5011697"/>
            <a:ext cx="256988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Teachers → Immediate response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73293" y="5216605"/>
            <a:ext cx="256134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Administrators → Escalation paths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991653" y="4631765"/>
            <a:ext cx="2715025" cy="862319"/>
          </a:xfrm>
          <a:custGeom>
            <a:avLst/>
            <a:gdLst/>
            <a:ahLst/>
            <a:cxnLst/>
            <a:rect l="l" t="t" r="r" b="b"/>
            <a:pathLst>
              <a:path w="2715025" h="862319">
                <a:moveTo>
                  <a:pt x="0" y="0"/>
                </a:moveTo>
                <a:lnTo>
                  <a:pt x="2715025" y="0"/>
                </a:lnTo>
                <a:lnTo>
                  <a:pt x="2715025" y="862319"/>
                </a:lnTo>
                <a:lnTo>
                  <a:pt x="0" y="86231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98376" y="4738487"/>
            <a:ext cx="256988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098376" y="5011697"/>
            <a:ext cx="256988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Teachers → Individual reports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98376" y="5216605"/>
            <a:ext cx="2561345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Administrators → Institutional analytics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41513" y="5775832"/>
            <a:ext cx="11508975" cy="8538"/>
          </a:xfrm>
          <a:custGeom>
            <a:avLst/>
            <a:gdLst/>
            <a:ahLst/>
            <a:cxnLst/>
            <a:rect l="l" t="t" r="r" b="b"/>
            <a:pathLst>
              <a:path w="11508975" h="8538">
                <a:moveTo>
                  <a:pt x="0" y="0"/>
                </a:moveTo>
                <a:lnTo>
                  <a:pt x="11508975" y="0"/>
                </a:lnTo>
                <a:lnTo>
                  <a:pt x="11508975" y="8538"/>
                </a:lnTo>
                <a:lnTo>
                  <a:pt x="0" y="8538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66" name="Text 64"/>
          <p:cNvSpPr/>
          <p:nvPr/>
        </p:nvSpPr>
        <p:spPr>
          <a:xfrm>
            <a:off x="341513" y="5882555"/>
            <a:ext cx="11577277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5.2 Access Hierarchy:</a:t>
            </a:r>
            <a:pPr>
              <a:lnSpc>
                <a:spcPct val="130000"/>
              </a:lnSpc>
            </a:pPr>
            <a:r>
              <a:rPr lang="en-US" sz="107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Teachers have </a:t>
            </a:r>
            <a:pPr>
              <a:lnSpc>
                <a:spcPct val="130000"/>
              </a:lnSpc>
            </a:pPr>
            <a:r>
              <a:rPr lang="en-US" sz="1076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class-level access</a:t>
            </a:r>
            <a:pPr>
              <a:lnSpc>
                <a:spcPct val="130000"/>
              </a:lnSpc>
            </a:pPr>
            <a:r>
              <a:rPr lang="en-US" sz="107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Administrators have </a:t>
            </a:r>
            <a:pPr>
              <a:lnSpc>
                <a:spcPct val="130000"/>
              </a:lnSpc>
            </a:pPr>
            <a:r>
              <a:rPr lang="en-US" sz="1076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school-wide access</a:t>
            </a:r>
            <a:pPr>
              <a:lnSpc>
                <a:spcPct val="130000"/>
              </a:lnSpc>
            </a:pPr>
            <a:r>
              <a:rPr lang="en-US" sz="107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and Learners benefit from </a:t>
            </a:r>
            <a:pPr>
              <a:lnSpc>
                <a:spcPct val="130000"/>
              </a:lnSpc>
            </a:pPr>
            <a:r>
              <a:rPr lang="en-US" sz="1076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indirect tracking and recognition</a:t>
            </a:r>
            <a:pPr>
              <a:lnSpc>
                <a:spcPct val="130000"/>
              </a:lnSpc>
            </a:pPr>
            <a:r>
              <a:rPr lang="en-US" sz="107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without direct system interaction.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689" y="321689"/>
            <a:ext cx="11612960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spc="101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 SYSTEM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689" y="579040"/>
            <a:ext cx="11693383" cy="321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6.1 Mandatory Functions: Core CRUD Operations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689" y="1061573"/>
            <a:ext cx="11548623" cy="796179"/>
          </a:xfrm>
          <a:custGeom>
            <a:avLst/>
            <a:gdLst/>
            <a:ahLst/>
            <a:cxnLst/>
            <a:rect l="l" t="t" r="r" b="b"/>
            <a:pathLst>
              <a:path w="11548623" h="796179">
                <a:moveTo>
                  <a:pt x="0" y="0"/>
                </a:moveTo>
                <a:lnTo>
                  <a:pt x="11548623" y="0"/>
                </a:lnTo>
                <a:lnTo>
                  <a:pt x="11548623" y="796179"/>
                </a:lnTo>
                <a:lnTo>
                  <a:pt x="0" y="79617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82533" y="1222417"/>
            <a:ext cx="11299314" cy="474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foundation of the Teacher Educational Management Dashboard rests upon three essential data management operations. These </a:t>
            </a:r>
            <a:pPr>
              <a:lnSpc>
                <a:spcPct val="140000"/>
              </a:lnSpc>
            </a:pPr>
            <a:r>
              <a:rPr lang="en-US" sz="114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CRUD (Create, Read, Update, Delete)</a:t>
            </a:r>
            <a:pPr>
              <a:lnSpc>
                <a:spcPct val="140000"/>
              </a:lnSpc>
            </a:pPr>
            <a:r>
              <a:rPr lang="en-US" sz="114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functions provide the fundamental infrastructure for all subsequent system capabilities.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1689" y="2030660"/>
            <a:ext cx="3739631" cy="2605678"/>
          </a:xfrm>
          <a:custGeom>
            <a:avLst/>
            <a:gdLst/>
            <a:ahLst/>
            <a:cxnLst/>
            <a:rect l="l" t="t" r="r" b="b"/>
            <a:pathLst>
              <a:path w="3739631" h="2605678">
                <a:moveTo>
                  <a:pt x="0" y="0"/>
                </a:moveTo>
                <a:lnTo>
                  <a:pt x="3739631" y="0"/>
                </a:lnTo>
                <a:lnTo>
                  <a:pt x="3739631" y="2605678"/>
                </a:lnTo>
                <a:lnTo>
                  <a:pt x="0" y="260567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321689" y="2030660"/>
            <a:ext cx="3739631" cy="32169"/>
          </a:xfrm>
          <a:custGeom>
            <a:avLst/>
            <a:gdLst/>
            <a:ahLst/>
            <a:cxnLst/>
            <a:rect l="l" t="t" r="r" b="b"/>
            <a:pathLst>
              <a:path w="3739631" h="32169">
                <a:moveTo>
                  <a:pt x="0" y="0"/>
                </a:moveTo>
                <a:lnTo>
                  <a:pt x="3739631" y="0"/>
                </a:lnTo>
                <a:lnTo>
                  <a:pt x="3739631" y="32169"/>
                </a:lnTo>
                <a:lnTo>
                  <a:pt x="0" y="3216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482533" y="2207588"/>
            <a:ext cx="450364" cy="450364"/>
          </a:xfrm>
          <a:custGeom>
            <a:avLst/>
            <a:gdLst/>
            <a:ahLst/>
            <a:cxnLst/>
            <a:rect l="l" t="t" r="r" b="b"/>
            <a:pathLst>
              <a:path w="450364" h="450364">
                <a:moveTo>
                  <a:pt x="0" y="0"/>
                </a:moveTo>
                <a:lnTo>
                  <a:pt x="450364" y="0"/>
                </a:lnTo>
                <a:lnTo>
                  <a:pt x="450364" y="450364"/>
                </a:lnTo>
                <a:lnTo>
                  <a:pt x="0" y="4503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11208" y="2336264"/>
            <a:ext cx="193013" cy="193013"/>
          </a:xfrm>
          <a:custGeom>
            <a:avLst/>
            <a:gdLst/>
            <a:ahLst/>
            <a:cxnLst/>
            <a:rect l="l" t="t" r="r" b="b"/>
            <a:pathLst>
              <a:path w="193013" h="193013">
                <a:moveTo>
                  <a:pt x="96507" y="193013"/>
                </a:moveTo>
                <a:cubicBezTo>
                  <a:pt x="149770" y="193013"/>
                  <a:pt x="193013" y="149770"/>
                  <a:pt x="193013" y="96507"/>
                </a:cubicBezTo>
                <a:cubicBezTo>
                  <a:pt x="193013" y="43243"/>
                  <a:pt x="149770" y="0"/>
                  <a:pt x="96507" y="0"/>
                </a:cubicBezTo>
                <a:cubicBezTo>
                  <a:pt x="43243" y="0"/>
                  <a:pt x="0" y="43243"/>
                  <a:pt x="0" y="96507"/>
                </a:cubicBezTo>
                <a:cubicBezTo>
                  <a:pt x="0" y="149770"/>
                  <a:pt x="43243" y="193013"/>
                  <a:pt x="96507" y="193013"/>
                </a:cubicBezTo>
                <a:close/>
                <a:moveTo>
                  <a:pt x="87459" y="129681"/>
                </a:moveTo>
                <a:lnTo>
                  <a:pt x="87459" y="105554"/>
                </a:lnTo>
                <a:lnTo>
                  <a:pt x="63332" y="105554"/>
                </a:lnTo>
                <a:cubicBezTo>
                  <a:pt x="58319" y="105554"/>
                  <a:pt x="54285" y="101520"/>
                  <a:pt x="54285" y="96507"/>
                </a:cubicBezTo>
                <a:cubicBezTo>
                  <a:pt x="54285" y="91493"/>
                  <a:pt x="58319" y="87459"/>
                  <a:pt x="63332" y="87459"/>
                </a:cubicBezTo>
                <a:lnTo>
                  <a:pt x="87459" y="87459"/>
                </a:lnTo>
                <a:lnTo>
                  <a:pt x="87459" y="63332"/>
                </a:lnTo>
                <a:cubicBezTo>
                  <a:pt x="87459" y="58319"/>
                  <a:pt x="91493" y="54285"/>
                  <a:pt x="96507" y="54285"/>
                </a:cubicBezTo>
                <a:cubicBezTo>
                  <a:pt x="101520" y="54285"/>
                  <a:pt x="105554" y="58319"/>
                  <a:pt x="105554" y="63332"/>
                </a:cubicBezTo>
                <a:lnTo>
                  <a:pt x="105554" y="87459"/>
                </a:lnTo>
                <a:lnTo>
                  <a:pt x="129681" y="87459"/>
                </a:lnTo>
                <a:cubicBezTo>
                  <a:pt x="134695" y="87459"/>
                  <a:pt x="138728" y="91493"/>
                  <a:pt x="138728" y="96507"/>
                </a:cubicBezTo>
                <a:cubicBezTo>
                  <a:pt x="138728" y="101520"/>
                  <a:pt x="134695" y="105554"/>
                  <a:pt x="129681" y="105554"/>
                </a:cubicBezTo>
                <a:lnTo>
                  <a:pt x="105554" y="105554"/>
                </a:lnTo>
                <a:lnTo>
                  <a:pt x="105554" y="129681"/>
                </a:lnTo>
                <a:cubicBezTo>
                  <a:pt x="105554" y="134695"/>
                  <a:pt x="101520" y="138728"/>
                  <a:pt x="96507" y="138728"/>
                </a:cubicBezTo>
                <a:cubicBezTo>
                  <a:pt x="91493" y="138728"/>
                  <a:pt x="87459" y="134695"/>
                  <a:pt x="87459" y="129681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Text 8"/>
          <p:cNvSpPr/>
          <p:nvPr/>
        </p:nvSpPr>
        <p:spPr>
          <a:xfrm>
            <a:off x="1029404" y="2304095"/>
            <a:ext cx="1230459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Add/Register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533" y="2786628"/>
            <a:ext cx="3482280" cy="62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Create new records</a:t>
            </a:r>
            <a:pPr>
              <a:lnSpc>
                <a:spcPct val="14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across all system entities with comprehensive data validation and immediate system integration.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533" y="3510427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5546" y="3510427"/>
            <a:ext cx="233224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New teacher registration with credentials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2533" y="3767778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5546" y="3767778"/>
            <a:ext cx="2396580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Learner enrollment with grade assignment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2533" y="4025129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5546" y="4025129"/>
            <a:ext cx="2798691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record creation (scores, assessments)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2533" y="4282480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5546" y="4282480"/>
            <a:ext cx="2283989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Achievement and award documentation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25933" y="2030660"/>
            <a:ext cx="3739631" cy="2605678"/>
          </a:xfrm>
          <a:custGeom>
            <a:avLst/>
            <a:gdLst/>
            <a:ahLst/>
            <a:cxnLst/>
            <a:rect l="l" t="t" r="r" b="b"/>
            <a:pathLst>
              <a:path w="3739631" h="2605678">
                <a:moveTo>
                  <a:pt x="0" y="0"/>
                </a:moveTo>
                <a:lnTo>
                  <a:pt x="3739631" y="0"/>
                </a:lnTo>
                <a:lnTo>
                  <a:pt x="3739631" y="2605678"/>
                </a:lnTo>
                <a:lnTo>
                  <a:pt x="0" y="260567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4225933" y="2030660"/>
            <a:ext cx="3739631" cy="32169"/>
          </a:xfrm>
          <a:custGeom>
            <a:avLst/>
            <a:gdLst/>
            <a:ahLst/>
            <a:cxnLst/>
            <a:rect l="l" t="t" r="r" b="b"/>
            <a:pathLst>
              <a:path w="3739631" h="32169">
                <a:moveTo>
                  <a:pt x="0" y="0"/>
                </a:moveTo>
                <a:lnTo>
                  <a:pt x="3739631" y="0"/>
                </a:lnTo>
                <a:lnTo>
                  <a:pt x="3739631" y="32169"/>
                </a:lnTo>
                <a:lnTo>
                  <a:pt x="0" y="3216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6778" y="2207588"/>
            <a:ext cx="450364" cy="450364"/>
          </a:xfrm>
          <a:custGeom>
            <a:avLst/>
            <a:gdLst/>
            <a:ahLst/>
            <a:cxnLst/>
            <a:rect l="l" t="t" r="r" b="b"/>
            <a:pathLst>
              <a:path w="450364" h="450364">
                <a:moveTo>
                  <a:pt x="0" y="0"/>
                </a:moveTo>
                <a:lnTo>
                  <a:pt x="450364" y="0"/>
                </a:lnTo>
                <a:lnTo>
                  <a:pt x="450364" y="450364"/>
                </a:lnTo>
                <a:lnTo>
                  <a:pt x="0" y="4503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4515453" y="2336264"/>
            <a:ext cx="193013" cy="193013"/>
          </a:xfrm>
          <a:custGeom>
            <a:avLst/>
            <a:gdLst/>
            <a:ahLst/>
            <a:cxnLst/>
            <a:rect l="l" t="t" r="r" b="b"/>
            <a:pathLst>
              <a:path w="193013" h="193013">
                <a:moveTo>
                  <a:pt x="177783" y="8180"/>
                </a:moveTo>
                <a:cubicBezTo>
                  <a:pt x="169527" y="-75"/>
                  <a:pt x="156182" y="-75"/>
                  <a:pt x="147927" y="8180"/>
                </a:cubicBezTo>
                <a:lnTo>
                  <a:pt x="138728" y="17379"/>
                </a:lnTo>
                <a:lnTo>
                  <a:pt x="175634" y="54285"/>
                </a:lnTo>
                <a:lnTo>
                  <a:pt x="184833" y="45087"/>
                </a:lnTo>
                <a:cubicBezTo>
                  <a:pt x="193089" y="36831"/>
                  <a:pt x="193089" y="23486"/>
                  <a:pt x="184833" y="15230"/>
                </a:cubicBezTo>
                <a:lnTo>
                  <a:pt x="177783" y="8180"/>
                </a:lnTo>
                <a:close/>
                <a:moveTo>
                  <a:pt x="64991" y="91116"/>
                </a:moveTo>
                <a:cubicBezTo>
                  <a:pt x="62692" y="93415"/>
                  <a:pt x="60920" y="96243"/>
                  <a:pt x="59902" y="99372"/>
                </a:cubicBezTo>
                <a:lnTo>
                  <a:pt x="48743" y="132847"/>
                </a:lnTo>
                <a:cubicBezTo>
                  <a:pt x="47650" y="136089"/>
                  <a:pt x="48517" y="139671"/>
                  <a:pt x="50930" y="142121"/>
                </a:cubicBezTo>
                <a:cubicBezTo>
                  <a:pt x="53343" y="144571"/>
                  <a:pt x="56924" y="145401"/>
                  <a:pt x="60204" y="144308"/>
                </a:cubicBezTo>
                <a:lnTo>
                  <a:pt x="93679" y="133149"/>
                </a:lnTo>
                <a:cubicBezTo>
                  <a:pt x="96770" y="132131"/>
                  <a:pt x="99598" y="130359"/>
                  <a:pt x="101935" y="128060"/>
                </a:cubicBezTo>
                <a:lnTo>
                  <a:pt x="162855" y="67065"/>
                </a:lnTo>
                <a:lnTo>
                  <a:pt x="125949" y="30158"/>
                </a:lnTo>
                <a:lnTo>
                  <a:pt x="64991" y="91116"/>
                </a:lnTo>
                <a:close/>
                <a:moveTo>
                  <a:pt x="36190" y="24127"/>
                </a:moveTo>
                <a:cubicBezTo>
                  <a:pt x="16210" y="24127"/>
                  <a:pt x="0" y="40337"/>
                  <a:pt x="0" y="60317"/>
                </a:cubicBezTo>
                <a:lnTo>
                  <a:pt x="0" y="156823"/>
                </a:lnTo>
                <a:cubicBezTo>
                  <a:pt x="0" y="176803"/>
                  <a:pt x="16210" y="193013"/>
                  <a:pt x="36190" y="193013"/>
                </a:cubicBezTo>
                <a:lnTo>
                  <a:pt x="132697" y="193013"/>
                </a:lnTo>
                <a:cubicBezTo>
                  <a:pt x="152676" y="193013"/>
                  <a:pt x="168887" y="176803"/>
                  <a:pt x="168887" y="156823"/>
                </a:cubicBezTo>
                <a:lnTo>
                  <a:pt x="168887" y="120633"/>
                </a:lnTo>
                <a:cubicBezTo>
                  <a:pt x="168887" y="113961"/>
                  <a:pt x="163496" y="108570"/>
                  <a:pt x="156823" y="108570"/>
                </a:cubicBezTo>
                <a:cubicBezTo>
                  <a:pt x="150151" y="108570"/>
                  <a:pt x="144760" y="113961"/>
                  <a:pt x="144760" y="120633"/>
                </a:cubicBezTo>
                <a:lnTo>
                  <a:pt x="144760" y="156823"/>
                </a:lnTo>
                <a:cubicBezTo>
                  <a:pt x="144760" y="163496"/>
                  <a:pt x="139369" y="168887"/>
                  <a:pt x="132697" y="168887"/>
                </a:cubicBezTo>
                <a:lnTo>
                  <a:pt x="36190" y="168887"/>
                </a:lnTo>
                <a:cubicBezTo>
                  <a:pt x="29517" y="168887"/>
                  <a:pt x="24127" y="163496"/>
                  <a:pt x="24127" y="156823"/>
                </a:cubicBezTo>
                <a:lnTo>
                  <a:pt x="24127" y="60317"/>
                </a:lnTo>
                <a:cubicBezTo>
                  <a:pt x="24127" y="53644"/>
                  <a:pt x="29517" y="48253"/>
                  <a:pt x="36190" y="48253"/>
                </a:cubicBezTo>
                <a:lnTo>
                  <a:pt x="72380" y="48253"/>
                </a:lnTo>
                <a:cubicBezTo>
                  <a:pt x="79052" y="48253"/>
                  <a:pt x="84443" y="42862"/>
                  <a:pt x="84443" y="36190"/>
                </a:cubicBezTo>
                <a:cubicBezTo>
                  <a:pt x="84443" y="29517"/>
                  <a:pt x="79052" y="24127"/>
                  <a:pt x="72380" y="24127"/>
                </a:cubicBezTo>
                <a:lnTo>
                  <a:pt x="36190" y="24127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3648" y="2304095"/>
            <a:ext cx="1141995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Update/Edit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86778" y="2786628"/>
            <a:ext cx="3482280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Modify existing records</a:t>
            </a:r>
            <a:pPr>
              <a:lnSpc>
                <a:spcPct val="14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version control, audit trails, and real-time synchronization across all views.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86778" y="3301330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9791" y="3301330"/>
            <a:ext cx="2227694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profile and permission updates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86778" y="3558681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9791" y="3558681"/>
            <a:ext cx="2227694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Learner information and grade changes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86778" y="3816032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79791" y="3816032"/>
            <a:ext cx="1801456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record corrections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86778" y="4073383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9791" y="4073383"/>
            <a:ext cx="1938174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Achievement status modifications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30304" y="2030660"/>
            <a:ext cx="3739631" cy="2605678"/>
          </a:xfrm>
          <a:custGeom>
            <a:avLst/>
            <a:gdLst/>
            <a:ahLst/>
            <a:cxnLst/>
            <a:rect l="l" t="t" r="r" b="b"/>
            <a:pathLst>
              <a:path w="3739631" h="2605678">
                <a:moveTo>
                  <a:pt x="0" y="0"/>
                </a:moveTo>
                <a:lnTo>
                  <a:pt x="3739631" y="0"/>
                </a:lnTo>
                <a:lnTo>
                  <a:pt x="3739631" y="2605678"/>
                </a:lnTo>
                <a:lnTo>
                  <a:pt x="0" y="260567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8130304" y="2030660"/>
            <a:ext cx="3739631" cy="32169"/>
          </a:xfrm>
          <a:custGeom>
            <a:avLst/>
            <a:gdLst/>
            <a:ahLst/>
            <a:cxnLst/>
            <a:rect l="l" t="t" r="r" b="b"/>
            <a:pathLst>
              <a:path w="3739631" h="32169">
                <a:moveTo>
                  <a:pt x="0" y="0"/>
                </a:moveTo>
                <a:lnTo>
                  <a:pt x="3739631" y="0"/>
                </a:lnTo>
                <a:lnTo>
                  <a:pt x="3739631" y="32169"/>
                </a:lnTo>
                <a:lnTo>
                  <a:pt x="0" y="32169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8291148" y="2207588"/>
            <a:ext cx="450364" cy="450364"/>
          </a:xfrm>
          <a:custGeom>
            <a:avLst/>
            <a:gdLst/>
            <a:ahLst/>
            <a:cxnLst/>
            <a:rect l="l" t="t" r="r" b="b"/>
            <a:pathLst>
              <a:path w="450364" h="450364">
                <a:moveTo>
                  <a:pt x="0" y="0"/>
                </a:moveTo>
                <a:lnTo>
                  <a:pt x="450364" y="0"/>
                </a:lnTo>
                <a:lnTo>
                  <a:pt x="450364" y="450364"/>
                </a:lnTo>
                <a:lnTo>
                  <a:pt x="0" y="45036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8431887" y="2336264"/>
            <a:ext cx="168887" cy="193013"/>
          </a:xfrm>
          <a:custGeom>
            <a:avLst/>
            <a:gdLst/>
            <a:ahLst/>
            <a:cxnLst/>
            <a:rect l="l" t="t" r="r" b="b"/>
            <a:pathLst>
              <a:path w="168887" h="193013">
                <a:moveTo>
                  <a:pt x="51533" y="2224"/>
                </a:moveTo>
                <a:cubicBezTo>
                  <a:pt x="53192" y="-2714"/>
                  <a:pt x="57791" y="-6032"/>
                  <a:pt x="62993" y="-6032"/>
                </a:cubicBezTo>
                <a:lnTo>
                  <a:pt x="105931" y="-6032"/>
                </a:lnTo>
                <a:cubicBezTo>
                  <a:pt x="111133" y="-6032"/>
                  <a:pt x="115733" y="-2714"/>
                  <a:pt x="117391" y="2224"/>
                </a:cubicBezTo>
                <a:lnTo>
                  <a:pt x="120633" y="12063"/>
                </a:lnTo>
                <a:lnTo>
                  <a:pt x="156823" y="12063"/>
                </a:lnTo>
                <a:cubicBezTo>
                  <a:pt x="163496" y="12063"/>
                  <a:pt x="168887" y="17454"/>
                  <a:pt x="168887" y="24127"/>
                </a:cubicBezTo>
                <a:cubicBezTo>
                  <a:pt x="168887" y="30799"/>
                  <a:pt x="163496" y="36190"/>
                  <a:pt x="156823" y="36190"/>
                </a:cubicBezTo>
                <a:lnTo>
                  <a:pt x="12063" y="36190"/>
                </a:lnTo>
                <a:cubicBezTo>
                  <a:pt x="5391" y="36190"/>
                  <a:pt x="0" y="30799"/>
                  <a:pt x="0" y="24127"/>
                </a:cubicBezTo>
                <a:cubicBezTo>
                  <a:pt x="0" y="17454"/>
                  <a:pt x="5391" y="12063"/>
                  <a:pt x="12063" y="12063"/>
                </a:cubicBezTo>
                <a:lnTo>
                  <a:pt x="48253" y="12063"/>
                </a:lnTo>
                <a:lnTo>
                  <a:pt x="51533" y="2224"/>
                </a:lnTo>
                <a:close/>
                <a:moveTo>
                  <a:pt x="12063" y="54285"/>
                </a:moveTo>
                <a:lnTo>
                  <a:pt x="156823" y="54285"/>
                </a:lnTo>
                <a:lnTo>
                  <a:pt x="156823" y="168887"/>
                </a:lnTo>
                <a:cubicBezTo>
                  <a:pt x="156823" y="182194"/>
                  <a:pt x="146004" y="193013"/>
                  <a:pt x="132697" y="193013"/>
                </a:cubicBezTo>
                <a:lnTo>
                  <a:pt x="36190" y="193013"/>
                </a:lnTo>
                <a:cubicBezTo>
                  <a:pt x="22883" y="193013"/>
                  <a:pt x="12063" y="182194"/>
                  <a:pt x="12063" y="168887"/>
                </a:cubicBezTo>
                <a:lnTo>
                  <a:pt x="12063" y="54285"/>
                </a:lnTo>
                <a:close/>
                <a:moveTo>
                  <a:pt x="45237" y="78412"/>
                </a:moveTo>
                <a:cubicBezTo>
                  <a:pt x="40224" y="78412"/>
                  <a:pt x="36190" y="82445"/>
                  <a:pt x="36190" y="87459"/>
                </a:cubicBezTo>
                <a:lnTo>
                  <a:pt x="36190" y="159839"/>
                </a:lnTo>
                <a:cubicBezTo>
                  <a:pt x="36190" y="164853"/>
                  <a:pt x="40224" y="168887"/>
                  <a:pt x="45237" y="168887"/>
                </a:cubicBezTo>
                <a:cubicBezTo>
                  <a:pt x="50251" y="168887"/>
                  <a:pt x="54285" y="164853"/>
                  <a:pt x="54285" y="159839"/>
                </a:cubicBezTo>
                <a:lnTo>
                  <a:pt x="54285" y="87459"/>
                </a:lnTo>
                <a:cubicBezTo>
                  <a:pt x="54285" y="82445"/>
                  <a:pt x="50251" y="78412"/>
                  <a:pt x="45237" y="78412"/>
                </a:cubicBezTo>
                <a:close/>
                <a:moveTo>
                  <a:pt x="84443" y="78412"/>
                </a:moveTo>
                <a:cubicBezTo>
                  <a:pt x="79429" y="78412"/>
                  <a:pt x="75396" y="82445"/>
                  <a:pt x="75396" y="87459"/>
                </a:cubicBezTo>
                <a:lnTo>
                  <a:pt x="75396" y="159839"/>
                </a:lnTo>
                <a:cubicBezTo>
                  <a:pt x="75396" y="164853"/>
                  <a:pt x="79429" y="168887"/>
                  <a:pt x="84443" y="168887"/>
                </a:cubicBezTo>
                <a:cubicBezTo>
                  <a:pt x="89457" y="168887"/>
                  <a:pt x="93491" y="164853"/>
                  <a:pt x="93491" y="159839"/>
                </a:cubicBezTo>
                <a:lnTo>
                  <a:pt x="93491" y="87459"/>
                </a:lnTo>
                <a:cubicBezTo>
                  <a:pt x="93491" y="82445"/>
                  <a:pt x="89457" y="78412"/>
                  <a:pt x="84443" y="78412"/>
                </a:cubicBezTo>
                <a:close/>
                <a:moveTo>
                  <a:pt x="123649" y="78412"/>
                </a:moveTo>
                <a:cubicBezTo>
                  <a:pt x="118635" y="78412"/>
                  <a:pt x="114602" y="82445"/>
                  <a:pt x="114602" y="87459"/>
                </a:cubicBezTo>
                <a:lnTo>
                  <a:pt x="114602" y="159839"/>
                </a:lnTo>
                <a:cubicBezTo>
                  <a:pt x="114602" y="164853"/>
                  <a:pt x="118635" y="168887"/>
                  <a:pt x="123649" y="168887"/>
                </a:cubicBezTo>
                <a:cubicBezTo>
                  <a:pt x="128663" y="168887"/>
                  <a:pt x="132697" y="164853"/>
                  <a:pt x="132697" y="159839"/>
                </a:cubicBezTo>
                <a:lnTo>
                  <a:pt x="132697" y="87459"/>
                </a:lnTo>
                <a:cubicBezTo>
                  <a:pt x="132697" y="82445"/>
                  <a:pt x="128663" y="78412"/>
                  <a:pt x="123649" y="78412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8" name="Text 36"/>
          <p:cNvSpPr/>
          <p:nvPr/>
        </p:nvSpPr>
        <p:spPr>
          <a:xfrm>
            <a:off x="8838019" y="2304095"/>
            <a:ext cx="1407388" cy="257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2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Delete/Remove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1148" y="2786628"/>
            <a:ext cx="3482280" cy="418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Remove records safely</a:t>
            </a:r>
            <a:pPr>
              <a:lnSpc>
                <a:spcPct val="14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soft-delete capabilities, archival options, and administrative approval workflows.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91148" y="3301330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84161" y="3301330"/>
            <a:ext cx="1696908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account deactivation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91148" y="3558681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84161" y="3558681"/>
            <a:ext cx="2420707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Learner status change (graduated/inactive)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91148" y="3816032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84161" y="3816032"/>
            <a:ext cx="1624528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record archival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91148" y="4073383"/>
            <a:ext cx="193013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84161" y="4073383"/>
            <a:ext cx="2219652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Erroneous data removal with audit trail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1689" y="4797182"/>
            <a:ext cx="5693889" cy="1544106"/>
          </a:xfrm>
          <a:custGeom>
            <a:avLst/>
            <a:gdLst/>
            <a:ahLst/>
            <a:cxnLst/>
            <a:rect l="l" t="t" r="r" b="b"/>
            <a:pathLst>
              <a:path w="5693889" h="1544106">
                <a:moveTo>
                  <a:pt x="0" y="0"/>
                </a:moveTo>
                <a:lnTo>
                  <a:pt x="5693889" y="0"/>
                </a:lnTo>
                <a:lnTo>
                  <a:pt x="5693889" y="1544106"/>
                </a:lnTo>
                <a:lnTo>
                  <a:pt x="0" y="1544106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9" name="Text 47"/>
          <p:cNvSpPr/>
          <p:nvPr/>
        </p:nvSpPr>
        <p:spPr>
          <a:xfrm>
            <a:off x="450364" y="4925858"/>
            <a:ext cx="5508918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Integrity Safeguards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66449" y="5279715"/>
            <a:ext cx="128675" cy="128675"/>
          </a:xfrm>
          <a:custGeom>
            <a:avLst/>
            <a:gdLst/>
            <a:ahLst/>
            <a:cxnLst/>
            <a:rect l="l" t="t" r="r" b="b"/>
            <a:pathLst>
              <a:path w="128675" h="128675">
                <a:moveTo>
                  <a:pt x="64338" y="0"/>
                </a:moveTo>
                <a:cubicBezTo>
                  <a:pt x="65494" y="0"/>
                  <a:pt x="66650" y="251"/>
                  <a:pt x="67705" y="729"/>
                </a:cubicBezTo>
                <a:lnTo>
                  <a:pt x="115054" y="20809"/>
                </a:lnTo>
                <a:cubicBezTo>
                  <a:pt x="120583" y="23147"/>
                  <a:pt x="124705" y="28600"/>
                  <a:pt x="124679" y="35185"/>
                </a:cubicBezTo>
                <a:cubicBezTo>
                  <a:pt x="124554" y="60116"/>
                  <a:pt x="114300" y="105730"/>
                  <a:pt x="70998" y="126464"/>
                </a:cubicBezTo>
                <a:cubicBezTo>
                  <a:pt x="66801" y="128474"/>
                  <a:pt x="61925" y="128474"/>
                  <a:pt x="57728" y="126464"/>
                </a:cubicBezTo>
                <a:cubicBezTo>
                  <a:pt x="14401" y="105730"/>
                  <a:pt x="4172" y="60116"/>
                  <a:pt x="4046" y="35185"/>
                </a:cubicBezTo>
                <a:cubicBezTo>
                  <a:pt x="4021" y="28600"/>
                  <a:pt x="8143" y="23147"/>
                  <a:pt x="13672" y="20809"/>
                </a:cubicBezTo>
                <a:lnTo>
                  <a:pt x="60995" y="729"/>
                </a:lnTo>
                <a:cubicBezTo>
                  <a:pt x="62051" y="251"/>
                  <a:pt x="63182" y="0"/>
                  <a:pt x="64338" y="0"/>
                </a:cubicBezTo>
                <a:close/>
                <a:moveTo>
                  <a:pt x="64338" y="16788"/>
                </a:moveTo>
                <a:lnTo>
                  <a:pt x="64338" y="111812"/>
                </a:lnTo>
                <a:cubicBezTo>
                  <a:pt x="99020" y="95024"/>
                  <a:pt x="108344" y="57829"/>
                  <a:pt x="108570" y="35562"/>
                </a:cubicBezTo>
                <a:lnTo>
                  <a:pt x="64338" y="16813"/>
                </a:lnTo>
                <a:lnTo>
                  <a:pt x="64338" y="1681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675546" y="5247546"/>
            <a:ext cx="1873836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Validation rules on all data entry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58406" y="5537066"/>
            <a:ext cx="144760" cy="128675"/>
          </a:xfrm>
          <a:custGeom>
            <a:avLst/>
            <a:gdLst/>
            <a:ahLst/>
            <a:cxnLst/>
            <a:rect l="l" t="t" r="r" b="b"/>
            <a:pathLst>
              <a:path w="144760" h="128675">
                <a:moveTo>
                  <a:pt x="72380" y="16084"/>
                </a:moveTo>
                <a:cubicBezTo>
                  <a:pt x="99020" y="16084"/>
                  <a:pt x="120633" y="37698"/>
                  <a:pt x="120633" y="64338"/>
                </a:cubicBezTo>
                <a:cubicBezTo>
                  <a:pt x="120633" y="90978"/>
                  <a:pt x="99020" y="112591"/>
                  <a:pt x="72380" y="112591"/>
                </a:cubicBezTo>
                <a:cubicBezTo>
                  <a:pt x="55994" y="112591"/>
                  <a:pt x="41493" y="104423"/>
                  <a:pt x="32772" y="91907"/>
                </a:cubicBezTo>
                <a:cubicBezTo>
                  <a:pt x="30234" y="88263"/>
                  <a:pt x="25207" y="87384"/>
                  <a:pt x="21563" y="89922"/>
                </a:cubicBezTo>
                <a:cubicBezTo>
                  <a:pt x="17919" y="92460"/>
                  <a:pt x="17039" y="97487"/>
                  <a:pt x="19578" y="101131"/>
                </a:cubicBezTo>
                <a:cubicBezTo>
                  <a:pt x="31189" y="117768"/>
                  <a:pt x="50515" y="128675"/>
                  <a:pt x="72380" y="128675"/>
                </a:cubicBezTo>
                <a:cubicBezTo>
                  <a:pt x="107916" y="128675"/>
                  <a:pt x="136718" y="99874"/>
                  <a:pt x="136718" y="64338"/>
                </a:cubicBezTo>
                <a:cubicBezTo>
                  <a:pt x="136718" y="28801"/>
                  <a:pt x="107916" y="0"/>
                  <a:pt x="72380" y="0"/>
                </a:cubicBezTo>
                <a:cubicBezTo>
                  <a:pt x="50842" y="0"/>
                  <a:pt x="31792" y="10581"/>
                  <a:pt x="20106" y="26816"/>
                </a:cubicBezTo>
                <a:lnTo>
                  <a:pt x="20106" y="20106"/>
                </a:lnTo>
                <a:cubicBezTo>
                  <a:pt x="20106" y="15657"/>
                  <a:pt x="16512" y="12063"/>
                  <a:pt x="12063" y="12063"/>
                </a:cubicBezTo>
                <a:cubicBezTo>
                  <a:pt x="7615" y="12063"/>
                  <a:pt x="4021" y="15657"/>
                  <a:pt x="4021" y="20106"/>
                </a:cubicBezTo>
                <a:lnTo>
                  <a:pt x="4021" y="48253"/>
                </a:lnTo>
                <a:cubicBezTo>
                  <a:pt x="4021" y="52702"/>
                  <a:pt x="7615" y="56296"/>
                  <a:pt x="12063" y="56296"/>
                </a:cubicBezTo>
                <a:lnTo>
                  <a:pt x="18246" y="56296"/>
                </a:lnTo>
                <a:cubicBezTo>
                  <a:pt x="18371" y="56296"/>
                  <a:pt x="18497" y="56296"/>
                  <a:pt x="18623" y="56296"/>
                </a:cubicBezTo>
                <a:lnTo>
                  <a:pt x="40236" y="56296"/>
                </a:lnTo>
                <a:cubicBezTo>
                  <a:pt x="44685" y="56296"/>
                  <a:pt x="48278" y="52702"/>
                  <a:pt x="48278" y="48253"/>
                </a:cubicBezTo>
                <a:cubicBezTo>
                  <a:pt x="48278" y="43805"/>
                  <a:pt x="44685" y="40211"/>
                  <a:pt x="40236" y="40211"/>
                </a:cubicBezTo>
                <a:lnTo>
                  <a:pt x="30611" y="40211"/>
                </a:lnTo>
                <a:cubicBezTo>
                  <a:pt x="38929" y="25785"/>
                  <a:pt x="54536" y="16084"/>
                  <a:pt x="72380" y="16084"/>
                </a:cubicBezTo>
                <a:close/>
                <a:moveTo>
                  <a:pt x="78412" y="38201"/>
                </a:moveTo>
                <a:cubicBezTo>
                  <a:pt x="78412" y="34858"/>
                  <a:pt x="75722" y="32169"/>
                  <a:pt x="72380" y="32169"/>
                </a:cubicBezTo>
                <a:cubicBezTo>
                  <a:pt x="69037" y="32169"/>
                  <a:pt x="66348" y="34858"/>
                  <a:pt x="66348" y="38201"/>
                </a:cubicBezTo>
                <a:lnTo>
                  <a:pt x="66348" y="64338"/>
                </a:lnTo>
                <a:cubicBezTo>
                  <a:pt x="66348" y="65946"/>
                  <a:pt x="66977" y="67479"/>
                  <a:pt x="68108" y="68610"/>
                </a:cubicBezTo>
                <a:lnTo>
                  <a:pt x="86203" y="86705"/>
                </a:lnTo>
                <a:cubicBezTo>
                  <a:pt x="88565" y="89068"/>
                  <a:pt x="92385" y="89068"/>
                  <a:pt x="94722" y="86705"/>
                </a:cubicBezTo>
                <a:cubicBezTo>
                  <a:pt x="97059" y="84343"/>
                  <a:pt x="97085" y="80523"/>
                  <a:pt x="94722" y="78185"/>
                </a:cubicBezTo>
                <a:lnTo>
                  <a:pt x="78386" y="61850"/>
                </a:lnTo>
                <a:lnTo>
                  <a:pt x="78386" y="3820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675546" y="5504897"/>
            <a:ext cx="2002512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Complete audit trail for all changes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58406" y="5794417"/>
            <a:ext cx="144760" cy="128675"/>
          </a:xfrm>
          <a:custGeom>
            <a:avLst/>
            <a:gdLst/>
            <a:ahLst/>
            <a:cxnLst/>
            <a:rect l="l" t="t" r="r" b="b"/>
            <a:pathLst>
              <a:path w="144760" h="128675">
                <a:moveTo>
                  <a:pt x="56296" y="2011"/>
                </a:moveTo>
                <a:cubicBezTo>
                  <a:pt x="72940" y="2011"/>
                  <a:pt x="86454" y="15524"/>
                  <a:pt x="86454" y="32169"/>
                </a:cubicBezTo>
                <a:cubicBezTo>
                  <a:pt x="86454" y="48814"/>
                  <a:pt x="72940" y="62327"/>
                  <a:pt x="56296" y="62327"/>
                </a:cubicBezTo>
                <a:cubicBezTo>
                  <a:pt x="39651" y="62327"/>
                  <a:pt x="26137" y="48814"/>
                  <a:pt x="26137" y="32169"/>
                </a:cubicBezTo>
                <a:cubicBezTo>
                  <a:pt x="26137" y="15524"/>
                  <a:pt x="39651" y="2011"/>
                  <a:pt x="56296" y="2011"/>
                </a:cubicBezTo>
                <a:close/>
                <a:moveTo>
                  <a:pt x="48831" y="76401"/>
                </a:moveTo>
                <a:lnTo>
                  <a:pt x="63760" y="76401"/>
                </a:lnTo>
                <a:cubicBezTo>
                  <a:pt x="71224" y="76401"/>
                  <a:pt x="78261" y="78236"/>
                  <a:pt x="84443" y="81453"/>
                </a:cubicBezTo>
                <a:lnTo>
                  <a:pt x="84443" y="82533"/>
                </a:lnTo>
                <a:cubicBezTo>
                  <a:pt x="79517" y="86956"/>
                  <a:pt x="76401" y="93365"/>
                  <a:pt x="76401" y="100503"/>
                </a:cubicBezTo>
                <a:lnTo>
                  <a:pt x="76401" y="124629"/>
                </a:lnTo>
                <a:cubicBezTo>
                  <a:pt x="76401" y="126011"/>
                  <a:pt x="76527" y="127369"/>
                  <a:pt x="76728" y="128675"/>
                </a:cubicBezTo>
                <a:lnTo>
                  <a:pt x="11485" y="128675"/>
                </a:lnTo>
                <a:cubicBezTo>
                  <a:pt x="7364" y="128675"/>
                  <a:pt x="4021" y="125333"/>
                  <a:pt x="4021" y="121211"/>
                </a:cubicBezTo>
                <a:cubicBezTo>
                  <a:pt x="4021" y="96456"/>
                  <a:pt x="24076" y="76401"/>
                  <a:pt x="48831" y="76401"/>
                </a:cubicBezTo>
                <a:close/>
                <a:moveTo>
                  <a:pt x="124654" y="76426"/>
                </a:moveTo>
                <a:cubicBezTo>
                  <a:pt x="124654" y="71978"/>
                  <a:pt x="121060" y="68384"/>
                  <a:pt x="116612" y="68384"/>
                </a:cubicBezTo>
                <a:cubicBezTo>
                  <a:pt x="112164" y="68384"/>
                  <a:pt x="108570" y="71978"/>
                  <a:pt x="108570" y="76426"/>
                </a:cubicBezTo>
                <a:lnTo>
                  <a:pt x="108570" y="88464"/>
                </a:lnTo>
                <a:lnTo>
                  <a:pt x="124654" y="88464"/>
                </a:lnTo>
                <a:lnTo>
                  <a:pt x="124654" y="76426"/>
                </a:lnTo>
                <a:close/>
                <a:moveTo>
                  <a:pt x="88464" y="100528"/>
                </a:moveTo>
                <a:cubicBezTo>
                  <a:pt x="88464" y="95275"/>
                  <a:pt x="91832" y="90802"/>
                  <a:pt x="96507" y="89143"/>
                </a:cubicBezTo>
                <a:lnTo>
                  <a:pt x="96507" y="76426"/>
                </a:lnTo>
                <a:cubicBezTo>
                  <a:pt x="96507" y="65318"/>
                  <a:pt x="105504" y="56321"/>
                  <a:pt x="116612" y="56321"/>
                </a:cubicBezTo>
                <a:cubicBezTo>
                  <a:pt x="127720" y="56321"/>
                  <a:pt x="136718" y="65318"/>
                  <a:pt x="136718" y="76426"/>
                </a:cubicBezTo>
                <a:lnTo>
                  <a:pt x="136718" y="89143"/>
                </a:lnTo>
                <a:cubicBezTo>
                  <a:pt x="141392" y="90802"/>
                  <a:pt x="144760" y="95275"/>
                  <a:pt x="144760" y="100528"/>
                </a:cubicBezTo>
                <a:lnTo>
                  <a:pt x="144760" y="124654"/>
                </a:lnTo>
                <a:cubicBezTo>
                  <a:pt x="144760" y="131314"/>
                  <a:pt x="139357" y="136718"/>
                  <a:pt x="132697" y="136718"/>
                </a:cubicBezTo>
                <a:lnTo>
                  <a:pt x="100528" y="136718"/>
                </a:lnTo>
                <a:cubicBezTo>
                  <a:pt x="93868" y="136718"/>
                  <a:pt x="88464" y="131314"/>
                  <a:pt x="88464" y="124654"/>
                </a:cubicBezTo>
                <a:lnTo>
                  <a:pt x="88464" y="10052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675546" y="5762248"/>
            <a:ext cx="1528021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Role-based access controls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74491" y="6051768"/>
            <a:ext cx="112591" cy="128675"/>
          </a:xfrm>
          <a:custGeom>
            <a:avLst/>
            <a:gdLst/>
            <a:ahLst/>
            <a:cxnLst/>
            <a:rect l="l" t="t" r="r" b="b"/>
            <a:pathLst>
              <a:path w="112591" h="128675">
                <a:moveTo>
                  <a:pt x="112591" y="51722"/>
                </a:moveTo>
                <a:cubicBezTo>
                  <a:pt x="108872" y="54184"/>
                  <a:pt x="104599" y="56170"/>
                  <a:pt x="100151" y="57753"/>
                </a:cubicBezTo>
                <a:cubicBezTo>
                  <a:pt x="88339" y="61975"/>
                  <a:pt x="72832" y="64338"/>
                  <a:pt x="56296" y="64338"/>
                </a:cubicBezTo>
                <a:cubicBezTo>
                  <a:pt x="39759" y="64338"/>
                  <a:pt x="24227" y="61950"/>
                  <a:pt x="12440" y="57753"/>
                </a:cubicBezTo>
                <a:cubicBezTo>
                  <a:pt x="8017" y="56170"/>
                  <a:pt x="3720" y="54184"/>
                  <a:pt x="0" y="51722"/>
                </a:cubicBezTo>
                <a:lnTo>
                  <a:pt x="0" y="72380"/>
                </a:lnTo>
                <a:cubicBezTo>
                  <a:pt x="0" y="83488"/>
                  <a:pt x="25207" y="92485"/>
                  <a:pt x="56296" y="92485"/>
                </a:cubicBezTo>
                <a:cubicBezTo>
                  <a:pt x="87384" y="92485"/>
                  <a:pt x="112591" y="83488"/>
                  <a:pt x="112591" y="72380"/>
                </a:cubicBezTo>
                <a:lnTo>
                  <a:pt x="112591" y="51722"/>
                </a:lnTo>
                <a:close/>
                <a:moveTo>
                  <a:pt x="112591" y="32169"/>
                </a:moveTo>
                <a:lnTo>
                  <a:pt x="112591" y="20106"/>
                </a:lnTo>
                <a:cubicBezTo>
                  <a:pt x="112591" y="8997"/>
                  <a:pt x="87384" y="0"/>
                  <a:pt x="56296" y="0"/>
                </a:cubicBezTo>
                <a:cubicBezTo>
                  <a:pt x="25207" y="0"/>
                  <a:pt x="0" y="8997"/>
                  <a:pt x="0" y="20106"/>
                </a:cubicBezTo>
                <a:lnTo>
                  <a:pt x="0" y="32169"/>
                </a:lnTo>
                <a:cubicBezTo>
                  <a:pt x="0" y="43277"/>
                  <a:pt x="25207" y="52274"/>
                  <a:pt x="56296" y="52274"/>
                </a:cubicBezTo>
                <a:cubicBezTo>
                  <a:pt x="87384" y="52274"/>
                  <a:pt x="112591" y="43277"/>
                  <a:pt x="112591" y="32169"/>
                </a:cubicBezTo>
                <a:close/>
                <a:moveTo>
                  <a:pt x="100151" y="97964"/>
                </a:moveTo>
                <a:cubicBezTo>
                  <a:pt x="88364" y="102161"/>
                  <a:pt x="72857" y="104549"/>
                  <a:pt x="56296" y="104549"/>
                </a:cubicBezTo>
                <a:cubicBezTo>
                  <a:pt x="39734" y="104549"/>
                  <a:pt x="24227" y="102161"/>
                  <a:pt x="12440" y="97964"/>
                </a:cubicBezTo>
                <a:cubicBezTo>
                  <a:pt x="8017" y="96381"/>
                  <a:pt x="3720" y="94396"/>
                  <a:pt x="0" y="91933"/>
                </a:cubicBezTo>
                <a:lnTo>
                  <a:pt x="0" y="108570"/>
                </a:lnTo>
                <a:cubicBezTo>
                  <a:pt x="0" y="119678"/>
                  <a:pt x="25207" y="128675"/>
                  <a:pt x="56296" y="128675"/>
                </a:cubicBezTo>
                <a:cubicBezTo>
                  <a:pt x="87384" y="128675"/>
                  <a:pt x="112591" y="119678"/>
                  <a:pt x="112591" y="108570"/>
                </a:cubicBezTo>
                <a:lnTo>
                  <a:pt x="112591" y="91933"/>
                </a:lnTo>
                <a:cubicBezTo>
                  <a:pt x="108872" y="94396"/>
                  <a:pt x="104599" y="96381"/>
                  <a:pt x="100151" y="9796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675546" y="6019599"/>
            <a:ext cx="1873836" cy="193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3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backup and recovery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94266" y="4797182"/>
            <a:ext cx="5677805" cy="1544106"/>
          </a:xfrm>
          <a:custGeom>
            <a:avLst/>
            <a:gdLst/>
            <a:ahLst/>
            <a:cxnLst/>
            <a:rect l="l" t="t" r="r" b="b"/>
            <a:pathLst>
              <a:path w="5677805" h="1544106">
                <a:moveTo>
                  <a:pt x="0" y="0"/>
                </a:moveTo>
                <a:lnTo>
                  <a:pt x="5677805" y="0"/>
                </a:lnTo>
                <a:lnTo>
                  <a:pt x="5677805" y="1544106"/>
                </a:lnTo>
                <a:lnTo>
                  <a:pt x="0" y="154410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9" name="Shape 57"/>
          <p:cNvSpPr/>
          <p:nvPr/>
        </p:nvSpPr>
        <p:spPr>
          <a:xfrm>
            <a:off x="6194266" y="4797182"/>
            <a:ext cx="32169" cy="1544106"/>
          </a:xfrm>
          <a:custGeom>
            <a:avLst/>
            <a:gdLst/>
            <a:ahLst/>
            <a:cxnLst/>
            <a:rect l="l" t="t" r="r" b="b"/>
            <a:pathLst>
              <a:path w="32169" h="1544106">
                <a:moveTo>
                  <a:pt x="0" y="0"/>
                </a:moveTo>
                <a:lnTo>
                  <a:pt x="32169" y="0"/>
                </a:lnTo>
                <a:lnTo>
                  <a:pt x="32169" y="1544106"/>
                </a:lnTo>
                <a:lnTo>
                  <a:pt x="0" y="1544106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0" name="Text 58"/>
          <p:cNvSpPr/>
          <p:nvPr/>
        </p:nvSpPr>
        <p:spPr>
          <a:xfrm>
            <a:off x="6339026" y="4925858"/>
            <a:ext cx="5476749" cy="2251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Implementation Priority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39026" y="5247546"/>
            <a:ext cx="5468707" cy="62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These three operations form the </a:t>
            </a:r>
            <a:pPr>
              <a:lnSpc>
                <a:spcPct val="140000"/>
              </a:lnSpc>
            </a:pPr>
            <a:r>
              <a:rPr lang="en-US" sz="101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Minimum Viable Product (MVP)</a:t>
            </a:r>
            <a:pPr>
              <a:lnSpc>
                <a:spcPct val="140000"/>
              </a:lnSpc>
            </a:pPr>
            <a:r>
              <a:rPr lang="en-US" sz="101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foundation. All other system features—alerts, reporting, analytics—depend upon robust and reliable implementation of these core CRUD functions.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 SYSTEM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 Functional Requirements: System Capabilities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83250" cy="2555875"/>
          </a:xfrm>
          <a:custGeom>
            <a:avLst/>
            <a:gdLst/>
            <a:ahLst/>
            <a:cxnLst/>
            <a:rect l="l" t="t" r="r" b="b"/>
            <a:pathLst>
              <a:path w="5683250" h="2555875">
                <a:moveTo>
                  <a:pt x="0" y="0"/>
                </a:moveTo>
                <a:lnTo>
                  <a:pt x="5683250" y="0"/>
                </a:lnTo>
                <a:lnTo>
                  <a:pt x="5683250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047750"/>
            <a:ext cx="31750" cy="2555875"/>
          </a:xfrm>
          <a:custGeom>
            <a:avLst/>
            <a:gdLst/>
            <a:ahLst/>
            <a:cxnLst/>
            <a:rect l="l" t="t" r="r" b="b"/>
            <a:pathLst>
              <a:path w="31750" h="2555875">
                <a:moveTo>
                  <a:pt x="0" y="0"/>
                </a:moveTo>
                <a:lnTo>
                  <a:pt x="31750" y="0"/>
                </a:lnTo>
                <a:lnTo>
                  <a:pt x="31750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08000" y="1500188"/>
            <a:ext cx="5349875" cy="15875"/>
          </a:xfrm>
          <a:custGeom>
            <a:avLst/>
            <a:gdLst/>
            <a:ahLst/>
            <a:cxnLst/>
            <a:rect l="l" t="t" r="r" b="b"/>
            <a:pathLst>
              <a:path w="5349875" h="15875">
                <a:moveTo>
                  <a:pt x="0" y="0"/>
                </a:moveTo>
                <a:lnTo>
                  <a:pt x="5349875" y="0"/>
                </a:lnTo>
                <a:lnTo>
                  <a:pt x="5349875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27844" y="12144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6970" y="84646"/>
                </a:moveTo>
                <a:cubicBezTo>
                  <a:pt x="109885" y="81731"/>
                  <a:pt x="109885" y="77019"/>
                  <a:pt x="106970" y="74135"/>
                </a:cubicBezTo>
                <a:lnTo>
                  <a:pt x="62322" y="29456"/>
                </a:lnTo>
                <a:cubicBezTo>
                  <a:pt x="60182" y="27316"/>
                  <a:pt x="56989" y="26696"/>
                  <a:pt x="54198" y="27843"/>
                </a:cubicBezTo>
                <a:cubicBezTo>
                  <a:pt x="51408" y="28990"/>
                  <a:pt x="49609" y="31719"/>
                  <a:pt x="49609" y="34727"/>
                </a:cubicBezTo>
                <a:lnTo>
                  <a:pt x="49609" y="59531"/>
                </a:lnTo>
                <a:lnTo>
                  <a:pt x="14883" y="59531"/>
                </a:lnTo>
                <a:cubicBezTo>
                  <a:pt x="6666" y="59531"/>
                  <a:pt x="0" y="66198"/>
                  <a:pt x="0" y="74414"/>
                </a:cubicBezTo>
                <a:lnTo>
                  <a:pt x="0" y="84336"/>
                </a:lnTo>
                <a:cubicBezTo>
                  <a:pt x="0" y="92552"/>
                  <a:pt x="6666" y="99219"/>
                  <a:pt x="14883" y="99219"/>
                </a:cubicBezTo>
                <a:lnTo>
                  <a:pt x="49609" y="99219"/>
                </a:lnTo>
                <a:lnTo>
                  <a:pt x="49609" y="124023"/>
                </a:lnTo>
                <a:cubicBezTo>
                  <a:pt x="49609" y="127031"/>
                  <a:pt x="51408" y="129760"/>
                  <a:pt x="54198" y="130907"/>
                </a:cubicBezTo>
                <a:cubicBezTo>
                  <a:pt x="56989" y="132054"/>
                  <a:pt x="60182" y="131434"/>
                  <a:pt x="62322" y="129294"/>
                </a:cubicBezTo>
                <a:lnTo>
                  <a:pt x="106970" y="84646"/>
                </a:lnTo>
                <a:close/>
                <a:moveTo>
                  <a:pt x="109141" y="128984"/>
                </a:moveTo>
                <a:cubicBezTo>
                  <a:pt x="103653" y="128984"/>
                  <a:pt x="99219" y="133418"/>
                  <a:pt x="99219" y="138906"/>
                </a:cubicBezTo>
                <a:cubicBezTo>
                  <a:pt x="99219" y="144394"/>
                  <a:pt x="103653" y="148828"/>
                  <a:pt x="109141" y="148828"/>
                </a:cubicBezTo>
                <a:lnTo>
                  <a:pt x="128984" y="148828"/>
                </a:lnTo>
                <a:cubicBezTo>
                  <a:pt x="145417" y="148828"/>
                  <a:pt x="158750" y="135496"/>
                  <a:pt x="158750" y="119062"/>
                </a:cubicBezTo>
                <a:lnTo>
                  <a:pt x="158750" y="39688"/>
                </a:lnTo>
                <a:cubicBezTo>
                  <a:pt x="158750" y="23254"/>
                  <a:pt x="145417" y="9922"/>
                  <a:pt x="128984" y="9922"/>
                </a:cubicBezTo>
                <a:lnTo>
                  <a:pt x="109141" y="9922"/>
                </a:lnTo>
                <a:cubicBezTo>
                  <a:pt x="103653" y="9922"/>
                  <a:pt x="99219" y="14356"/>
                  <a:pt x="99219" y="19844"/>
                </a:cubicBezTo>
                <a:cubicBezTo>
                  <a:pt x="99219" y="25332"/>
                  <a:pt x="103653" y="29766"/>
                  <a:pt x="109141" y="29766"/>
                </a:cubicBez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lnTo>
                  <a:pt x="138906" y="119062"/>
                </a:lnTo>
                <a:cubicBezTo>
                  <a:pt x="138906" y="124551"/>
                  <a:pt x="134472" y="128984"/>
                  <a:pt x="128984" y="128984"/>
                </a:cubicBezTo>
                <a:lnTo>
                  <a:pt x="109141" y="12898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746125" y="1206500"/>
            <a:ext cx="5191125" cy="285750"/>
          </a:xfrm>
          <a:prstGeom prst="rect">
            <a:avLst/>
          </a:prstGeom>
          <a:noFill/>
          <a:ln/>
        </p:spPr>
        <p:txBody>
          <a:bodyPr wrap="square" lIns="0" tIns="0" rIns="0" bIns="6350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Input Processing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163512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6.2.1 Data Acceptance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1857375"/>
            <a:ext cx="5413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accepts structured inputs for learners, teachers, achievements, and performance records with validation and error handling.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000" y="233362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6.2.2 Bulk Import/Export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000" y="255587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CSV file support for batch data operations, enabling migration from existing spreadsheet systems.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000" y="284162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6.2.3 Real-time Synchronization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8000" y="306387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All data changes propagate immediately across user sessions and dashboard views.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1250" y="1047750"/>
            <a:ext cx="5683250" cy="2555875"/>
          </a:xfrm>
          <a:custGeom>
            <a:avLst/>
            <a:gdLst/>
            <a:ahLst/>
            <a:cxnLst/>
            <a:rect l="l" t="t" r="r" b="b"/>
            <a:pathLst>
              <a:path w="5683250" h="2555875">
                <a:moveTo>
                  <a:pt x="0" y="0"/>
                </a:moveTo>
                <a:lnTo>
                  <a:pt x="5683250" y="0"/>
                </a:lnTo>
                <a:lnTo>
                  <a:pt x="5683250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191250" y="1047750"/>
            <a:ext cx="31750" cy="2555875"/>
          </a:xfrm>
          <a:custGeom>
            <a:avLst/>
            <a:gdLst/>
            <a:ahLst/>
            <a:cxnLst/>
            <a:rect l="l" t="t" r="r" b="b"/>
            <a:pathLst>
              <a:path w="31750" h="2555875">
                <a:moveTo>
                  <a:pt x="0" y="0"/>
                </a:moveTo>
                <a:lnTo>
                  <a:pt x="31750" y="0"/>
                </a:lnTo>
                <a:lnTo>
                  <a:pt x="31750" y="2555875"/>
                </a:lnTo>
                <a:lnTo>
                  <a:pt x="0" y="2555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365875" y="1500188"/>
            <a:ext cx="5349875" cy="15875"/>
          </a:xfrm>
          <a:custGeom>
            <a:avLst/>
            <a:gdLst/>
            <a:ahLst/>
            <a:cxnLst/>
            <a:rect l="l" t="t" r="r" b="b"/>
            <a:pathLst>
              <a:path w="5349875" h="15875">
                <a:moveTo>
                  <a:pt x="0" y="0"/>
                </a:moveTo>
                <a:lnTo>
                  <a:pt x="5349875" y="0"/>
                </a:lnTo>
                <a:lnTo>
                  <a:pt x="5349875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85719" y="12144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6580" y="84646"/>
                </a:moveTo>
                <a:cubicBezTo>
                  <a:pt x="159494" y="81731"/>
                  <a:pt x="159494" y="77019"/>
                  <a:pt x="156580" y="74135"/>
                </a:cubicBezTo>
                <a:lnTo>
                  <a:pt x="111931" y="29456"/>
                </a:lnTo>
                <a:cubicBezTo>
                  <a:pt x="109792" y="27316"/>
                  <a:pt x="106598" y="26696"/>
                  <a:pt x="103808" y="27843"/>
                </a:cubicBezTo>
                <a:cubicBezTo>
                  <a:pt x="101017" y="28990"/>
                  <a:pt x="99219" y="31719"/>
                  <a:pt x="99219" y="34727"/>
                </a:cubicBezTo>
                <a:lnTo>
                  <a:pt x="99219" y="59531"/>
                </a:lnTo>
                <a:lnTo>
                  <a:pt x="64492" y="59531"/>
                </a:lnTo>
                <a:cubicBezTo>
                  <a:pt x="56276" y="59531"/>
                  <a:pt x="49609" y="66198"/>
                  <a:pt x="49609" y="74414"/>
                </a:cubicBezTo>
                <a:lnTo>
                  <a:pt x="49609" y="84336"/>
                </a:lnTo>
                <a:cubicBezTo>
                  <a:pt x="49609" y="92552"/>
                  <a:pt x="56276" y="99219"/>
                  <a:pt x="64492" y="99219"/>
                </a:cubicBezTo>
                <a:lnTo>
                  <a:pt x="99219" y="99219"/>
                </a:lnTo>
                <a:lnTo>
                  <a:pt x="99219" y="124023"/>
                </a:lnTo>
                <a:cubicBezTo>
                  <a:pt x="99219" y="127031"/>
                  <a:pt x="101017" y="129760"/>
                  <a:pt x="103808" y="130907"/>
                </a:cubicBezTo>
                <a:cubicBezTo>
                  <a:pt x="106598" y="132054"/>
                  <a:pt x="109792" y="131434"/>
                  <a:pt x="111931" y="129294"/>
                </a:cubicBezTo>
                <a:lnTo>
                  <a:pt x="156580" y="84646"/>
                </a:lnTo>
                <a:close/>
                <a:moveTo>
                  <a:pt x="49609" y="29766"/>
                </a:moveTo>
                <a:cubicBezTo>
                  <a:pt x="55097" y="29766"/>
                  <a:pt x="59531" y="25332"/>
                  <a:pt x="59531" y="19844"/>
                </a:cubicBezTo>
                <a:cubicBezTo>
                  <a:pt x="59531" y="14356"/>
                  <a:pt x="55097" y="9922"/>
                  <a:pt x="49609" y="9922"/>
                </a:cubicBezTo>
                <a:lnTo>
                  <a:pt x="29766" y="9922"/>
                </a:lnTo>
                <a:cubicBezTo>
                  <a:pt x="13333" y="9922"/>
                  <a:pt x="0" y="23254"/>
                  <a:pt x="0" y="39688"/>
                </a:cubicBezTo>
                <a:lnTo>
                  <a:pt x="0" y="119062"/>
                </a:lnTo>
                <a:cubicBezTo>
                  <a:pt x="0" y="135496"/>
                  <a:pt x="13333" y="148828"/>
                  <a:pt x="29766" y="148828"/>
                </a:cubicBezTo>
                <a:lnTo>
                  <a:pt x="49609" y="148828"/>
                </a:lnTo>
                <a:cubicBezTo>
                  <a:pt x="55097" y="148828"/>
                  <a:pt x="59531" y="144394"/>
                  <a:pt x="59531" y="138906"/>
                </a:cubicBezTo>
                <a:cubicBezTo>
                  <a:pt x="59531" y="133418"/>
                  <a:pt x="55097" y="128984"/>
                  <a:pt x="49609" y="128984"/>
                </a:cubicBezTo>
                <a:lnTo>
                  <a:pt x="29766" y="128984"/>
                </a:lnTo>
                <a:cubicBezTo>
                  <a:pt x="24278" y="128984"/>
                  <a:pt x="19844" y="124551"/>
                  <a:pt x="19844" y="119062"/>
                </a:cubicBezTo>
                <a:lnTo>
                  <a:pt x="19844" y="39688"/>
                </a:lnTo>
                <a:cubicBezTo>
                  <a:pt x="19844" y="34199"/>
                  <a:pt x="24278" y="29766"/>
                  <a:pt x="29766" y="29766"/>
                </a:cubicBezTo>
                <a:lnTo>
                  <a:pt x="49609" y="2976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604000" y="1206500"/>
            <a:ext cx="5191125" cy="285750"/>
          </a:xfrm>
          <a:prstGeom prst="rect">
            <a:avLst/>
          </a:prstGeom>
          <a:noFill/>
          <a:ln/>
        </p:spPr>
        <p:txBody>
          <a:bodyPr wrap="square" lIns="0" tIns="0" rIns="0" bIns="6350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Output Generation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5875" y="163512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6.2.4 Report Generation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5875" y="185737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creation of individual learner reports, class summaries, and institutional analytics.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5875" y="214312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6.2.5 Alert Notifications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65875" y="2365375"/>
            <a:ext cx="5413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Real-time alerts triggered by performance thresholds, at-risk indicators, and achievement milestones.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65875" y="2841625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6.2.6 Achievement Summaries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65875" y="3063875"/>
            <a:ext cx="5413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Comprehensive recognition documentation for awards, accomplishments, and progress milestones.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17500" y="3762375"/>
            <a:ext cx="11557000" cy="1333500"/>
          </a:xfrm>
          <a:custGeom>
            <a:avLst/>
            <a:gdLst/>
            <a:ahLst/>
            <a:cxnLst/>
            <a:rect l="l" t="t" r="r" b="b"/>
            <a:pathLst>
              <a:path w="11557000" h="1333500">
                <a:moveTo>
                  <a:pt x="0" y="0"/>
                </a:moveTo>
                <a:lnTo>
                  <a:pt x="11557000" y="0"/>
                </a:lnTo>
                <a:lnTo>
                  <a:pt x="115570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515938" y="3929063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19844" y="0"/>
                </a:moveTo>
                <a:cubicBezTo>
                  <a:pt x="8899" y="0"/>
                  <a:pt x="0" y="8899"/>
                  <a:pt x="0" y="19844"/>
                </a:cubicBezTo>
                <a:lnTo>
                  <a:pt x="0" y="138906"/>
                </a:lnTo>
                <a:cubicBezTo>
                  <a:pt x="0" y="149851"/>
                  <a:pt x="8899" y="158750"/>
                  <a:pt x="19844" y="158750"/>
                </a:cubicBezTo>
                <a:lnTo>
                  <a:pt x="99219" y="158750"/>
                </a:lnTo>
                <a:cubicBezTo>
                  <a:pt x="110164" y="158750"/>
                  <a:pt x="119062" y="149851"/>
                  <a:pt x="119062" y="138906"/>
                </a:cubicBezTo>
                <a:lnTo>
                  <a:pt x="119062" y="19844"/>
                </a:lnTo>
                <a:cubicBezTo>
                  <a:pt x="119062" y="8899"/>
                  <a:pt x="110164" y="0"/>
                  <a:pt x="99219" y="0"/>
                </a:cubicBezTo>
                <a:lnTo>
                  <a:pt x="19844" y="0"/>
                </a:lnTo>
                <a:close/>
                <a:moveTo>
                  <a:pt x="29766" y="19844"/>
                </a:moveTo>
                <a:lnTo>
                  <a:pt x="89297" y="19844"/>
                </a:lnTo>
                <a:cubicBezTo>
                  <a:pt x="94785" y="19844"/>
                  <a:pt x="99219" y="24278"/>
                  <a:pt x="99219" y="29766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29766" y="49609"/>
                </a:lnTo>
                <a:cubicBezTo>
                  <a:pt x="24278" y="49609"/>
                  <a:pt x="19844" y="45176"/>
                  <a:pt x="19844" y="39688"/>
                </a:cubicBezTo>
                <a:lnTo>
                  <a:pt x="19844" y="29766"/>
                </a:lnTo>
                <a:cubicBezTo>
                  <a:pt x="19844" y="24278"/>
                  <a:pt x="24278" y="19844"/>
                  <a:pt x="29766" y="19844"/>
                </a:cubicBezTo>
                <a:close/>
                <a:moveTo>
                  <a:pt x="34727" y="71934"/>
                </a:moveTo>
                <a:cubicBezTo>
                  <a:pt x="34727" y="76041"/>
                  <a:pt x="31392" y="79375"/>
                  <a:pt x="27285" y="79375"/>
                </a:cubicBezTo>
                <a:cubicBezTo>
                  <a:pt x="23178" y="79375"/>
                  <a:pt x="19844" y="76041"/>
                  <a:pt x="19844" y="71934"/>
                </a:cubicBezTo>
                <a:cubicBezTo>
                  <a:pt x="19844" y="67827"/>
                  <a:pt x="23178" y="64492"/>
                  <a:pt x="27285" y="64492"/>
                </a:cubicBezTo>
                <a:cubicBezTo>
                  <a:pt x="31392" y="64492"/>
                  <a:pt x="34727" y="67827"/>
                  <a:pt x="34727" y="71934"/>
                </a:cubicBezTo>
                <a:close/>
                <a:moveTo>
                  <a:pt x="59531" y="79375"/>
                </a:moveTo>
                <a:cubicBezTo>
                  <a:pt x="55424" y="79375"/>
                  <a:pt x="52090" y="76041"/>
                  <a:pt x="52090" y="71934"/>
                </a:cubicBezTo>
                <a:cubicBezTo>
                  <a:pt x="52090" y="67827"/>
                  <a:pt x="55424" y="64492"/>
                  <a:pt x="59531" y="64492"/>
                </a:cubicBezTo>
                <a:cubicBezTo>
                  <a:pt x="63638" y="64492"/>
                  <a:pt x="66973" y="67827"/>
                  <a:pt x="66973" y="71934"/>
                </a:cubicBezTo>
                <a:cubicBezTo>
                  <a:pt x="66973" y="76041"/>
                  <a:pt x="63638" y="79375"/>
                  <a:pt x="59531" y="79375"/>
                </a:cubicBezTo>
                <a:close/>
                <a:moveTo>
                  <a:pt x="99219" y="71934"/>
                </a:moveTo>
                <a:cubicBezTo>
                  <a:pt x="99219" y="76041"/>
                  <a:pt x="95884" y="79375"/>
                  <a:pt x="91777" y="79375"/>
                </a:cubicBezTo>
                <a:cubicBezTo>
                  <a:pt x="87670" y="79375"/>
                  <a:pt x="84336" y="76041"/>
                  <a:pt x="84336" y="71934"/>
                </a:cubicBezTo>
                <a:cubicBezTo>
                  <a:pt x="84336" y="67827"/>
                  <a:pt x="87670" y="64492"/>
                  <a:pt x="91777" y="64492"/>
                </a:cubicBezTo>
                <a:cubicBezTo>
                  <a:pt x="95884" y="64492"/>
                  <a:pt x="99219" y="67827"/>
                  <a:pt x="99219" y="71934"/>
                </a:cubicBezTo>
                <a:close/>
                <a:moveTo>
                  <a:pt x="27285" y="109141"/>
                </a:moveTo>
                <a:cubicBezTo>
                  <a:pt x="23178" y="109141"/>
                  <a:pt x="19844" y="105806"/>
                  <a:pt x="19844" y="101699"/>
                </a:cubicBezTo>
                <a:cubicBezTo>
                  <a:pt x="19844" y="97592"/>
                  <a:pt x="23178" y="94258"/>
                  <a:pt x="27285" y="94258"/>
                </a:cubicBezTo>
                <a:cubicBezTo>
                  <a:pt x="31392" y="94258"/>
                  <a:pt x="34727" y="97592"/>
                  <a:pt x="34727" y="101699"/>
                </a:cubicBezTo>
                <a:cubicBezTo>
                  <a:pt x="34727" y="105806"/>
                  <a:pt x="31392" y="109141"/>
                  <a:pt x="27285" y="109141"/>
                </a:cubicBezTo>
                <a:close/>
                <a:moveTo>
                  <a:pt x="66973" y="101699"/>
                </a:moveTo>
                <a:cubicBezTo>
                  <a:pt x="66973" y="105806"/>
                  <a:pt x="63638" y="109141"/>
                  <a:pt x="59531" y="109141"/>
                </a:cubicBezTo>
                <a:cubicBezTo>
                  <a:pt x="55424" y="109141"/>
                  <a:pt x="52090" y="105806"/>
                  <a:pt x="52090" y="101699"/>
                </a:cubicBezTo>
                <a:cubicBezTo>
                  <a:pt x="52090" y="97592"/>
                  <a:pt x="55424" y="94258"/>
                  <a:pt x="59531" y="94258"/>
                </a:cubicBezTo>
                <a:cubicBezTo>
                  <a:pt x="63638" y="94258"/>
                  <a:pt x="66973" y="97592"/>
                  <a:pt x="66973" y="101699"/>
                </a:cubicBezTo>
                <a:close/>
                <a:moveTo>
                  <a:pt x="91777" y="109141"/>
                </a:moveTo>
                <a:cubicBezTo>
                  <a:pt x="87670" y="109141"/>
                  <a:pt x="84336" y="105806"/>
                  <a:pt x="84336" y="101699"/>
                </a:cubicBezTo>
                <a:cubicBezTo>
                  <a:pt x="84336" y="97592"/>
                  <a:pt x="87670" y="94258"/>
                  <a:pt x="91777" y="94258"/>
                </a:cubicBezTo>
                <a:cubicBezTo>
                  <a:pt x="95884" y="94258"/>
                  <a:pt x="99219" y="97592"/>
                  <a:pt x="99219" y="101699"/>
                </a:cubicBezTo>
                <a:cubicBezTo>
                  <a:pt x="99219" y="105806"/>
                  <a:pt x="95884" y="109141"/>
                  <a:pt x="91777" y="109141"/>
                </a:cubicBezTo>
                <a:close/>
                <a:moveTo>
                  <a:pt x="19844" y="131465"/>
                </a:moveTo>
                <a:cubicBezTo>
                  <a:pt x="19844" y="127341"/>
                  <a:pt x="23161" y="124023"/>
                  <a:pt x="27285" y="124023"/>
                </a:cubicBezTo>
                <a:lnTo>
                  <a:pt x="62012" y="124023"/>
                </a:lnTo>
                <a:cubicBezTo>
                  <a:pt x="66135" y="124023"/>
                  <a:pt x="69453" y="127341"/>
                  <a:pt x="69453" y="131465"/>
                </a:cubicBezTo>
                <a:cubicBezTo>
                  <a:pt x="69453" y="135589"/>
                  <a:pt x="66135" y="138906"/>
                  <a:pt x="62012" y="138906"/>
                </a:cubicBezTo>
                <a:lnTo>
                  <a:pt x="27285" y="138906"/>
                </a:lnTo>
                <a:cubicBezTo>
                  <a:pt x="23161" y="138906"/>
                  <a:pt x="19844" y="135589"/>
                  <a:pt x="19844" y="131465"/>
                </a:cubicBezTo>
                <a:close/>
                <a:moveTo>
                  <a:pt x="91777" y="124023"/>
                </a:moveTo>
                <a:cubicBezTo>
                  <a:pt x="95901" y="124023"/>
                  <a:pt x="99219" y="127341"/>
                  <a:pt x="99219" y="131465"/>
                </a:cubicBezTo>
                <a:cubicBezTo>
                  <a:pt x="99219" y="135589"/>
                  <a:pt x="95901" y="138906"/>
                  <a:pt x="91777" y="138906"/>
                </a:cubicBezTo>
                <a:cubicBezTo>
                  <a:pt x="87654" y="138906"/>
                  <a:pt x="84336" y="135589"/>
                  <a:pt x="84336" y="131465"/>
                </a:cubicBezTo>
                <a:cubicBezTo>
                  <a:pt x="84336" y="127341"/>
                  <a:pt x="87654" y="124023"/>
                  <a:pt x="91777" y="124023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Text 26"/>
          <p:cNvSpPr/>
          <p:nvPr/>
        </p:nvSpPr>
        <p:spPr>
          <a:xfrm>
            <a:off x="714375" y="3921125"/>
            <a:ext cx="11080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Computational Capabilities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6250" y="4270375"/>
            <a:ext cx="560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6.2.7 At-Risk Identification Algorithm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6250" y="4524375"/>
            <a:ext cx="5603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detection of learners requiring additional support based on configurable performance thresholds, trend analysis, and comparative metrics.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75375" y="4270375"/>
            <a:ext cx="560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6.2.8 Trend Calculation &amp; Analytics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75375" y="4524375"/>
            <a:ext cx="5603875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Statistical analysis of performance trajectories, grade progression patterns, and predictive indicators for early intervention planning.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17500" y="5270500"/>
            <a:ext cx="3770313" cy="1270000"/>
          </a:xfrm>
          <a:custGeom>
            <a:avLst/>
            <a:gdLst/>
            <a:ahLst/>
            <a:cxnLst/>
            <a:rect l="l" t="t" r="r" b="b"/>
            <a:pathLst>
              <a:path w="3770313" h="1270000">
                <a:moveTo>
                  <a:pt x="0" y="0"/>
                </a:moveTo>
                <a:lnTo>
                  <a:pt x="3770313" y="0"/>
                </a:lnTo>
                <a:lnTo>
                  <a:pt x="3770313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317500" y="5270500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0" y="0"/>
                </a:moveTo>
                <a:lnTo>
                  <a:pt x="3770313" y="0"/>
                </a:lnTo>
                <a:lnTo>
                  <a:pt x="3770313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2099097" y="5413375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04180" y="0"/>
                </a:moveTo>
                <a:cubicBezTo>
                  <a:pt x="95948" y="0"/>
                  <a:pt x="89297" y="6651"/>
                  <a:pt x="89297" y="14883"/>
                </a:cubicBezTo>
                <a:lnTo>
                  <a:pt x="89297" y="16371"/>
                </a:lnTo>
                <a:cubicBezTo>
                  <a:pt x="55345" y="23254"/>
                  <a:pt x="29766" y="53299"/>
                  <a:pt x="29766" y="89297"/>
                </a:cubicBezTo>
                <a:lnTo>
                  <a:pt x="29766" y="99389"/>
                </a:lnTo>
                <a:cubicBezTo>
                  <a:pt x="29766" y="121760"/>
                  <a:pt x="22138" y="143480"/>
                  <a:pt x="8186" y="160967"/>
                </a:cubicBezTo>
                <a:lnTo>
                  <a:pt x="3628" y="166641"/>
                </a:lnTo>
                <a:cubicBezTo>
                  <a:pt x="1256" y="169571"/>
                  <a:pt x="0" y="173199"/>
                  <a:pt x="0" y="176966"/>
                </a:cubicBezTo>
                <a:cubicBezTo>
                  <a:pt x="0" y="186082"/>
                  <a:pt x="7395" y="193477"/>
                  <a:pt x="16511" y="193477"/>
                </a:cubicBezTo>
                <a:lnTo>
                  <a:pt x="191802" y="193477"/>
                </a:lnTo>
                <a:cubicBezTo>
                  <a:pt x="200918" y="193477"/>
                  <a:pt x="208313" y="186082"/>
                  <a:pt x="208313" y="176966"/>
                </a:cubicBezTo>
                <a:cubicBezTo>
                  <a:pt x="208313" y="173199"/>
                  <a:pt x="207057" y="169571"/>
                  <a:pt x="204685" y="166641"/>
                </a:cubicBezTo>
                <a:lnTo>
                  <a:pt x="200127" y="160967"/>
                </a:lnTo>
                <a:cubicBezTo>
                  <a:pt x="186221" y="143480"/>
                  <a:pt x="178594" y="121760"/>
                  <a:pt x="178594" y="99389"/>
                </a:cubicBezTo>
                <a:lnTo>
                  <a:pt x="178594" y="89297"/>
                </a:lnTo>
                <a:cubicBezTo>
                  <a:pt x="178594" y="53299"/>
                  <a:pt x="153014" y="23254"/>
                  <a:pt x="119062" y="16371"/>
                </a:cubicBezTo>
                <a:lnTo>
                  <a:pt x="119062" y="14883"/>
                </a:lnTo>
                <a:cubicBezTo>
                  <a:pt x="119062" y="6651"/>
                  <a:pt x="112412" y="0"/>
                  <a:pt x="104180" y="0"/>
                </a:cubicBezTo>
                <a:close/>
                <a:moveTo>
                  <a:pt x="75344" y="215801"/>
                </a:moveTo>
                <a:cubicBezTo>
                  <a:pt x="78646" y="228637"/>
                  <a:pt x="90320" y="238125"/>
                  <a:pt x="104180" y="238125"/>
                </a:cubicBezTo>
                <a:cubicBezTo>
                  <a:pt x="118039" y="238125"/>
                  <a:pt x="129713" y="228637"/>
                  <a:pt x="133015" y="215801"/>
                </a:cubicBezTo>
                <a:lnTo>
                  <a:pt x="75344" y="21580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408781" y="5746750"/>
            <a:ext cx="358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Real-time Notifications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12750" y="6032500"/>
            <a:ext cx="3579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Immediate alerts upon performance updates with configurable thresholds and delivery methods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12084" y="5270500"/>
            <a:ext cx="3770313" cy="1270000"/>
          </a:xfrm>
          <a:custGeom>
            <a:avLst/>
            <a:gdLst/>
            <a:ahLst/>
            <a:cxnLst/>
            <a:rect l="l" t="t" r="r" b="b"/>
            <a:pathLst>
              <a:path w="3770313" h="1270000">
                <a:moveTo>
                  <a:pt x="0" y="0"/>
                </a:moveTo>
                <a:lnTo>
                  <a:pt x="3770313" y="0"/>
                </a:lnTo>
                <a:lnTo>
                  <a:pt x="3770313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9" name="Shape 37"/>
          <p:cNvSpPr/>
          <p:nvPr/>
        </p:nvSpPr>
        <p:spPr>
          <a:xfrm>
            <a:off x="4212084" y="5270500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0" y="0"/>
                </a:moveTo>
                <a:lnTo>
                  <a:pt x="3770313" y="0"/>
                </a:lnTo>
                <a:lnTo>
                  <a:pt x="3770313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5978798" y="541337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67112" y="0"/>
                </a:moveTo>
                <a:lnTo>
                  <a:pt x="171292" y="0"/>
                </a:lnTo>
                <a:cubicBezTo>
                  <a:pt x="183617" y="0"/>
                  <a:pt x="193663" y="10139"/>
                  <a:pt x="193198" y="22417"/>
                </a:cubicBezTo>
                <a:cubicBezTo>
                  <a:pt x="193104" y="24882"/>
                  <a:pt x="193011" y="27347"/>
                  <a:pt x="192872" y="29766"/>
                </a:cubicBezTo>
                <a:lnTo>
                  <a:pt x="215940" y="29766"/>
                </a:lnTo>
                <a:cubicBezTo>
                  <a:pt x="228079" y="29766"/>
                  <a:pt x="238776" y="39812"/>
                  <a:pt x="237846" y="52927"/>
                </a:cubicBezTo>
                <a:cubicBezTo>
                  <a:pt x="234358" y="101157"/>
                  <a:pt x="209708" y="127667"/>
                  <a:pt x="182966" y="141526"/>
                </a:cubicBezTo>
                <a:cubicBezTo>
                  <a:pt x="175617" y="145340"/>
                  <a:pt x="168129" y="148177"/>
                  <a:pt x="161013" y="150270"/>
                </a:cubicBezTo>
                <a:cubicBezTo>
                  <a:pt x="151619" y="163571"/>
                  <a:pt x="141852" y="170594"/>
                  <a:pt x="134085" y="174361"/>
                </a:cubicBezTo>
                <a:lnTo>
                  <a:pt x="134085" y="208359"/>
                </a:lnTo>
                <a:lnTo>
                  <a:pt x="163850" y="208359"/>
                </a:lnTo>
                <a:cubicBezTo>
                  <a:pt x="172083" y="208359"/>
                  <a:pt x="178733" y="215010"/>
                  <a:pt x="178733" y="223242"/>
                </a:cubicBezTo>
                <a:cubicBezTo>
                  <a:pt x="178733" y="231474"/>
                  <a:pt x="172083" y="238125"/>
                  <a:pt x="163850" y="238125"/>
                </a:cubicBezTo>
                <a:lnTo>
                  <a:pt x="74554" y="238125"/>
                </a:lnTo>
                <a:cubicBezTo>
                  <a:pt x="66322" y="238125"/>
                  <a:pt x="59671" y="231474"/>
                  <a:pt x="59671" y="223242"/>
                </a:cubicBezTo>
                <a:cubicBezTo>
                  <a:pt x="59671" y="215010"/>
                  <a:pt x="66322" y="208359"/>
                  <a:pt x="74554" y="208359"/>
                </a:cubicBezTo>
                <a:lnTo>
                  <a:pt x="104319" y="208359"/>
                </a:lnTo>
                <a:lnTo>
                  <a:pt x="104319" y="174361"/>
                </a:lnTo>
                <a:cubicBezTo>
                  <a:pt x="96878" y="170780"/>
                  <a:pt x="87623" y="164130"/>
                  <a:pt x="78600" y="151898"/>
                </a:cubicBezTo>
                <a:cubicBezTo>
                  <a:pt x="70042" y="149665"/>
                  <a:pt x="60740" y="146270"/>
                  <a:pt x="51671" y="141154"/>
                </a:cubicBezTo>
                <a:cubicBezTo>
                  <a:pt x="26510" y="127062"/>
                  <a:pt x="3814" y="100505"/>
                  <a:pt x="558" y="52834"/>
                </a:cubicBezTo>
                <a:cubicBezTo>
                  <a:pt x="-326" y="39765"/>
                  <a:pt x="10325" y="29719"/>
                  <a:pt x="22464" y="29719"/>
                </a:cubicBezTo>
                <a:lnTo>
                  <a:pt x="45532" y="29719"/>
                </a:lnTo>
                <a:cubicBezTo>
                  <a:pt x="45393" y="27301"/>
                  <a:pt x="45300" y="24882"/>
                  <a:pt x="45207" y="22371"/>
                </a:cubicBezTo>
                <a:cubicBezTo>
                  <a:pt x="44741" y="10046"/>
                  <a:pt x="54787" y="-47"/>
                  <a:pt x="67112" y="-47"/>
                </a:cubicBezTo>
                <a:close/>
                <a:moveTo>
                  <a:pt x="47206" y="52090"/>
                </a:moveTo>
                <a:lnTo>
                  <a:pt x="22836" y="52090"/>
                </a:lnTo>
                <a:cubicBezTo>
                  <a:pt x="25719" y="91483"/>
                  <a:pt x="43811" y="111203"/>
                  <a:pt x="62461" y="121667"/>
                </a:cubicBezTo>
                <a:cubicBezTo>
                  <a:pt x="55764" y="104319"/>
                  <a:pt x="50229" y="81669"/>
                  <a:pt x="47206" y="52090"/>
                </a:cubicBezTo>
                <a:close/>
                <a:moveTo>
                  <a:pt x="176733" y="119435"/>
                </a:moveTo>
                <a:cubicBezTo>
                  <a:pt x="195569" y="108365"/>
                  <a:pt x="212592" y="88692"/>
                  <a:pt x="215475" y="52090"/>
                </a:cubicBezTo>
                <a:lnTo>
                  <a:pt x="191151" y="52090"/>
                </a:lnTo>
                <a:cubicBezTo>
                  <a:pt x="188268" y="80414"/>
                  <a:pt x="183059" y="102412"/>
                  <a:pt x="176733" y="11943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4303365" y="5746750"/>
            <a:ext cx="358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Achievement Recognition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307334" y="6032500"/>
            <a:ext cx="3579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triggers for milestone celebrations with customizable recognition workflows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06792" y="5270500"/>
            <a:ext cx="3770313" cy="1270000"/>
          </a:xfrm>
          <a:custGeom>
            <a:avLst/>
            <a:gdLst/>
            <a:ahLst/>
            <a:cxnLst/>
            <a:rect l="l" t="t" r="r" b="b"/>
            <a:pathLst>
              <a:path w="3770313" h="1270000">
                <a:moveTo>
                  <a:pt x="0" y="0"/>
                </a:moveTo>
                <a:lnTo>
                  <a:pt x="3770313" y="0"/>
                </a:lnTo>
                <a:lnTo>
                  <a:pt x="3770313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4" name="Shape 42"/>
          <p:cNvSpPr/>
          <p:nvPr/>
        </p:nvSpPr>
        <p:spPr>
          <a:xfrm>
            <a:off x="8106792" y="5270500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0" y="0"/>
                </a:moveTo>
                <a:lnTo>
                  <a:pt x="3770313" y="0"/>
                </a:lnTo>
                <a:lnTo>
                  <a:pt x="3770313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9873506" y="541337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4883" y="14883"/>
                </a:moveTo>
                <a:cubicBezTo>
                  <a:pt x="23115" y="14883"/>
                  <a:pt x="29766" y="21534"/>
                  <a:pt x="29766" y="29766"/>
                </a:cubicBezTo>
                <a:lnTo>
                  <a:pt x="29766" y="186035"/>
                </a:lnTo>
                <a:cubicBezTo>
                  <a:pt x="29766" y="190128"/>
                  <a:pt x="33114" y="193477"/>
                  <a:pt x="37207" y="193477"/>
                </a:cubicBezTo>
                <a:lnTo>
                  <a:pt x="223242" y="193477"/>
                </a:lnTo>
                <a:cubicBezTo>
                  <a:pt x="231474" y="193477"/>
                  <a:pt x="238125" y="200127"/>
                  <a:pt x="238125" y="208359"/>
                </a:cubicBezTo>
                <a:cubicBezTo>
                  <a:pt x="238125" y="216591"/>
                  <a:pt x="231474" y="223242"/>
                  <a:pt x="223242" y="223242"/>
                </a:cubicBezTo>
                <a:lnTo>
                  <a:pt x="37207" y="223242"/>
                </a:lnTo>
                <a:cubicBezTo>
                  <a:pt x="16650" y="223242"/>
                  <a:pt x="0" y="206592"/>
                  <a:pt x="0" y="186035"/>
                </a:cubicBezTo>
                <a:lnTo>
                  <a:pt x="0" y="29766"/>
                </a:lnTo>
                <a:cubicBezTo>
                  <a:pt x="0" y="21534"/>
                  <a:pt x="6651" y="14883"/>
                  <a:pt x="14883" y="14883"/>
                </a:cubicBezTo>
                <a:close/>
                <a:moveTo>
                  <a:pt x="59531" y="44648"/>
                </a:moveTo>
                <a:cubicBezTo>
                  <a:pt x="59531" y="36416"/>
                  <a:pt x="66182" y="29766"/>
                  <a:pt x="74414" y="29766"/>
                </a:cubicBezTo>
                <a:lnTo>
                  <a:pt x="163711" y="29766"/>
                </a:lnTo>
                <a:cubicBezTo>
                  <a:pt x="171943" y="29766"/>
                  <a:pt x="178594" y="36416"/>
                  <a:pt x="178594" y="44648"/>
                </a:cubicBezTo>
                <a:cubicBezTo>
                  <a:pt x="178594" y="52880"/>
                  <a:pt x="171943" y="59531"/>
                  <a:pt x="163711" y="59531"/>
                </a:cubicBezTo>
                <a:lnTo>
                  <a:pt x="74414" y="59531"/>
                </a:lnTo>
                <a:cubicBezTo>
                  <a:pt x="66182" y="59531"/>
                  <a:pt x="59531" y="52880"/>
                  <a:pt x="59531" y="44648"/>
                </a:cubicBezTo>
                <a:close/>
                <a:moveTo>
                  <a:pt x="74414" y="81855"/>
                </a:moveTo>
                <a:lnTo>
                  <a:pt x="133945" y="81855"/>
                </a:lnTo>
                <a:cubicBezTo>
                  <a:pt x="142177" y="81855"/>
                  <a:pt x="148828" y="88506"/>
                  <a:pt x="148828" y="96738"/>
                </a:cubicBezTo>
                <a:cubicBezTo>
                  <a:pt x="148828" y="104970"/>
                  <a:pt x="142177" y="111621"/>
                  <a:pt x="133945" y="111621"/>
                </a:cubicBezTo>
                <a:lnTo>
                  <a:pt x="74414" y="111621"/>
                </a:lnTo>
                <a:cubicBezTo>
                  <a:pt x="66182" y="111621"/>
                  <a:pt x="59531" y="104970"/>
                  <a:pt x="59531" y="96738"/>
                </a:cubicBezTo>
                <a:cubicBezTo>
                  <a:pt x="59531" y="88506"/>
                  <a:pt x="66182" y="81855"/>
                  <a:pt x="74414" y="81855"/>
                </a:cubicBezTo>
                <a:close/>
                <a:moveTo>
                  <a:pt x="74414" y="133945"/>
                </a:moveTo>
                <a:lnTo>
                  <a:pt x="193477" y="133945"/>
                </a:lnTo>
                <a:cubicBezTo>
                  <a:pt x="201709" y="133945"/>
                  <a:pt x="208359" y="140596"/>
                  <a:pt x="208359" y="148828"/>
                </a:cubicBezTo>
                <a:cubicBezTo>
                  <a:pt x="208359" y="157060"/>
                  <a:pt x="201709" y="163711"/>
                  <a:pt x="193477" y="163711"/>
                </a:cubicBezTo>
                <a:lnTo>
                  <a:pt x="74414" y="163711"/>
                </a:lnTo>
                <a:cubicBezTo>
                  <a:pt x="66182" y="163711"/>
                  <a:pt x="59531" y="157060"/>
                  <a:pt x="59531" y="148828"/>
                </a:cubicBezTo>
                <a:cubicBezTo>
                  <a:pt x="59531" y="140596"/>
                  <a:pt x="66182" y="133945"/>
                  <a:pt x="74414" y="13394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8198073" y="5746750"/>
            <a:ext cx="358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Status Display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02042" y="6032500"/>
            <a:ext cx="357981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Visual indicators for learner status (active, graduated, inactive) with filtering and search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 SYSTEM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 Non-Functional Requirements: Quality Attributes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47750"/>
            <a:ext cx="5683250" cy="2508250"/>
          </a:xfrm>
          <a:custGeom>
            <a:avLst/>
            <a:gdLst/>
            <a:ahLst/>
            <a:cxnLst/>
            <a:rect l="l" t="t" r="r" b="b"/>
            <a:pathLst>
              <a:path w="5683250" h="2508250">
                <a:moveTo>
                  <a:pt x="0" y="0"/>
                </a:moveTo>
                <a:lnTo>
                  <a:pt x="5683250" y="0"/>
                </a:lnTo>
                <a:lnTo>
                  <a:pt x="5683250" y="2508250"/>
                </a:lnTo>
                <a:lnTo>
                  <a:pt x="0" y="250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047750"/>
            <a:ext cx="31750" cy="2508250"/>
          </a:xfrm>
          <a:custGeom>
            <a:avLst/>
            <a:gdLst/>
            <a:ahLst/>
            <a:cxnLst/>
            <a:rect l="l" t="t" r="r" b="b"/>
            <a:pathLst>
              <a:path w="31750" h="2508250">
                <a:moveTo>
                  <a:pt x="0" y="0"/>
                </a:moveTo>
                <a:lnTo>
                  <a:pt x="31750" y="0"/>
                </a:lnTo>
                <a:lnTo>
                  <a:pt x="31750" y="2508250"/>
                </a:lnTo>
                <a:lnTo>
                  <a:pt x="0" y="2508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69516" y="1214438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59531" y="44648"/>
                </a:moveTo>
                <a:lnTo>
                  <a:pt x="59531" y="74414"/>
                </a:lnTo>
                <a:lnTo>
                  <a:pt x="119062" y="74414"/>
                </a:lnTo>
                <a:lnTo>
                  <a:pt x="119062" y="44648"/>
                </a:lnTo>
                <a:cubicBezTo>
                  <a:pt x="119062" y="28231"/>
                  <a:pt x="105714" y="14883"/>
                  <a:pt x="89297" y="14883"/>
                </a:cubicBezTo>
                <a:cubicBezTo>
                  <a:pt x="72879" y="14883"/>
                  <a:pt x="59531" y="28231"/>
                  <a:pt x="59531" y="44648"/>
                </a:cubicBezTo>
                <a:close/>
                <a:moveTo>
                  <a:pt x="29766" y="74414"/>
                </a:moveTo>
                <a:lnTo>
                  <a:pt x="29766" y="44648"/>
                </a:lnTo>
                <a:cubicBezTo>
                  <a:pt x="29766" y="11767"/>
                  <a:pt x="56415" y="-14883"/>
                  <a:pt x="89297" y="-14883"/>
                </a:cubicBezTo>
                <a:cubicBezTo>
                  <a:pt x="122179" y="-14883"/>
                  <a:pt x="148828" y="11767"/>
                  <a:pt x="148828" y="44648"/>
                </a:cubicBezTo>
                <a:lnTo>
                  <a:pt x="148828" y="74414"/>
                </a:lnTo>
                <a:cubicBezTo>
                  <a:pt x="165246" y="74414"/>
                  <a:pt x="178594" y="87762"/>
                  <a:pt x="178594" y="104180"/>
                </a:cubicBezTo>
                <a:lnTo>
                  <a:pt x="178594" y="208359"/>
                </a:lnTo>
                <a:cubicBezTo>
                  <a:pt x="178594" y="224777"/>
                  <a:pt x="165246" y="238125"/>
                  <a:pt x="148828" y="238125"/>
                </a:cubicBezTo>
                <a:lnTo>
                  <a:pt x="29766" y="238125"/>
                </a:lnTo>
                <a:cubicBezTo>
                  <a:pt x="13348" y="238125"/>
                  <a:pt x="0" y="224777"/>
                  <a:pt x="0" y="208359"/>
                </a:cubicBezTo>
                <a:lnTo>
                  <a:pt x="0" y="104180"/>
                </a:lnTo>
                <a:cubicBezTo>
                  <a:pt x="0" y="87762"/>
                  <a:pt x="13348" y="74414"/>
                  <a:pt x="29766" y="7441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900906" y="1206500"/>
            <a:ext cx="2309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Authentication &amp; Security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8000" y="158750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6.3.1 Secure Login/Logout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1809750"/>
            <a:ext cx="5413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Multi-factor authentication supporting password, email verification, and single sign-on (SSO) integration with school identity providers.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8000" y="228600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6.3.2 Role-Based Access Control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8000" y="2508250"/>
            <a:ext cx="5413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Granular permissions ensuring teachers access only their assigned classes while administrators maintain oversight capabilities.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8000" y="298450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6.3.3 Data Encryption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8000" y="320675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End-to-end encryption for sensitive student information both in transit and at rest.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1250" y="1047750"/>
            <a:ext cx="5683250" cy="2508250"/>
          </a:xfrm>
          <a:custGeom>
            <a:avLst/>
            <a:gdLst/>
            <a:ahLst/>
            <a:cxnLst/>
            <a:rect l="l" t="t" r="r" b="b"/>
            <a:pathLst>
              <a:path w="5683250" h="2508250">
                <a:moveTo>
                  <a:pt x="0" y="0"/>
                </a:moveTo>
                <a:lnTo>
                  <a:pt x="5683250" y="0"/>
                </a:lnTo>
                <a:lnTo>
                  <a:pt x="5683250" y="2508250"/>
                </a:lnTo>
                <a:lnTo>
                  <a:pt x="0" y="25082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1250" y="1047750"/>
            <a:ext cx="31750" cy="2508250"/>
          </a:xfrm>
          <a:custGeom>
            <a:avLst/>
            <a:gdLst/>
            <a:ahLst/>
            <a:cxnLst/>
            <a:rect l="l" t="t" r="r" b="b"/>
            <a:pathLst>
              <a:path w="31750" h="2508250">
                <a:moveTo>
                  <a:pt x="0" y="0"/>
                </a:moveTo>
                <a:lnTo>
                  <a:pt x="31750" y="0"/>
                </a:lnTo>
                <a:lnTo>
                  <a:pt x="31750" y="2508250"/>
                </a:lnTo>
                <a:lnTo>
                  <a:pt x="0" y="2508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397625" y="12144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0"/>
                </a:move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3"/>
                </a:cubicBezTo>
                <a:cubicBezTo>
                  <a:pt x="0" y="53350"/>
                  <a:pt x="53350" y="0"/>
                  <a:pt x="119062" y="0"/>
                </a:cubicBezTo>
                <a:close/>
                <a:moveTo>
                  <a:pt x="107900" y="55811"/>
                </a:moveTo>
                <a:lnTo>
                  <a:pt x="107900" y="119062"/>
                </a:lnTo>
                <a:cubicBezTo>
                  <a:pt x="107900" y="122783"/>
                  <a:pt x="109761" y="126271"/>
                  <a:pt x="112877" y="128364"/>
                </a:cubicBezTo>
                <a:lnTo>
                  <a:pt x="157525" y="158130"/>
                </a:lnTo>
                <a:cubicBezTo>
                  <a:pt x="162641" y="161572"/>
                  <a:pt x="169571" y="160176"/>
                  <a:pt x="173013" y="155014"/>
                </a:cubicBezTo>
                <a:cubicBezTo>
                  <a:pt x="176454" y="149851"/>
                  <a:pt x="175059" y="142968"/>
                  <a:pt x="169897" y="139526"/>
                </a:cubicBezTo>
                <a:lnTo>
                  <a:pt x="130225" y="113109"/>
                </a:lnTo>
                <a:lnTo>
                  <a:pt x="130225" y="55811"/>
                </a:lnTo>
                <a:cubicBezTo>
                  <a:pt x="130225" y="49625"/>
                  <a:pt x="125248" y="44648"/>
                  <a:pt x="119062" y="44648"/>
                </a:cubicBezTo>
                <a:cubicBezTo>
                  <a:pt x="112877" y="44648"/>
                  <a:pt x="107900" y="49625"/>
                  <a:pt x="107900" y="5581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758781" y="1206500"/>
            <a:ext cx="21669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Availability &amp; Reliability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5875" y="158750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6.3.4 Operational Availability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65875" y="1809750"/>
            <a:ext cx="5413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accessible during all school hours (typically 7 AM - 6 PM) with 99.5% uptime guarantee during academic terms.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65875" y="228600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6.3.5 Backup &amp; Recovery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65875" y="250825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daily backups with point-in-time recovery capabilities and disaster recovery protocols.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5875" y="279400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6.3.6 Maintenance Windows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65875" y="3016250"/>
            <a:ext cx="541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Scheduled updates during non-operational hours to minimize disruption to teaching activities.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7500" y="3714750"/>
            <a:ext cx="3770313" cy="1762125"/>
          </a:xfrm>
          <a:custGeom>
            <a:avLst/>
            <a:gdLst/>
            <a:ahLst/>
            <a:cxnLst/>
            <a:rect l="l" t="t" r="r" b="b"/>
            <a:pathLst>
              <a:path w="3770313" h="1762125">
                <a:moveTo>
                  <a:pt x="0" y="0"/>
                </a:moveTo>
                <a:lnTo>
                  <a:pt x="3770313" y="0"/>
                </a:lnTo>
                <a:lnTo>
                  <a:pt x="3770313" y="1762125"/>
                </a:lnTo>
                <a:lnTo>
                  <a:pt x="0" y="17621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92125" y="38576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6" name="Text 24"/>
          <p:cNvSpPr/>
          <p:nvPr/>
        </p:nvSpPr>
        <p:spPr>
          <a:xfrm>
            <a:off x="746125" y="3841750"/>
            <a:ext cx="103981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Responsiveness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4500" y="4159250"/>
            <a:ext cx="357981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6.3.7 Multi-Device Support: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Fully functional on desktop and mobile browsers with responsive design adapting to various screen sizes.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4500" y="4873625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Desktop: Chrome, Firefox, Safari, Edge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500" y="5032375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Mobile: iOS Safari, Android Chrome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4500" y="5191125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Tablet-optimized interface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12084" y="3714750"/>
            <a:ext cx="3770313" cy="1762125"/>
          </a:xfrm>
          <a:custGeom>
            <a:avLst/>
            <a:gdLst/>
            <a:ahLst/>
            <a:cxnLst/>
            <a:rect l="l" t="t" r="r" b="b"/>
            <a:pathLst>
              <a:path w="3770313" h="1762125">
                <a:moveTo>
                  <a:pt x="0" y="0"/>
                </a:moveTo>
                <a:lnTo>
                  <a:pt x="3770313" y="0"/>
                </a:lnTo>
                <a:lnTo>
                  <a:pt x="3770313" y="1762125"/>
                </a:lnTo>
                <a:lnTo>
                  <a:pt x="0" y="1762125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2" name="Shape 30"/>
          <p:cNvSpPr/>
          <p:nvPr/>
        </p:nvSpPr>
        <p:spPr>
          <a:xfrm>
            <a:off x="4339084" y="38576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50602" y="47625"/>
                </a:moveTo>
                <a:cubicBezTo>
                  <a:pt x="50602" y="22983"/>
                  <a:pt x="70608" y="2977"/>
                  <a:pt x="95250" y="2977"/>
                </a:cubicBezTo>
                <a:cubicBezTo>
                  <a:pt x="119892" y="2977"/>
                  <a:pt x="139898" y="22983"/>
                  <a:pt x="139898" y="47625"/>
                </a:cubicBezTo>
                <a:cubicBezTo>
                  <a:pt x="139898" y="72267"/>
                  <a:pt x="119892" y="92273"/>
                  <a:pt x="95250" y="92273"/>
                </a:cubicBezTo>
                <a:cubicBezTo>
                  <a:pt x="70608" y="92273"/>
                  <a:pt x="50602" y="72267"/>
                  <a:pt x="50602" y="47625"/>
                </a:cubicBezTo>
                <a:close/>
                <a:moveTo>
                  <a:pt x="17859" y="179450"/>
                </a:moveTo>
                <a:cubicBezTo>
                  <a:pt x="17859" y="142801"/>
                  <a:pt x="47551" y="113109"/>
                  <a:pt x="84200" y="113109"/>
                </a:cubicBezTo>
                <a:lnTo>
                  <a:pt x="106300" y="113109"/>
                </a:lnTo>
                <a:cubicBezTo>
                  <a:pt x="142949" y="113109"/>
                  <a:pt x="172641" y="142801"/>
                  <a:pt x="172641" y="179450"/>
                </a:cubicBezTo>
                <a:cubicBezTo>
                  <a:pt x="172641" y="185551"/>
                  <a:pt x="167692" y="190500"/>
                  <a:pt x="161590" y="190500"/>
                </a:cubicBezTo>
                <a:lnTo>
                  <a:pt x="28910" y="190500"/>
                </a:lnTo>
                <a:cubicBezTo>
                  <a:pt x="22808" y="190500"/>
                  <a:pt x="17859" y="185551"/>
                  <a:pt x="17859" y="179450"/>
                </a:cubicBezTo>
                <a:close/>
                <a:moveTo>
                  <a:pt x="227856" y="49374"/>
                </a:moveTo>
                <a:lnTo>
                  <a:pt x="198090" y="96999"/>
                </a:lnTo>
                <a:cubicBezTo>
                  <a:pt x="196528" y="99492"/>
                  <a:pt x="193849" y="101054"/>
                  <a:pt x="190909" y="101203"/>
                </a:cubicBezTo>
                <a:cubicBezTo>
                  <a:pt x="187970" y="101352"/>
                  <a:pt x="185142" y="100013"/>
                  <a:pt x="183393" y="97631"/>
                </a:cubicBezTo>
                <a:lnTo>
                  <a:pt x="165534" y="73819"/>
                </a:lnTo>
                <a:cubicBezTo>
                  <a:pt x="162558" y="69875"/>
                  <a:pt x="163376" y="64294"/>
                  <a:pt x="167320" y="61317"/>
                </a:cubicBezTo>
                <a:cubicBezTo>
                  <a:pt x="171264" y="58341"/>
                  <a:pt x="176845" y="59159"/>
                  <a:pt x="179822" y="63103"/>
                </a:cubicBezTo>
                <a:lnTo>
                  <a:pt x="189867" y="76498"/>
                </a:lnTo>
                <a:lnTo>
                  <a:pt x="212713" y="39923"/>
                </a:lnTo>
                <a:cubicBezTo>
                  <a:pt x="215317" y="35756"/>
                  <a:pt x="220824" y="34454"/>
                  <a:pt x="225028" y="37095"/>
                </a:cubicBezTo>
                <a:cubicBezTo>
                  <a:pt x="229233" y="39737"/>
                  <a:pt x="230498" y="45207"/>
                  <a:pt x="227856" y="49411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3" name="Text 31"/>
          <p:cNvSpPr/>
          <p:nvPr/>
        </p:nvSpPr>
        <p:spPr>
          <a:xfrm>
            <a:off x="4640709" y="3841750"/>
            <a:ext cx="627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339084" y="4159250"/>
            <a:ext cx="3579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6.3.8 Intuitive Interface: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Easy-to-use UI requiring minimal training, with clear navigation and contextual help.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39084" y="4667250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&lt;30 min learning curve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39084" y="4826000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Contextual tooltips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39084" y="4984750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Keyboard shortcuts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39084" y="5143500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Accessibility compliance (WCAG 2.1)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106792" y="3714750"/>
            <a:ext cx="3770313" cy="1762125"/>
          </a:xfrm>
          <a:custGeom>
            <a:avLst/>
            <a:gdLst/>
            <a:ahLst/>
            <a:cxnLst/>
            <a:rect l="l" t="t" r="r" b="b"/>
            <a:pathLst>
              <a:path w="3770313" h="1762125">
                <a:moveTo>
                  <a:pt x="0" y="0"/>
                </a:moveTo>
                <a:lnTo>
                  <a:pt x="3770313" y="0"/>
                </a:lnTo>
                <a:lnTo>
                  <a:pt x="3770313" y="1762125"/>
                </a:lnTo>
                <a:lnTo>
                  <a:pt x="0" y="1762125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0" name="Shape 38"/>
          <p:cNvSpPr/>
          <p:nvPr/>
        </p:nvSpPr>
        <p:spPr>
          <a:xfrm>
            <a:off x="8257604" y="3857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1" name="Text 39"/>
          <p:cNvSpPr/>
          <p:nvPr/>
        </p:nvSpPr>
        <p:spPr>
          <a:xfrm>
            <a:off x="8535417" y="3841750"/>
            <a:ext cx="84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33792" y="4159250"/>
            <a:ext cx="3579813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6.3.9 Concurrent User Handling: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Smooth operation with multiple simultaneous users without performance degradation.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33792" y="4667250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Support 100+ concurrent users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33792" y="4826000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&lt;2s page load times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33792" y="4984750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&lt;500ms query response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33792" y="5143500"/>
            <a:ext cx="3571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• Scalable architecture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33375" y="5635625"/>
            <a:ext cx="11541125" cy="762000"/>
          </a:xfrm>
          <a:custGeom>
            <a:avLst/>
            <a:gdLst/>
            <a:ahLst/>
            <a:cxnLst/>
            <a:rect l="l" t="t" r="r" b="b"/>
            <a:pathLst>
              <a:path w="11541125" h="762000">
                <a:moveTo>
                  <a:pt x="0" y="0"/>
                </a:moveTo>
                <a:lnTo>
                  <a:pt x="11541125" y="0"/>
                </a:lnTo>
                <a:lnTo>
                  <a:pt x="1154112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8" name="Shape 46"/>
          <p:cNvSpPr/>
          <p:nvPr/>
        </p:nvSpPr>
        <p:spPr>
          <a:xfrm>
            <a:off x="333375" y="5635625"/>
            <a:ext cx="31750" cy="762000"/>
          </a:xfrm>
          <a:custGeom>
            <a:avLst/>
            <a:gdLst/>
            <a:ahLst/>
            <a:cxnLst/>
            <a:rect l="l" t="t" r="r" b="b"/>
            <a:pathLst>
              <a:path w="31750" h="762000">
                <a:moveTo>
                  <a:pt x="0" y="0"/>
                </a:moveTo>
                <a:lnTo>
                  <a:pt x="31750" y="0"/>
                </a:lnTo>
                <a:lnTo>
                  <a:pt x="3175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476250" y="5762625"/>
            <a:ext cx="1134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6.3.10 Compliance &amp; Standards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92125" y="6111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698500" y="6080125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FERPA compliance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333750" y="6111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3540125" y="6080125"/>
            <a:ext cx="1008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GDPR alignment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5375" y="6111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6381750" y="6080125"/>
            <a:ext cx="130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privacy standards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17000" y="611187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9223375" y="6080125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Audit logging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7. USE CASE EXAMPLE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Adding a Learner: Workflow Demonstration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3375" y="1016000"/>
            <a:ext cx="6865938" cy="3603625"/>
          </a:xfrm>
          <a:custGeom>
            <a:avLst/>
            <a:gdLst/>
            <a:ahLst/>
            <a:cxnLst/>
            <a:rect l="l" t="t" r="r" b="b"/>
            <a:pathLst>
              <a:path w="6865938" h="3603625">
                <a:moveTo>
                  <a:pt x="0" y="0"/>
                </a:moveTo>
                <a:lnTo>
                  <a:pt x="6865938" y="0"/>
                </a:lnTo>
                <a:lnTo>
                  <a:pt x="6865938" y="3603625"/>
                </a:lnTo>
                <a:lnTo>
                  <a:pt x="0" y="360362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016000"/>
            <a:ext cx="31750" cy="3603625"/>
          </a:xfrm>
          <a:custGeom>
            <a:avLst/>
            <a:gdLst/>
            <a:ahLst/>
            <a:cxnLst/>
            <a:rect l="l" t="t" r="r" b="b"/>
            <a:pathLst>
              <a:path w="31750" h="3603625">
                <a:moveTo>
                  <a:pt x="0" y="0"/>
                </a:moveTo>
                <a:lnTo>
                  <a:pt x="31750" y="0"/>
                </a:lnTo>
                <a:lnTo>
                  <a:pt x="31750" y="3603625"/>
                </a:lnTo>
                <a:lnTo>
                  <a:pt x="0" y="36036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1436688"/>
            <a:ext cx="6596063" cy="15875"/>
          </a:xfrm>
          <a:custGeom>
            <a:avLst/>
            <a:gdLst/>
            <a:ahLst/>
            <a:cxnLst/>
            <a:rect l="l" t="t" r="r" b="b"/>
            <a:pathLst>
              <a:path w="6596063" h="15875">
                <a:moveTo>
                  <a:pt x="0" y="0"/>
                </a:moveTo>
                <a:lnTo>
                  <a:pt x="6596063" y="0"/>
                </a:lnTo>
                <a:lnTo>
                  <a:pt x="6596063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76250" y="1143000"/>
            <a:ext cx="6675438" cy="285750"/>
          </a:xfrm>
          <a:prstGeom prst="rect">
            <a:avLst/>
          </a:prstGeom>
          <a:noFill/>
          <a:ln/>
        </p:spPr>
        <p:txBody>
          <a:bodyPr wrap="square" lIns="0" tIns="0" rIns="0" bIns="6350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Step-by-Step Process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0219" y="1543844"/>
            <a:ext cx="6588125" cy="515938"/>
          </a:xfrm>
          <a:custGeom>
            <a:avLst/>
            <a:gdLst/>
            <a:ahLst/>
            <a:cxnLst/>
            <a:rect l="l" t="t" r="r" b="b"/>
            <a:pathLst>
              <a:path w="6588125" h="515938">
                <a:moveTo>
                  <a:pt x="0" y="0"/>
                </a:moveTo>
                <a:lnTo>
                  <a:pt x="6588125" y="0"/>
                </a:lnTo>
                <a:lnTo>
                  <a:pt x="658812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7688" y="16113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15938" y="1611313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938" y="1611313"/>
            <a:ext cx="361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Authentication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938" y="1801813"/>
            <a:ext cx="361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logs in using secure credentials (password/email or SSO)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15494" y="212725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219" y="2353469"/>
            <a:ext cx="6588125" cy="515938"/>
          </a:xfrm>
          <a:custGeom>
            <a:avLst/>
            <a:gdLst/>
            <a:ahLst/>
            <a:cxnLst/>
            <a:rect l="l" t="t" r="r" b="b"/>
            <a:pathLst>
              <a:path w="6588125" h="515938">
                <a:moveTo>
                  <a:pt x="0" y="0"/>
                </a:moveTo>
                <a:lnTo>
                  <a:pt x="6588125" y="0"/>
                </a:lnTo>
                <a:lnTo>
                  <a:pt x="658812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7688" y="24209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15938" y="242093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938" y="2420938"/>
            <a:ext cx="370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Navigation to Learners Module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938" y="2611438"/>
            <a:ext cx="370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navigates to the Learners section from the main dashboard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15494" y="2936875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219" y="3163094"/>
            <a:ext cx="6588125" cy="515938"/>
          </a:xfrm>
          <a:custGeom>
            <a:avLst/>
            <a:gdLst/>
            <a:ahLst/>
            <a:cxnLst/>
            <a:rect l="l" t="t" r="r" b="b"/>
            <a:pathLst>
              <a:path w="6588125" h="515938">
                <a:moveTo>
                  <a:pt x="0" y="0"/>
                </a:moveTo>
                <a:lnTo>
                  <a:pt x="6588125" y="0"/>
                </a:lnTo>
                <a:lnTo>
                  <a:pt x="658812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7688" y="32305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15938" y="3230563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938" y="3230563"/>
            <a:ext cx="359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Initiate Add Learner Action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938" y="3421063"/>
            <a:ext cx="359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clicks "Add Learner" button to open the data entry form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15494" y="374650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52524" y="155835"/>
                </a:moveTo>
                <a:cubicBezTo>
                  <a:pt x="56400" y="159711"/>
                  <a:pt x="62694" y="159711"/>
                  <a:pt x="66570" y="155835"/>
                </a:cubicBezTo>
                <a:lnTo>
                  <a:pt x="116179" y="106226"/>
                </a:lnTo>
                <a:cubicBezTo>
                  <a:pt x="120055" y="102350"/>
                  <a:pt x="120055" y="96056"/>
                  <a:pt x="116179" y="92180"/>
                </a:cubicBezTo>
                <a:cubicBezTo>
                  <a:pt x="112303" y="88305"/>
                  <a:pt x="106009" y="88305"/>
                  <a:pt x="102133" y="92180"/>
                </a:cubicBezTo>
                <a:lnTo>
                  <a:pt x="69453" y="124861"/>
                </a:lnTo>
                <a:lnTo>
                  <a:pt x="69453" y="9922"/>
                </a:lnTo>
                <a:cubicBezTo>
                  <a:pt x="69453" y="4434"/>
                  <a:pt x="65019" y="0"/>
                  <a:pt x="59531" y="0"/>
                </a:cubicBezTo>
                <a:cubicBezTo>
                  <a:pt x="54043" y="0"/>
                  <a:pt x="49609" y="4434"/>
                  <a:pt x="49609" y="9922"/>
                </a:cubicBezTo>
                <a:lnTo>
                  <a:pt x="49609" y="124861"/>
                </a:lnTo>
                <a:lnTo>
                  <a:pt x="16929" y="92180"/>
                </a:lnTo>
                <a:cubicBezTo>
                  <a:pt x="13053" y="88305"/>
                  <a:pt x="6759" y="88305"/>
                  <a:pt x="2884" y="92180"/>
                </a:cubicBezTo>
                <a:cubicBezTo>
                  <a:pt x="-992" y="96056"/>
                  <a:pt x="-992" y="102350"/>
                  <a:pt x="2884" y="106226"/>
                </a:cubicBezTo>
                <a:lnTo>
                  <a:pt x="52493" y="15583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219" y="3972719"/>
            <a:ext cx="6588125" cy="515938"/>
          </a:xfrm>
          <a:custGeom>
            <a:avLst/>
            <a:gdLst/>
            <a:ahLst/>
            <a:cxnLst/>
            <a:rect l="l" t="t" r="r" b="b"/>
            <a:pathLst>
              <a:path w="6588125" h="515938">
                <a:moveTo>
                  <a:pt x="0" y="0"/>
                </a:moveTo>
                <a:lnTo>
                  <a:pt x="6588125" y="0"/>
                </a:lnTo>
                <a:lnTo>
                  <a:pt x="658812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7688" y="40401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515938" y="4040188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938" y="4040188"/>
            <a:ext cx="497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Entry &amp; Validation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938" y="4230688"/>
            <a:ext cx="497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enters learner details (name, grade, performance metrics) with real-time validation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27801" y="1016000"/>
            <a:ext cx="4548188" cy="984250"/>
          </a:xfrm>
          <a:custGeom>
            <a:avLst/>
            <a:gdLst/>
            <a:ahLst/>
            <a:cxnLst/>
            <a:rect l="l" t="t" r="r" b="b"/>
            <a:pathLst>
              <a:path w="4548188" h="984250">
                <a:moveTo>
                  <a:pt x="0" y="0"/>
                </a:moveTo>
                <a:lnTo>
                  <a:pt x="4548188" y="0"/>
                </a:lnTo>
                <a:lnTo>
                  <a:pt x="4548188" y="984250"/>
                </a:lnTo>
                <a:lnTo>
                  <a:pt x="0" y="9842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7454801" y="1143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3" name="Text 31"/>
          <p:cNvSpPr/>
          <p:nvPr/>
        </p:nvSpPr>
        <p:spPr>
          <a:xfrm>
            <a:off x="7423051" y="11430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72301" y="1158875"/>
            <a:ext cx="134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Record Save &amp; Sync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454801" y="1460500"/>
            <a:ext cx="43576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saves the record—dashboard updates immediately across all views with real-time synchronization.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27801" y="2095500"/>
            <a:ext cx="4548188" cy="984250"/>
          </a:xfrm>
          <a:custGeom>
            <a:avLst/>
            <a:gdLst/>
            <a:ahLst/>
            <a:cxnLst/>
            <a:rect l="l" t="t" r="r" b="b"/>
            <a:pathLst>
              <a:path w="4548188" h="984250">
                <a:moveTo>
                  <a:pt x="0" y="0"/>
                </a:moveTo>
                <a:lnTo>
                  <a:pt x="4548188" y="0"/>
                </a:lnTo>
                <a:lnTo>
                  <a:pt x="4548188" y="984250"/>
                </a:lnTo>
                <a:lnTo>
                  <a:pt x="0" y="98425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7" name="Shape 35"/>
          <p:cNvSpPr/>
          <p:nvPr/>
        </p:nvSpPr>
        <p:spPr>
          <a:xfrm>
            <a:off x="7454801" y="2222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8" name="Text 36"/>
          <p:cNvSpPr/>
          <p:nvPr/>
        </p:nvSpPr>
        <p:spPr>
          <a:xfrm>
            <a:off x="7423051" y="22225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72301" y="2238375"/>
            <a:ext cx="1206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At-Risk Detection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54801" y="2540000"/>
            <a:ext cx="43576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automatically evaluates performance data and triggers notification if learner falls below threshold.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27801" y="3175000"/>
            <a:ext cx="4548188" cy="984250"/>
          </a:xfrm>
          <a:custGeom>
            <a:avLst/>
            <a:gdLst/>
            <a:ahLst/>
            <a:cxnLst/>
            <a:rect l="l" t="t" r="r" b="b"/>
            <a:pathLst>
              <a:path w="4548188" h="984250">
                <a:moveTo>
                  <a:pt x="0" y="0"/>
                </a:moveTo>
                <a:lnTo>
                  <a:pt x="4548188" y="0"/>
                </a:lnTo>
                <a:lnTo>
                  <a:pt x="4548188" y="984250"/>
                </a:lnTo>
                <a:lnTo>
                  <a:pt x="0" y="984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7454801" y="3302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0"/>
                </a:moveTo>
                <a:lnTo>
                  <a:pt x="254000" y="0"/>
                </a:lnTo>
                <a:lnTo>
                  <a:pt x="2540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3" name="Text 41"/>
          <p:cNvSpPr/>
          <p:nvPr/>
        </p:nvSpPr>
        <p:spPr>
          <a:xfrm>
            <a:off x="7423051" y="3302000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772301" y="3317875"/>
            <a:ext cx="151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Alert Review &amp; Action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454801" y="3619500"/>
            <a:ext cx="4357688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views alert notification and takes appropriate intervention action (meeting, additional support, etc.).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33375" y="4746625"/>
            <a:ext cx="11541125" cy="1412875"/>
          </a:xfrm>
          <a:custGeom>
            <a:avLst/>
            <a:gdLst/>
            <a:ahLst/>
            <a:cxnLst/>
            <a:rect l="l" t="t" r="r" b="b"/>
            <a:pathLst>
              <a:path w="11541125" h="1412875">
                <a:moveTo>
                  <a:pt x="0" y="0"/>
                </a:moveTo>
                <a:lnTo>
                  <a:pt x="11541125" y="0"/>
                </a:lnTo>
                <a:lnTo>
                  <a:pt x="11541125" y="1412875"/>
                </a:lnTo>
                <a:lnTo>
                  <a:pt x="0" y="1412875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7" name="Shape 45"/>
          <p:cNvSpPr/>
          <p:nvPr/>
        </p:nvSpPr>
        <p:spPr>
          <a:xfrm>
            <a:off x="333375" y="4746625"/>
            <a:ext cx="31750" cy="1412875"/>
          </a:xfrm>
          <a:custGeom>
            <a:avLst/>
            <a:gdLst/>
            <a:ahLst/>
            <a:cxnLst/>
            <a:rect l="l" t="t" r="r" b="b"/>
            <a:pathLst>
              <a:path w="31750" h="1412875">
                <a:moveTo>
                  <a:pt x="0" y="0"/>
                </a:moveTo>
                <a:lnTo>
                  <a:pt x="31750" y="0"/>
                </a:lnTo>
                <a:lnTo>
                  <a:pt x="31750" y="1412875"/>
                </a:lnTo>
                <a:lnTo>
                  <a:pt x="0" y="1412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476250" y="4873625"/>
            <a:ext cx="11342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7.1 System Response Triggers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0219" y="5195094"/>
            <a:ext cx="2738438" cy="833438"/>
          </a:xfrm>
          <a:custGeom>
            <a:avLst/>
            <a:gdLst/>
            <a:ahLst/>
            <a:cxnLst/>
            <a:rect l="l" t="t" r="r" b="b"/>
            <a:pathLst>
              <a:path w="2738438" h="833438">
                <a:moveTo>
                  <a:pt x="0" y="0"/>
                </a:moveTo>
                <a:lnTo>
                  <a:pt x="2738438" y="0"/>
                </a:lnTo>
                <a:lnTo>
                  <a:pt x="2738438" y="833438"/>
                </a:lnTo>
                <a:lnTo>
                  <a:pt x="0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66094" y="52943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547688" y="554831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Notification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47688" y="573881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Real-time alert to teacher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321844" y="5195094"/>
            <a:ext cx="2738438" cy="833438"/>
          </a:xfrm>
          <a:custGeom>
            <a:avLst/>
            <a:gdLst/>
            <a:ahLst/>
            <a:cxnLst/>
            <a:rect l="l" t="t" r="r" b="b"/>
            <a:pathLst>
              <a:path w="2738438" h="833438">
                <a:moveTo>
                  <a:pt x="0" y="0"/>
                </a:moveTo>
                <a:lnTo>
                  <a:pt x="2738438" y="0"/>
                </a:lnTo>
                <a:lnTo>
                  <a:pt x="2738438" y="833438"/>
                </a:lnTo>
                <a:lnTo>
                  <a:pt x="0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07719" y="529431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23812" y="5321"/>
                  <a:pt x="18492" y="0"/>
                  <a:pt x="11906" y="0"/>
                </a:cubicBezTo>
                <a:cubicBezTo>
                  <a:pt x="5321" y="0"/>
                  <a:pt x="0" y="5321"/>
                  <a:pt x="0" y="11906"/>
                </a:cubicBez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133350"/>
                </a:lnTo>
                <a:lnTo>
                  <a:pt x="47141" y="126355"/>
                </a:lnTo>
                <a:cubicBezTo>
                  <a:pt x="62731" y="121667"/>
                  <a:pt x="79549" y="123118"/>
                  <a:pt x="94097" y="130411"/>
                </a:cubicBezTo>
                <a:cubicBezTo>
                  <a:pt x="109984" y="138373"/>
                  <a:pt x="128513" y="139340"/>
                  <a:pt x="145145" y="133090"/>
                </a:cubicBezTo>
                <a:lnTo>
                  <a:pt x="158948" y="127918"/>
                </a:lnTo>
                <a:cubicBezTo>
                  <a:pt x="163599" y="126169"/>
                  <a:pt x="166688" y="121741"/>
                  <a:pt x="166688" y="116756"/>
                </a:cubicBezTo>
                <a:lnTo>
                  <a:pt x="166688" y="24594"/>
                </a:lnTo>
                <a:cubicBezTo>
                  <a:pt x="166688" y="16036"/>
                  <a:pt x="157683" y="10455"/>
                  <a:pt x="150019" y="14287"/>
                </a:cubicBezTo>
                <a:lnTo>
                  <a:pt x="145628" y="16483"/>
                </a:lnTo>
                <a:cubicBezTo>
                  <a:pt x="128922" y="24854"/>
                  <a:pt x="109240" y="24854"/>
                  <a:pt x="92497" y="16483"/>
                </a:cubicBezTo>
                <a:cubicBezTo>
                  <a:pt x="78953" y="9711"/>
                  <a:pt x="63364" y="8372"/>
                  <a:pt x="48890" y="12725"/>
                </a:cubicBezTo>
                <a:lnTo>
                  <a:pt x="23812" y="20241"/>
                </a:lnTo>
                <a:lnTo>
                  <a:pt x="23812" y="1190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3389313" y="554831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Dashboard Flag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389313" y="573881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Visual indicator on learner profile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63469" y="5195094"/>
            <a:ext cx="2738438" cy="833438"/>
          </a:xfrm>
          <a:custGeom>
            <a:avLst/>
            <a:gdLst/>
            <a:ahLst/>
            <a:cxnLst/>
            <a:rect l="l" t="t" r="r" b="b"/>
            <a:pathLst>
              <a:path w="2738438" h="833438">
                <a:moveTo>
                  <a:pt x="0" y="0"/>
                </a:moveTo>
                <a:lnTo>
                  <a:pt x="2738438" y="0"/>
                </a:lnTo>
                <a:lnTo>
                  <a:pt x="2738438" y="833438"/>
                </a:lnTo>
                <a:lnTo>
                  <a:pt x="0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37438" y="5294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6230938" y="554831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Email Alert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30938" y="573881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Optional email notification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05094" y="5195094"/>
            <a:ext cx="2738438" cy="833438"/>
          </a:xfrm>
          <a:custGeom>
            <a:avLst/>
            <a:gdLst/>
            <a:ahLst/>
            <a:cxnLst/>
            <a:rect l="l" t="t" r="r" b="b"/>
            <a:pathLst>
              <a:path w="2738438" h="833438">
                <a:moveTo>
                  <a:pt x="0" y="0"/>
                </a:moveTo>
                <a:lnTo>
                  <a:pt x="2738438" y="0"/>
                </a:lnTo>
                <a:lnTo>
                  <a:pt x="2738438" y="833438"/>
                </a:lnTo>
                <a:lnTo>
                  <a:pt x="0" y="8334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79063" y="5294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3" name="Text 61"/>
          <p:cNvSpPr/>
          <p:nvPr/>
        </p:nvSpPr>
        <p:spPr>
          <a:xfrm>
            <a:off x="9072563" y="554831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Trend Update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72563" y="573881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Class analytics recalculated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17500" y="6258719"/>
            <a:ext cx="11557000" cy="7938"/>
          </a:xfrm>
          <a:custGeom>
            <a:avLst/>
            <a:gdLst/>
            <a:ahLst/>
            <a:cxnLst/>
            <a:rect l="l" t="t" r="r" b="b"/>
            <a:pathLst>
              <a:path w="11557000" h="7938">
                <a:moveTo>
                  <a:pt x="0" y="0"/>
                </a:moveTo>
                <a:lnTo>
                  <a:pt x="11557000" y="0"/>
                </a:lnTo>
                <a:lnTo>
                  <a:pt x="11557000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66" name="Text 64"/>
          <p:cNvSpPr/>
          <p:nvPr/>
        </p:nvSpPr>
        <p:spPr>
          <a:xfrm>
            <a:off x="317500" y="6357938"/>
            <a:ext cx="1162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7.2 Alternative Flows: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If validation fails during step 4, error messages guide correction. If at-risk threshold not met in step 6, normal confirmation displays. Teachers can cancel at any point before step 5 with no data persistence.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spc="100" kern="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8. 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Implementation Tools &amp; Roadmap Forward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31875"/>
            <a:ext cx="3770313" cy="2317750"/>
          </a:xfrm>
          <a:custGeom>
            <a:avLst/>
            <a:gdLst/>
            <a:ahLst/>
            <a:cxnLst/>
            <a:rect l="l" t="t" r="r" b="b"/>
            <a:pathLst>
              <a:path w="3770313" h="2317750">
                <a:moveTo>
                  <a:pt x="0" y="0"/>
                </a:moveTo>
                <a:lnTo>
                  <a:pt x="3770313" y="0"/>
                </a:lnTo>
                <a:lnTo>
                  <a:pt x="3770313" y="2317750"/>
                </a:lnTo>
                <a:lnTo>
                  <a:pt x="0" y="2317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031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0" y="0"/>
                </a:moveTo>
                <a:lnTo>
                  <a:pt x="3770313" y="0"/>
                </a:lnTo>
                <a:lnTo>
                  <a:pt x="3770313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1182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163711"/>
                </a:lnTo>
                <a:cubicBezTo>
                  <a:pt x="0" y="180129"/>
                  <a:pt x="13348" y="193477"/>
                  <a:pt x="29766" y="193477"/>
                </a:cubicBezTo>
                <a:lnTo>
                  <a:pt x="96738" y="193477"/>
                </a:lnTo>
                <a:lnTo>
                  <a:pt x="89297" y="215801"/>
                </a:lnTo>
                <a:lnTo>
                  <a:pt x="55811" y="215801"/>
                </a:lnTo>
                <a:cubicBezTo>
                  <a:pt x="49625" y="215801"/>
                  <a:pt x="44648" y="220777"/>
                  <a:pt x="44648" y="226963"/>
                </a:cubicBezTo>
                <a:cubicBezTo>
                  <a:pt x="44648" y="233149"/>
                  <a:pt x="49625" y="238125"/>
                  <a:pt x="55811" y="238125"/>
                </a:cubicBezTo>
                <a:lnTo>
                  <a:pt x="182314" y="238125"/>
                </a:lnTo>
                <a:cubicBezTo>
                  <a:pt x="188500" y="238125"/>
                  <a:pt x="193477" y="233149"/>
                  <a:pt x="193477" y="226963"/>
                </a:cubicBezTo>
                <a:cubicBezTo>
                  <a:pt x="193477" y="220777"/>
                  <a:pt x="188500" y="215801"/>
                  <a:pt x="182314" y="215801"/>
                </a:cubicBezTo>
                <a:lnTo>
                  <a:pt x="148828" y="215801"/>
                </a:lnTo>
                <a:lnTo>
                  <a:pt x="141387" y="193477"/>
                </a:lnTo>
                <a:lnTo>
                  <a:pt x="208359" y="193477"/>
                </a:lnTo>
                <a:cubicBezTo>
                  <a:pt x="224777" y="193477"/>
                  <a:pt x="238125" y="180129"/>
                  <a:pt x="238125" y="163711"/>
                </a:cubicBezTo>
                <a:lnTo>
                  <a:pt x="238125" y="44648"/>
                </a:lnTo>
                <a:cubicBezTo>
                  <a:pt x="238125" y="28231"/>
                  <a:pt x="224777" y="14883"/>
                  <a:pt x="208359" y="14883"/>
                </a:cubicBezTo>
                <a:lnTo>
                  <a:pt x="29766" y="14883"/>
                </a:lnTo>
                <a:close/>
                <a:moveTo>
                  <a:pt x="44648" y="44648"/>
                </a:moveTo>
                <a:lnTo>
                  <a:pt x="193477" y="44648"/>
                </a:lnTo>
                <a:cubicBezTo>
                  <a:pt x="201709" y="44648"/>
                  <a:pt x="208359" y="51299"/>
                  <a:pt x="208359" y="59531"/>
                </a:cubicBezTo>
                <a:lnTo>
                  <a:pt x="208359" y="133945"/>
                </a:lnTo>
                <a:cubicBezTo>
                  <a:pt x="208359" y="142177"/>
                  <a:pt x="201709" y="148828"/>
                  <a:pt x="193477" y="148828"/>
                </a:cubicBezTo>
                <a:lnTo>
                  <a:pt x="44648" y="148828"/>
                </a:lnTo>
                <a:cubicBezTo>
                  <a:pt x="36416" y="148828"/>
                  <a:pt x="29766" y="142177"/>
                  <a:pt x="29766" y="133945"/>
                </a:cubicBezTo>
                <a:lnTo>
                  <a:pt x="29766" y="59531"/>
                </a:lnTo>
                <a:cubicBezTo>
                  <a:pt x="29766" y="51299"/>
                  <a:pt x="36416" y="44648"/>
                  <a:pt x="44648" y="4464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837406" y="1174750"/>
            <a:ext cx="865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469" y="1527969"/>
            <a:ext cx="3508375" cy="515938"/>
          </a:xfrm>
          <a:custGeom>
            <a:avLst/>
            <a:gdLst/>
            <a:ahLst/>
            <a:cxnLst/>
            <a:rect l="l" t="t" r="r" b="b"/>
            <a:pathLst>
              <a:path w="3508375" h="515938">
                <a:moveTo>
                  <a:pt x="0" y="0"/>
                </a:moveTo>
                <a:lnTo>
                  <a:pt x="3508375" y="0"/>
                </a:lnTo>
                <a:lnTo>
                  <a:pt x="350837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5938" y="159543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React.JS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5938" y="178593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Component-based UI library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8469" y="2115344"/>
            <a:ext cx="3508375" cy="515938"/>
          </a:xfrm>
          <a:custGeom>
            <a:avLst/>
            <a:gdLst/>
            <a:ahLst/>
            <a:cxnLst/>
            <a:rect l="l" t="t" r="r" b="b"/>
            <a:pathLst>
              <a:path w="3508375" h="515938">
                <a:moveTo>
                  <a:pt x="0" y="0"/>
                </a:moveTo>
                <a:lnTo>
                  <a:pt x="3508375" y="0"/>
                </a:lnTo>
                <a:lnTo>
                  <a:pt x="350837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938" y="21828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5938" y="23733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Type-safe development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8469" y="2702719"/>
            <a:ext cx="3508375" cy="515938"/>
          </a:xfrm>
          <a:custGeom>
            <a:avLst/>
            <a:gdLst/>
            <a:ahLst/>
            <a:cxnLst/>
            <a:rect l="l" t="t" r="r" b="b"/>
            <a:pathLst>
              <a:path w="3508375" h="515938">
                <a:moveTo>
                  <a:pt x="0" y="0"/>
                </a:moveTo>
                <a:lnTo>
                  <a:pt x="3508375" y="0"/>
                </a:lnTo>
                <a:lnTo>
                  <a:pt x="350837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938" y="277018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5938" y="296068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Utility-first styling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12084" y="1031875"/>
            <a:ext cx="3770313" cy="2317750"/>
          </a:xfrm>
          <a:custGeom>
            <a:avLst/>
            <a:gdLst/>
            <a:ahLst/>
            <a:cxnLst/>
            <a:rect l="l" t="t" r="r" b="b"/>
            <a:pathLst>
              <a:path w="3770313" h="2317750">
                <a:moveTo>
                  <a:pt x="0" y="0"/>
                </a:moveTo>
                <a:lnTo>
                  <a:pt x="3770313" y="0"/>
                </a:lnTo>
                <a:lnTo>
                  <a:pt x="3770313" y="2317750"/>
                </a:lnTo>
                <a:lnTo>
                  <a:pt x="0" y="2317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212084" y="1031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0" y="0"/>
                </a:moveTo>
                <a:lnTo>
                  <a:pt x="3770313" y="0"/>
                </a:lnTo>
                <a:lnTo>
                  <a:pt x="3770313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5717" y="1182688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74414"/>
                </a:lnTo>
                <a:cubicBezTo>
                  <a:pt x="0" y="90832"/>
                  <a:pt x="13348" y="104180"/>
                  <a:pt x="29766" y="104180"/>
                </a:cubicBezTo>
                <a:lnTo>
                  <a:pt x="178594" y="104180"/>
                </a:lnTo>
                <a:cubicBezTo>
                  <a:pt x="195011" y="104180"/>
                  <a:pt x="208359" y="90832"/>
                  <a:pt x="208359" y="74414"/>
                </a:cubicBezTo>
                <a:lnTo>
                  <a:pt x="208359" y="44648"/>
                </a:lnTo>
                <a:cubicBezTo>
                  <a:pt x="208359" y="28231"/>
                  <a:pt x="195011" y="14883"/>
                  <a:pt x="178594" y="14883"/>
                </a:cubicBezTo>
                <a:lnTo>
                  <a:pt x="29766" y="14883"/>
                </a:lnTo>
                <a:close/>
                <a:moveTo>
                  <a:pt x="130225" y="48369"/>
                </a:moveTo>
                <a:cubicBezTo>
                  <a:pt x="136385" y="48369"/>
                  <a:pt x="141387" y="53371"/>
                  <a:pt x="141387" y="59531"/>
                </a:cubicBezTo>
                <a:cubicBezTo>
                  <a:pt x="141387" y="65692"/>
                  <a:pt x="136385" y="70693"/>
                  <a:pt x="130225" y="70693"/>
                </a:cubicBezTo>
                <a:cubicBezTo>
                  <a:pt x="124064" y="70693"/>
                  <a:pt x="119062" y="65692"/>
                  <a:pt x="119062" y="59531"/>
                </a:cubicBezTo>
                <a:cubicBezTo>
                  <a:pt x="119062" y="53371"/>
                  <a:pt x="124064" y="48369"/>
                  <a:pt x="130225" y="48369"/>
                </a:cubicBezTo>
                <a:close/>
                <a:moveTo>
                  <a:pt x="156270" y="59531"/>
                </a:moveTo>
                <a:cubicBezTo>
                  <a:pt x="156270" y="53371"/>
                  <a:pt x="161271" y="48369"/>
                  <a:pt x="167432" y="48369"/>
                </a:cubicBezTo>
                <a:cubicBezTo>
                  <a:pt x="173592" y="48369"/>
                  <a:pt x="178594" y="53371"/>
                  <a:pt x="178594" y="59531"/>
                </a:cubicBezTo>
                <a:cubicBezTo>
                  <a:pt x="178594" y="65692"/>
                  <a:pt x="173592" y="70693"/>
                  <a:pt x="167432" y="70693"/>
                </a:cubicBezTo>
                <a:cubicBezTo>
                  <a:pt x="161271" y="70693"/>
                  <a:pt x="156270" y="65692"/>
                  <a:pt x="156270" y="59531"/>
                </a:cubicBezTo>
                <a:close/>
                <a:moveTo>
                  <a:pt x="29766" y="133945"/>
                </a:moveTo>
                <a:cubicBezTo>
                  <a:pt x="13348" y="133945"/>
                  <a:pt x="0" y="147293"/>
                  <a:pt x="0" y="163711"/>
                </a:cubicBezTo>
                <a:lnTo>
                  <a:pt x="0" y="193477"/>
                </a:lnTo>
                <a:cubicBezTo>
                  <a:pt x="0" y="209894"/>
                  <a:pt x="13348" y="223242"/>
                  <a:pt x="29766" y="223242"/>
                </a:cubicBezTo>
                <a:lnTo>
                  <a:pt x="178594" y="223242"/>
                </a:lnTo>
                <a:cubicBezTo>
                  <a:pt x="195011" y="223242"/>
                  <a:pt x="208359" y="209894"/>
                  <a:pt x="208359" y="193477"/>
                </a:cubicBezTo>
                <a:lnTo>
                  <a:pt x="208359" y="163711"/>
                </a:lnTo>
                <a:cubicBezTo>
                  <a:pt x="208359" y="147293"/>
                  <a:pt x="195011" y="133945"/>
                  <a:pt x="178594" y="133945"/>
                </a:cubicBezTo>
                <a:lnTo>
                  <a:pt x="29766" y="133945"/>
                </a:lnTo>
                <a:close/>
                <a:moveTo>
                  <a:pt x="130225" y="167432"/>
                </a:moveTo>
                <a:cubicBezTo>
                  <a:pt x="136385" y="167432"/>
                  <a:pt x="141387" y="172433"/>
                  <a:pt x="141387" y="178594"/>
                </a:cubicBezTo>
                <a:cubicBezTo>
                  <a:pt x="141387" y="184754"/>
                  <a:pt x="136385" y="189756"/>
                  <a:pt x="130225" y="189756"/>
                </a:cubicBezTo>
                <a:cubicBezTo>
                  <a:pt x="124064" y="189756"/>
                  <a:pt x="119062" y="184754"/>
                  <a:pt x="119062" y="178594"/>
                </a:cubicBezTo>
                <a:cubicBezTo>
                  <a:pt x="119062" y="172433"/>
                  <a:pt x="124064" y="167432"/>
                  <a:pt x="130225" y="167432"/>
                </a:cubicBezTo>
                <a:close/>
                <a:moveTo>
                  <a:pt x="156270" y="178594"/>
                </a:moveTo>
                <a:cubicBezTo>
                  <a:pt x="156270" y="172433"/>
                  <a:pt x="161271" y="167432"/>
                  <a:pt x="167432" y="167432"/>
                </a:cubicBezTo>
                <a:cubicBezTo>
                  <a:pt x="173592" y="167432"/>
                  <a:pt x="178594" y="172433"/>
                  <a:pt x="178594" y="178594"/>
                </a:cubicBezTo>
                <a:cubicBezTo>
                  <a:pt x="178594" y="184754"/>
                  <a:pt x="173592" y="189756"/>
                  <a:pt x="167432" y="189756"/>
                </a:cubicBezTo>
                <a:cubicBezTo>
                  <a:pt x="161271" y="189756"/>
                  <a:pt x="156270" y="184754"/>
                  <a:pt x="156270" y="17859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31990" y="1174750"/>
            <a:ext cx="180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Backend &amp; Database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343053" y="1527969"/>
            <a:ext cx="3508375" cy="515938"/>
          </a:xfrm>
          <a:custGeom>
            <a:avLst/>
            <a:gdLst/>
            <a:ahLst/>
            <a:cxnLst/>
            <a:rect l="l" t="t" r="r" b="b"/>
            <a:pathLst>
              <a:path w="3508375" h="515938">
                <a:moveTo>
                  <a:pt x="0" y="0"/>
                </a:moveTo>
                <a:lnTo>
                  <a:pt x="3508375" y="0"/>
                </a:lnTo>
                <a:lnTo>
                  <a:pt x="350837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10521" y="159543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10521" y="178593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Open-source Firebase alternative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43053" y="2115344"/>
            <a:ext cx="3508375" cy="515938"/>
          </a:xfrm>
          <a:custGeom>
            <a:avLst/>
            <a:gdLst/>
            <a:ahLst/>
            <a:cxnLst/>
            <a:rect l="l" t="t" r="r" b="b"/>
            <a:pathLst>
              <a:path w="3508375" h="515938">
                <a:moveTo>
                  <a:pt x="0" y="0"/>
                </a:moveTo>
                <a:lnTo>
                  <a:pt x="3508375" y="0"/>
                </a:lnTo>
                <a:lnTo>
                  <a:pt x="350837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0521" y="21828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10521" y="23733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Relational database system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43053" y="2702719"/>
            <a:ext cx="3508375" cy="515938"/>
          </a:xfrm>
          <a:custGeom>
            <a:avLst/>
            <a:gdLst/>
            <a:ahLst/>
            <a:cxnLst/>
            <a:rect l="l" t="t" r="r" b="b"/>
            <a:pathLst>
              <a:path w="3508375" h="515938">
                <a:moveTo>
                  <a:pt x="0" y="0"/>
                </a:moveTo>
                <a:lnTo>
                  <a:pt x="3508375" y="0"/>
                </a:lnTo>
                <a:lnTo>
                  <a:pt x="350837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10521" y="277018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REST API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10521" y="296068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Standardized data exchange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6792" y="1031875"/>
            <a:ext cx="3770313" cy="2317750"/>
          </a:xfrm>
          <a:custGeom>
            <a:avLst/>
            <a:gdLst/>
            <a:ahLst/>
            <a:cxnLst/>
            <a:rect l="l" t="t" r="r" b="b"/>
            <a:pathLst>
              <a:path w="3770313" h="2317750">
                <a:moveTo>
                  <a:pt x="0" y="0"/>
                </a:moveTo>
                <a:lnTo>
                  <a:pt x="3770313" y="0"/>
                </a:lnTo>
                <a:lnTo>
                  <a:pt x="3770313" y="2317750"/>
                </a:lnTo>
                <a:lnTo>
                  <a:pt x="0" y="23177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6792" y="1031875"/>
            <a:ext cx="3770313" cy="31750"/>
          </a:xfrm>
          <a:custGeom>
            <a:avLst/>
            <a:gdLst/>
            <a:ahLst/>
            <a:cxnLst/>
            <a:rect l="l" t="t" r="r" b="b"/>
            <a:pathLst>
              <a:path w="3770313" h="31750">
                <a:moveTo>
                  <a:pt x="0" y="0"/>
                </a:moveTo>
                <a:lnTo>
                  <a:pt x="3770313" y="0"/>
                </a:lnTo>
                <a:lnTo>
                  <a:pt x="3770313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8250659" y="1182688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66973" y="223242"/>
                </a:moveTo>
                <a:cubicBezTo>
                  <a:pt x="29998" y="223242"/>
                  <a:pt x="0" y="193244"/>
                  <a:pt x="0" y="156270"/>
                </a:cubicBezTo>
                <a:cubicBezTo>
                  <a:pt x="0" y="126783"/>
                  <a:pt x="19069" y="101761"/>
                  <a:pt x="45532" y="92785"/>
                </a:cubicBezTo>
                <a:cubicBezTo>
                  <a:pt x="44927" y="89204"/>
                  <a:pt x="44648" y="85576"/>
                  <a:pt x="44648" y="81855"/>
                </a:cubicBezTo>
                <a:cubicBezTo>
                  <a:pt x="44648" y="44881"/>
                  <a:pt x="74647" y="14883"/>
                  <a:pt x="111621" y="14883"/>
                </a:cubicBezTo>
                <a:cubicBezTo>
                  <a:pt x="137387" y="14883"/>
                  <a:pt x="159758" y="29440"/>
                  <a:pt x="170966" y="50741"/>
                </a:cubicBezTo>
                <a:cubicBezTo>
                  <a:pt x="177571" y="46881"/>
                  <a:pt x="185291" y="44648"/>
                  <a:pt x="193477" y="44648"/>
                </a:cubicBezTo>
                <a:cubicBezTo>
                  <a:pt x="218126" y="44648"/>
                  <a:pt x="238125" y="64647"/>
                  <a:pt x="238125" y="89297"/>
                </a:cubicBezTo>
                <a:cubicBezTo>
                  <a:pt x="238125" y="96599"/>
                  <a:pt x="236358" y="103529"/>
                  <a:pt x="233242" y="109621"/>
                </a:cubicBezTo>
                <a:cubicBezTo>
                  <a:pt x="253705" y="119062"/>
                  <a:pt x="267891" y="139712"/>
                  <a:pt x="267891" y="163711"/>
                </a:cubicBezTo>
                <a:cubicBezTo>
                  <a:pt x="267891" y="196593"/>
                  <a:pt x="241241" y="223242"/>
                  <a:pt x="208359" y="223242"/>
                </a:cubicBezTo>
                <a:lnTo>
                  <a:pt x="66973" y="223242"/>
                </a:lnTo>
                <a:close/>
                <a:moveTo>
                  <a:pt x="141852" y="88832"/>
                </a:moveTo>
                <a:cubicBezTo>
                  <a:pt x="137480" y="84460"/>
                  <a:pt x="130411" y="84460"/>
                  <a:pt x="126085" y="88832"/>
                </a:cubicBezTo>
                <a:lnTo>
                  <a:pt x="92599" y="122318"/>
                </a:lnTo>
                <a:cubicBezTo>
                  <a:pt x="88227" y="126690"/>
                  <a:pt x="88227" y="133759"/>
                  <a:pt x="92599" y="138085"/>
                </a:cubicBezTo>
                <a:cubicBezTo>
                  <a:pt x="96971" y="142410"/>
                  <a:pt x="104040" y="142456"/>
                  <a:pt x="108365" y="138085"/>
                </a:cubicBezTo>
                <a:lnTo>
                  <a:pt x="122783" y="123667"/>
                </a:lnTo>
                <a:lnTo>
                  <a:pt x="122783" y="171152"/>
                </a:lnTo>
                <a:cubicBezTo>
                  <a:pt x="122783" y="177338"/>
                  <a:pt x="127760" y="182314"/>
                  <a:pt x="133945" y="182314"/>
                </a:cubicBezTo>
                <a:cubicBezTo>
                  <a:pt x="140131" y="182314"/>
                  <a:pt x="145107" y="177338"/>
                  <a:pt x="145107" y="171152"/>
                </a:cubicBezTo>
                <a:lnTo>
                  <a:pt x="145107" y="123667"/>
                </a:lnTo>
                <a:lnTo>
                  <a:pt x="159525" y="138085"/>
                </a:lnTo>
                <a:cubicBezTo>
                  <a:pt x="163897" y="142456"/>
                  <a:pt x="170966" y="142456"/>
                  <a:pt x="175292" y="138085"/>
                </a:cubicBezTo>
                <a:cubicBezTo>
                  <a:pt x="179617" y="133713"/>
                  <a:pt x="179663" y="126643"/>
                  <a:pt x="175292" y="122318"/>
                </a:cubicBezTo>
                <a:lnTo>
                  <a:pt x="141805" y="8883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626698" y="1174750"/>
            <a:ext cx="1119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237761" y="1527969"/>
            <a:ext cx="3508375" cy="515938"/>
          </a:xfrm>
          <a:custGeom>
            <a:avLst/>
            <a:gdLst/>
            <a:ahLst/>
            <a:cxnLst/>
            <a:rect l="l" t="t" r="r" b="b"/>
            <a:pathLst>
              <a:path w="3508375" h="515938">
                <a:moveTo>
                  <a:pt x="0" y="0"/>
                </a:moveTo>
                <a:lnTo>
                  <a:pt x="3508375" y="0"/>
                </a:lnTo>
                <a:lnTo>
                  <a:pt x="350837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5229" y="159543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Vercel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05229" y="178593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Cloud deployment platform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37761" y="2115344"/>
            <a:ext cx="3508375" cy="515938"/>
          </a:xfrm>
          <a:custGeom>
            <a:avLst/>
            <a:gdLst/>
            <a:ahLst/>
            <a:cxnLst/>
            <a:rect l="l" t="t" r="r" b="b"/>
            <a:pathLst>
              <a:path w="3508375" h="515938">
                <a:moveTo>
                  <a:pt x="0" y="0"/>
                </a:moveTo>
                <a:lnTo>
                  <a:pt x="3508375" y="0"/>
                </a:lnTo>
                <a:lnTo>
                  <a:pt x="350837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5229" y="21828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School IT Servers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05229" y="2373313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On-premises alternative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37761" y="2702719"/>
            <a:ext cx="3508375" cy="515938"/>
          </a:xfrm>
          <a:custGeom>
            <a:avLst/>
            <a:gdLst/>
            <a:ahLst/>
            <a:cxnLst/>
            <a:rect l="l" t="t" r="r" b="b"/>
            <a:pathLst>
              <a:path w="3508375" h="515938">
                <a:moveTo>
                  <a:pt x="0" y="0"/>
                </a:moveTo>
                <a:lnTo>
                  <a:pt x="3508375" y="0"/>
                </a:lnTo>
                <a:lnTo>
                  <a:pt x="3508375" y="515938"/>
                </a:lnTo>
                <a:lnTo>
                  <a:pt x="0" y="51593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05229" y="277018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05229" y="2960688"/>
            <a:ext cx="343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deployment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17500" y="3476625"/>
            <a:ext cx="11557000" cy="920750"/>
          </a:xfrm>
          <a:custGeom>
            <a:avLst/>
            <a:gdLst/>
            <a:ahLst/>
            <a:cxnLst/>
            <a:rect l="l" t="t" r="r" b="b"/>
            <a:pathLst>
              <a:path w="11557000" h="920750">
                <a:moveTo>
                  <a:pt x="0" y="0"/>
                </a:moveTo>
                <a:lnTo>
                  <a:pt x="11557000" y="0"/>
                </a:lnTo>
                <a:lnTo>
                  <a:pt x="11557000" y="920750"/>
                </a:lnTo>
                <a:lnTo>
                  <a:pt x="0" y="9207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464344" y="361156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9453" y="0"/>
                </a:moveTo>
                <a:cubicBezTo>
                  <a:pt x="80398" y="0"/>
                  <a:pt x="89297" y="6666"/>
                  <a:pt x="89297" y="14883"/>
                </a:cubicBezTo>
                <a:cubicBezTo>
                  <a:pt x="89297" y="18107"/>
                  <a:pt x="87933" y="21084"/>
                  <a:pt x="85576" y="23533"/>
                </a:cubicBezTo>
                <a:cubicBezTo>
                  <a:pt x="83530" y="25673"/>
                  <a:pt x="81855" y="28277"/>
                  <a:pt x="81855" y="31254"/>
                </a:cubicBezTo>
                <a:cubicBezTo>
                  <a:pt x="81855" y="35905"/>
                  <a:pt x="85638" y="39688"/>
                  <a:pt x="90289" y="39688"/>
                </a:cubicBezTo>
                <a:lnTo>
                  <a:pt x="104180" y="39688"/>
                </a:lnTo>
                <a:cubicBezTo>
                  <a:pt x="112396" y="39688"/>
                  <a:pt x="119062" y="46354"/>
                  <a:pt x="119062" y="54570"/>
                </a:cubicBezTo>
                <a:lnTo>
                  <a:pt x="119062" y="68461"/>
                </a:lnTo>
                <a:cubicBezTo>
                  <a:pt x="119062" y="73112"/>
                  <a:pt x="122845" y="76895"/>
                  <a:pt x="127496" y="76895"/>
                </a:cubicBezTo>
                <a:cubicBezTo>
                  <a:pt x="130442" y="76895"/>
                  <a:pt x="133077" y="75220"/>
                  <a:pt x="135217" y="73174"/>
                </a:cubicBezTo>
                <a:cubicBezTo>
                  <a:pt x="137666" y="70848"/>
                  <a:pt x="140643" y="69453"/>
                  <a:pt x="143867" y="69453"/>
                </a:cubicBezTo>
                <a:cubicBezTo>
                  <a:pt x="152084" y="69453"/>
                  <a:pt x="158750" y="78352"/>
                  <a:pt x="158750" y="89297"/>
                </a:cubicBezTo>
                <a:cubicBezTo>
                  <a:pt x="158750" y="100242"/>
                  <a:pt x="152084" y="109141"/>
                  <a:pt x="143867" y="109141"/>
                </a:cubicBezTo>
                <a:cubicBezTo>
                  <a:pt x="140643" y="109141"/>
                  <a:pt x="137635" y="107776"/>
                  <a:pt x="135217" y="105420"/>
                </a:cubicBezTo>
                <a:cubicBezTo>
                  <a:pt x="133077" y="103374"/>
                  <a:pt x="130473" y="101699"/>
                  <a:pt x="127496" y="101699"/>
                </a:cubicBezTo>
                <a:cubicBezTo>
                  <a:pt x="122845" y="101699"/>
                  <a:pt x="119062" y="105482"/>
                  <a:pt x="119062" y="110133"/>
                </a:cubicBezTo>
                <a:lnTo>
                  <a:pt x="119062" y="143867"/>
                </a:lnTo>
                <a:cubicBezTo>
                  <a:pt x="119062" y="152084"/>
                  <a:pt x="112396" y="158750"/>
                  <a:pt x="104180" y="158750"/>
                </a:cubicBezTo>
                <a:lnTo>
                  <a:pt x="86568" y="158750"/>
                </a:lnTo>
                <a:cubicBezTo>
                  <a:pt x="82600" y="158750"/>
                  <a:pt x="79375" y="155525"/>
                  <a:pt x="79375" y="151557"/>
                </a:cubicBezTo>
                <a:cubicBezTo>
                  <a:pt x="79375" y="148704"/>
                  <a:pt x="81173" y="146193"/>
                  <a:pt x="83468" y="144487"/>
                </a:cubicBezTo>
                <a:cubicBezTo>
                  <a:pt x="87064" y="141790"/>
                  <a:pt x="89297" y="138069"/>
                  <a:pt x="89297" y="133945"/>
                </a:cubicBezTo>
                <a:cubicBezTo>
                  <a:pt x="89297" y="125729"/>
                  <a:pt x="80398" y="119062"/>
                  <a:pt x="69453" y="119062"/>
                </a:cubicBezTo>
                <a:cubicBezTo>
                  <a:pt x="58508" y="119062"/>
                  <a:pt x="49609" y="125729"/>
                  <a:pt x="49609" y="133945"/>
                </a:cubicBezTo>
                <a:cubicBezTo>
                  <a:pt x="49609" y="138069"/>
                  <a:pt x="51842" y="141790"/>
                  <a:pt x="55438" y="144487"/>
                </a:cubicBezTo>
                <a:cubicBezTo>
                  <a:pt x="57733" y="146193"/>
                  <a:pt x="59531" y="148673"/>
                  <a:pt x="59531" y="151557"/>
                </a:cubicBezTo>
                <a:cubicBezTo>
                  <a:pt x="59531" y="155525"/>
                  <a:pt x="56307" y="158750"/>
                  <a:pt x="52338" y="158750"/>
                </a:cubicBezTo>
                <a:lnTo>
                  <a:pt x="14883" y="158750"/>
                </a:lnTo>
                <a:cubicBezTo>
                  <a:pt x="6666" y="158750"/>
                  <a:pt x="0" y="152084"/>
                  <a:pt x="0" y="143867"/>
                </a:cubicBezTo>
                <a:lnTo>
                  <a:pt x="0" y="106412"/>
                </a:lnTo>
                <a:cubicBezTo>
                  <a:pt x="0" y="102443"/>
                  <a:pt x="3225" y="99219"/>
                  <a:pt x="7193" y="99219"/>
                </a:cubicBezTo>
                <a:cubicBezTo>
                  <a:pt x="10046" y="99219"/>
                  <a:pt x="12557" y="101017"/>
                  <a:pt x="14263" y="103312"/>
                </a:cubicBezTo>
                <a:cubicBezTo>
                  <a:pt x="16960" y="106908"/>
                  <a:pt x="20681" y="109141"/>
                  <a:pt x="24805" y="109141"/>
                </a:cubicBezTo>
                <a:cubicBezTo>
                  <a:pt x="33021" y="109141"/>
                  <a:pt x="39688" y="100242"/>
                  <a:pt x="39688" y="89297"/>
                </a:cubicBezTo>
                <a:cubicBezTo>
                  <a:pt x="39688" y="78352"/>
                  <a:pt x="33021" y="69453"/>
                  <a:pt x="24805" y="69453"/>
                </a:cubicBezTo>
                <a:cubicBezTo>
                  <a:pt x="20681" y="69453"/>
                  <a:pt x="16960" y="71686"/>
                  <a:pt x="14263" y="75282"/>
                </a:cubicBezTo>
                <a:cubicBezTo>
                  <a:pt x="12557" y="77577"/>
                  <a:pt x="10077" y="79375"/>
                  <a:pt x="7193" y="79375"/>
                </a:cubicBezTo>
                <a:cubicBezTo>
                  <a:pt x="3225" y="79375"/>
                  <a:pt x="0" y="76150"/>
                  <a:pt x="0" y="72182"/>
                </a:cubicBezTo>
                <a:lnTo>
                  <a:pt x="0" y="54570"/>
                </a:lnTo>
                <a:cubicBezTo>
                  <a:pt x="0" y="46354"/>
                  <a:pt x="6666" y="39688"/>
                  <a:pt x="14883" y="39688"/>
                </a:cubicBezTo>
                <a:lnTo>
                  <a:pt x="48617" y="39688"/>
                </a:lnTo>
                <a:cubicBezTo>
                  <a:pt x="53268" y="39688"/>
                  <a:pt x="57051" y="35905"/>
                  <a:pt x="57051" y="31254"/>
                </a:cubicBezTo>
                <a:cubicBezTo>
                  <a:pt x="57051" y="28308"/>
                  <a:pt x="55376" y="25673"/>
                  <a:pt x="53330" y="23533"/>
                </a:cubicBezTo>
                <a:cubicBezTo>
                  <a:pt x="51005" y="21084"/>
                  <a:pt x="49609" y="18107"/>
                  <a:pt x="49609" y="14883"/>
                </a:cubicBezTo>
                <a:cubicBezTo>
                  <a:pt x="49609" y="6666"/>
                  <a:pt x="58508" y="0"/>
                  <a:pt x="69453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5" name="Text 43"/>
          <p:cNvSpPr/>
          <p:nvPr/>
        </p:nvSpPr>
        <p:spPr>
          <a:xfrm>
            <a:off x="682625" y="3603625"/>
            <a:ext cx="11144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Additional Features &amp; Integrations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55414" y="3952875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26789" y="0"/>
                </a:moveTo>
                <a:cubicBezTo>
                  <a:pt x="16939" y="0"/>
                  <a:pt x="8930" y="8009"/>
                  <a:pt x="8930" y="17859"/>
                </a:cubicBezTo>
                <a:lnTo>
                  <a:pt x="8930" y="125016"/>
                </a:lnTo>
                <a:cubicBezTo>
                  <a:pt x="8930" y="134866"/>
                  <a:pt x="16939" y="142875"/>
                  <a:pt x="26789" y="142875"/>
                </a:cubicBezTo>
                <a:lnTo>
                  <a:pt x="49113" y="142875"/>
                </a:lnTo>
                <a:lnTo>
                  <a:pt x="49113" y="111621"/>
                </a:lnTo>
                <a:cubicBezTo>
                  <a:pt x="49113" y="101771"/>
                  <a:pt x="57122" y="93762"/>
                  <a:pt x="66973" y="93762"/>
                </a:cubicBezTo>
                <a:lnTo>
                  <a:pt x="116086" y="93762"/>
                </a:lnTo>
                <a:lnTo>
                  <a:pt x="116086" y="47578"/>
                </a:lnTo>
                <a:cubicBezTo>
                  <a:pt x="116086" y="42835"/>
                  <a:pt x="114216" y="38286"/>
                  <a:pt x="110868" y="34937"/>
                </a:cubicBezTo>
                <a:lnTo>
                  <a:pt x="81121" y="5218"/>
                </a:lnTo>
                <a:cubicBezTo>
                  <a:pt x="77772" y="1870"/>
                  <a:pt x="73251" y="0"/>
                  <a:pt x="68507" y="0"/>
                </a:cubicBezTo>
                <a:lnTo>
                  <a:pt x="26789" y="0"/>
                </a:lnTo>
                <a:close/>
                <a:moveTo>
                  <a:pt x="99761" y="49113"/>
                </a:moveTo>
                <a:lnTo>
                  <a:pt x="73670" y="49113"/>
                </a:lnTo>
                <a:cubicBezTo>
                  <a:pt x="69959" y="49113"/>
                  <a:pt x="66973" y="46127"/>
                  <a:pt x="66973" y="42416"/>
                </a:cubicBezTo>
                <a:lnTo>
                  <a:pt x="66973" y="16325"/>
                </a:lnTo>
                <a:lnTo>
                  <a:pt x="99761" y="49113"/>
                </a:lnTo>
                <a:close/>
                <a:moveTo>
                  <a:pt x="73670" y="106040"/>
                </a:moveTo>
                <a:cubicBezTo>
                  <a:pt x="66889" y="106040"/>
                  <a:pt x="61392" y="111537"/>
                  <a:pt x="61392" y="118318"/>
                </a:cubicBezTo>
                <a:lnTo>
                  <a:pt x="61392" y="140643"/>
                </a:lnTo>
                <a:cubicBezTo>
                  <a:pt x="61392" y="147424"/>
                  <a:pt x="66889" y="152921"/>
                  <a:pt x="73670" y="152921"/>
                </a:cubicBezTo>
                <a:lnTo>
                  <a:pt x="78135" y="152921"/>
                </a:lnTo>
                <a:cubicBezTo>
                  <a:pt x="84916" y="152921"/>
                  <a:pt x="90413" y="147424"/>
                  <a:pt x="90413" y="140643"/>
                </a:cubicBezTo>
                <a:lnTo>
                  <a:pt x="90413" y="138410"/>
                </a:lnTo>
                <a:cubicBezTo>
                  <a:pt x="90413" y="135341"/>
                  <a:pt x="87902" y="132829"/>
                  <a:pt x="84832" y="132829"/>
                </a:cubicBezTo>
                <a:cubicBezTo>
                  <a:pt x="81762" y="132829"/>
                  <a:pt x="79251" y="135341"/>
                  <a:pt x="79251" y="138410"/>
                </a:cubicBezTo>
                <a:lnTo>
                  <a:pt x="79251" y="140643"/>
                </a:lnTo>
                <a:cubicBezTo>
                  <a:pt x="79251" y="141256"/>
                  <a:pt x="78749" y="141759"/>
                  <a:pt x="78135" y="141759"/>
                </a:cubicBezTo>
                <a:lnTo>
                  <a:pt x="73670" y="141759"/>
                </a:lnTo>
                <a:cubicBezTo>
                  <a:pt x="73056" y="141759"/>
                  <a:pt x="72554" y="141256"/>
                  <a:pt x="72554" y="140643"/>
                </a:cubicBezTo>
                <a:lnTo>
                  <a:pt x="72554" y="118318"/>
                </a:lnTo>
                <a:cubicBezTo>
                  <a:pt x="72554" y="117704"/>
                  <a:pt x="73056" y="117202"/>
                  <a:pt x="73670" y="117202"/>
                </a:cubicBezTo>
                <a:lnTo>
                  <a:pt x="78135" y="117202"/>
                </a:lnTo>
                <a:cubicBezTo>
                  <a:pt x="78749" y="117202"/>
                  <a:pt x="79251" y="117704"/>
                  <a:pt x="79251" y="118318"/>
                </a:cubicBezTo>
                <a:lnTo>
                  <a:pt x="79251" y="120551"/>
                </a:lnTo>
                <a:cubicBezTo>
                  <a:pt x="79251" y="123620"/>
                  <a:pt x="81762" y="126132"/>
                  <a:pt x="84832" y="126132"/>
                </a:cubicBezTo>
                <a:cubicBezTo>
                  <a:pt x="87902" y="126132"/>
                  <a:pt x="90413" y="123620"/>
                  <a:pt x="90413" y="120551"/>
                </a:cubicBezTo>
                <a:lnTo>
                  <a:pt x="90413" y="118318"/>
                </a:lnTo>
                <a:cubicBezTo>
                  <a:pt x="90413" y="111537"/>
                  <a:pt x="84916" y="106040"/>
                  <a:pt x="78135" y="106040"/>
                </a:cubicBezTo>
                <a:lnTo>
                  <a:pt x="73670" y="106040"/>
                </a:lnTo>
                <a:close/>
                <a:moveTo>
                  <a:pt x="111621" y="106040"/>
                </a:moveTo>
                <a:cubicBezTo>
                  <a:pt x="103612" y="106040"/>
                  <a:pt x="97110" y="112542"/>
                  <a:pt x="97110" y="120551"/>
                </a:cubicBezTo>
                <a:cubicBezTo>
                  <a:pt x="97110" y="128560"/>
                  <a:pt x="103612" y="135062"/>
                  <a:pt x="111621" y="135062"/>
                </a:cubicBezTo>
                <a:cubicBezTo>
                  <a:pt x="113463" y="135062"/>
                  <a:pt x="114970" y="136568"/>
                  <a:pt x="114970" y="138410"/>
                </a:cubicBezTo>
                <a:cubicBezTo>
                  <a:pt x="114970" y="140252"/>
                  <a:pt x="113463" y="141759"/>
                  <a:pt x="111621" y="141759"/>
                </a:cubicBezTo>
                <a:lnTo>
                  <a:pt x="102691" y="141759"/>
                </a:lnTo>
                <a:cubicBezTo>
                  <a:pt x="99622" y="141759"/>
                  <a:pt x="97110" y="144270"/>
                  <a:pt x="97110" y="147340"/>
                </a:cubicBezTo>
                <a:cubicBezTo>
                  <a:pt x="97110" y="150409"/>
                  <a:pt x="99622" y="152921"/>
                  <a:pt x="102691" y="152921"/>
                </a:cubicBezTo>
                <a:lnTo>
                  <a:pt x="111621" y="152921"/>
                </a:lnTo>
                <a:cubicBezTo>
                  <a:pt x="119630" y="152921"/>
                  <a:pt x="126132" y="146419"/>
                  <a:pt x="126132" y="138410"/>
                </a:cubicBezTo>
                <a:cubicBezTo>
                  <a:pt x="126132" y="130401"/>
                  <a:pt x="119630" y="123899"/>
                  <a:pt x="111621" y="123899"/>
                </a:cubicBezTo>
                <a:cubicBezTo>
                  <a:pt x="109779" y="123899"/>
                  <a:pt x="108272" y="122393"/>
                  <a:pt x="108272" y="120551"/>
                </a:cubicBezTo>
                <a:cubicBezTo>
                  <a:pt x="108272" y="118709"/>
                  <a:pt x="109779" y="117202"/>
                  <a:pt x="111621" y="117202"/>
                </a:cubicBezTo>
                <a:lnTo>
                  <a:pt x="118318" y="117202"/>
                </a:lnTo>
                <a:cubicBezTo>
                  <a:pt x="121388" y="117202"/>
                  <a:pt x="123899" y="114691"/>
                  <a:pt x="123899" y="111621"/>
                </a:cubicBezTo>
                <a:cubicBezTo>
                  <a:pt x="123899" y="108552"/>
                  <a:pt x="121388" y="106040"/>
                  <a:pt x="118318" y="106040"/>
                </a:cubicBezTo>
                <a:lnTo>
                  <a:pt x="111621" y="106040"/>
                </a:lnTo>
                <a:close/>
                <a:moveTo>
                  <a:pt x="138410" y="106040"/>
                </a:moveTo>
                <a:cubicBezTo>
                  <a:pt x="135341" y="106040"/>
                  <a:pt x="132829" y="108552"/>
                  <a:pt x="132829" y="111621"/>
                </a:cubicBezTo>
                <a:lnTo>
                  <a:pt x="132829" y="120439"/>
                </a:lnTo>
                <a:cubicBezTo>
                  <a:pt x="132829" y="130346"/>
                  <a:pt x="135759" y="140057"/>
                  <a:pt x="141256" y="148289"/>
                </a:cubicBezTo>
                <a:lnTo>
                  <a:pt x="142680" y="150437"/>
                </a:lnTo>
                <a:cubicBezTo>
                  <a:pt x="143712" y="152000"/>
                  <a:pt x="145470" y="152921"/>
                  <a:pt x="147312" y="152921"/>
                </a:cubicBezTo>
                <a:cubicBezTo>
                  <a:pt x="149154" y="152921"/>
                  <a:pt x="150912" y="152000"/>
                  <a:pt x="151944" y="150437"/>
                </a:cubicBezTo>
                <a:lnTo>
                  <a:pt x="153367" y="148289"/>
                </a:lnTo>
                <a:cubicBezTo>
                  <a:pt x="158865" y="140029"/>
                  <a:pt x="161795" y="130346"/>
                  <a:pt x="161795" y="120439"/>
                </a:cubicBezTo>
                <a:lnTo>
                  <a:pt x="161795" y="111621"/>
                </a:lnTo>
                <a:cubicBezTo>
                  <a:pt x="161795" y="108552"/>
                  <a:pt x="159283" y="106040"/>
                  <a:pt x="156214" y="106040"/>
                </a:cubicBezTo>
                <a:cubicBezTo>
                  <a:pt x="153144" y="106040"/>
                  <a:pt x="150633" y="108552"/>
                  <a:pt x="150633" y="111621"/>
                </a:cubicBezTo>
                <a:lnTo>
                  <a:pt x="150633" y="120439"/>
                </a:lnTo>
                <a:cubicBezTo>
                  <a:pt x="150633" y="125909"/>
                  <a:pt x="149489" y="131294"/>
                  <a:pt x="147284" y="136261"/>
                </a:cubicBezTo>
                <a:cubicBezTo>
                  <a:pt x="145080" y="131294"/>
                  <a:pt x="143935" y="125909"/>
                  <a:pt x="143935" y="120439"/>
                </a:cubicBezTo>
                <a:lnTo>
                  <a:pt x="143935" y="111621"/>
                </a:lnTo>
                <a:cubicBezTo>
                  <a:pt x="143935" y="108552"/>
                  <a:pt x="141424" y="106040"/>
                  <a:pt x="138354" y="10604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7" name="Text 45"/>
          <p:cNvSpPr/>
          <p:nvPr/>
        </p:nvSpPr>
        <p:spPr>
          <a:xfrm>
            <a:off x="686594" y="3921125"/>
            <a:ext cx="118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CSV Import/Export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6594" y="4111625"/>
            <a:ext cx="117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Bulk data operations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296047" y="3952875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48903" y="9069"/>
                </a:moveTo>
                <a:cubicBezTo>
                  <a:pt x="146028" y="6725"/>
                  <a:pt x="141815" y="7172"/>
                  <a:pt x="139471" y="10046"/>
                </a:cubicBezTo>
                <a:cubicBezTo>
                  <a:pt x="137127" y="12920"/>
                  <a:pt x="137573" y="17134"/>
                  <a:pt x="140447" y="19478"/>
                </a:cubicBezTo>
                <a:cubicBezTo>
                  <a:pt x="155572" y="31756"/>
                  <a:pt x="165199" y="50453"/>
                  <a:pt x="165199" y="71438"/>
                </a:cubicBezTo>
                <a:cubicBezTo>
                  <a:pt x="165199" y="92422"/>
                  <a:pt x="155572" y="111119"/>
                  <a:pt x="140447" y="123425"/>
                </a:cubicBezTo>
                <a:cubicBezTo>
                  <a:pt x="137573" y="125769"/>
                  <a:pt x="137154" y="129983"/>
                  <a:pt x="139471" y="132857"/>
                </a:cubicBezTo>
                <a:cubicBezTo>
                  <a:pt x="141787" y="135731"/>
                  <a:pt x="146028" y="136150"/>
                  <a:pt x="148903" y="133834"/>
                </a:cubicBezTo>
                <a:cubicBezTo>
                  <a:pt x="167013" y="119072"/>
                  <a:pt x="178594" y="96608"/>
                  <a:pt x="178594" y="71438"/>
                </a:cubicBezTo>
                <a:cubicBezTo>
                  <a:pt x="178594" y="46267"/>
                  <a:pt x="167013" y="23775"/>
                  <a:pt x="148903" y="9069"/>
                </a:cubicBezTo>
                <a:close/>
                <a:moveTo>
                  <a:pt x="132020" y="29859"/>
                </a:moveTo>
                <a:cubicBezTo>
                  <a:pt x="129146" y="27515"/>
                  <a:pt x="124932" y="27961"/>
                  <a:pt x="122588" y="30835"/>
                </a:cubicBezTo>
                <a:cubicBezTo>
                  <a:pt x="120244" y="33710"/>
                  <a:pt x="120690" y="37923"/>
                  <a:pt x="123565" y="40267"/>
                </a:cubicBezTo>
                <a:cubicBezTo>
                  <a:pt x="132634" y="47634"/>
                  <a:pt x="138410" y="58852"/>
                  <a:pt x="138410" y="71438"/>
                </a:cubicBezTo>
                <a:cubicBezTo>
                  <a:pt x="138410" y="84023"/>
                  <a:pt x="132634" y="95241"/>
                  <a:pt x="123565" y="102636"/>
                </a:cubicBezTo>
                <a:cubicBezTo>
                  <a:pt x="120690" y="104980"/>
                  <a:pt x="120272" y="109193"/>
                  <a:pt x="122588" y="112068"/>
                </a:cubicBezTo>
                <a:cubicBezTo>
                  <a:pt x="124904" y="114942"/>
                  <a:pt x="129146" y="115360"/>
                  <a:pt x="132020" y="113044"/>
                </a:cubicBezTo>
                <a:cubicBezTo>
                  <a:pt x="144075" y="103222"/>
                  <a:pt x="151805" y="88236"/>
                  <a:pt x="151805" y="71465"/>
                </a:cubicBezTo>
                <a:cubicBezTo>
                  <a:pt x="151805" y="54694"/>
                  <a:pt x="144075" y="39709"/>
                  <a:pt x="132020" y="29887"/>
                </a:cubicBezTo>
                <a:close/>
                <a:moveTo>
                  <a:pt x="115137" y="50648"/>
                </a:moveTo>
                <a:cubicBezTo>
                  <a:pt x="112263" y="48304"/>
                  <a:pt x="108049" y="48751"/>
                  <a:pt x="105705" y="51625"/>
                </a:cubicBezTo>
                <a:cubicBezTo>
                  <a:pt x="103361" y="54499"/>
                  <a:pt x="103808" y="58713"/>
                  <a:pt x="106682" y="61057"/>
                </a:cubicBezTo>
                <a:cubicBezTo>
                  <a:pt x="109696" y="63512"/>
                  <a:pt x="111621" y="67252"/>
                  <a:pt x="111621" y="71438"/>
                </a:cubicBezTo>
                <a:cubicBezTo>
                  <a:pt x="111621" y="75623"/>
                  <a:pt x="109696" y="79363"/>
                  <a:pt x="106682" y="81846"/>
                </a:cubicBezTo>
                <a:cubicBezTo>
                  <a:pt x="103808" y="84190"/>
                  <a:pt x="103389" y="88404"/>
                  <a:pt x="105705" y="91278"/>
                </a:cubicBezTo>
                <a:cubicBezTo>
                  <a:pt x="108021" y="94152"/>
                  <a:pt x="112263" y="94571"/>
                  <a:pt x="115137" y="92255"/>
                </a:cubicBezTo>
                <a:cubicBezTo>
                  <a:pt x="121137" y="87316"/>
                  <a:pt x="125016" y="79837"/>
                  <a:pt x="125016" y="71438"/>
                </a:cubicBezTo>
                <a:cubicBezTo>
                  <a:pt x="125016" y="63038"/>
                  <a:pt x="121137" y="55559"/>
                  <a:pt x="115137" y="50648"/>
                </a:cubicBezTo>
                <a:close/>
                <a:moveTo>
                  <a:pt x="22324" y="98227"/>
                </a:moveTo>
                <a:lnTo>
                  <a:pt x="35719" y="98227"/>
                </a:lnTo>
                <a:lnTo>
                  <a:pt x="73140" y="131490"/>
                </a:lnTo>
                <a:cubicBezTo>
                  <a:pt x="74926" y="133080"/>
                  <a:pt x="77214" y="133945"/>
                  <a:pt x="79586" y="133945"/>
                </a:cubicBezTo>
                <a:cubicBezTo>
                  <a:pt x="84944" y="133945"/>
                  <a:pt x="89297" y="129592"/>
                  <a:pt x="89297" y="124234"/>
                </a:cubicBezTo>
                <a:lnTo>
                  <a:pt x="89297" y="18641"/>
                </a:lnTo>
                <a:cubicBezTo>
                  <a:pt x="89297" y="13283"/>
                  <a:pt x="84944" y="8930"/>
                  <a:pt x="79586" y="8930"/>
                </a:cubicBezTo>
                <a:cubicBezTo>
                  <a:pt x="77214" y="8930"/>
                  <a:pt x="74926" y="9795"/>
                  <a:pt x="73140" y="11385"/>
                </a:cubicBezTo>
                <a:lnTo>
                  <a:pt x="35719" y="44648"/>
                </a:lnTo>
                <a:lnTo>
                  <a:pt x="22324" y="44648"/>
                </a:lnTo>
                <a:cubicBezTo>
                  <a:pt x="14929" y="44648"/>
                  <a:pt x="8930" y="50648"/>
                  <a:pt x="8930" y="58043"/>
                </a:cubicBezTo>
                <a:lnTo>
                  <a:pt x="8930" y="84832"/>
                </a:lnTo>
                <a:cubicBezTo>
                  <a:pt x="8930" y="92227"/>
                  <a:pt x="14929" y="98227"/>
                  <a:pt x="22324" y="98227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0" name="Text 48"/>
          <p:cNvSpPr/>
          <p:nvPr/>
        </p:nvSpPr>
        <p:spPr>
          <a:xfrm>
            <a:off x="3536156" y="3921125"/>
            <a:ext cx="1230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Notification Sounds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3536156" y="4111625"/>
            <a:ext cx="1222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Audio alerts (JavaScript)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3469" y="39528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5" y="17859"/>
                </a:moveTo>
                <a:cubicBezTo>
                  <a:pt x="6000" y="17859"/>
                  <a:pt x="0" y="23859"/>
                  <a:pt x="0" y="31254"/>
                </a:cubicBezTo>
                <a:cubicBezTo>
                  <a:pt x="0" y="35468"/>
                  <a:pt x="1981" y="39430"/>
                  <a:pt x="5358" y="41970"/>
                </a:cubicBezTo>
                <a:lnTo>
                  <a:pt x="63401" y="85502"/>
                </a:lnTo>
                <a:cubicBezTo>
                  <a:pt x="68173" y="89074"/>
                  <a:pt x="74702" y="89074"/>
                  <a:pt x="79474" y="85502"/>
                </a:cubicBezTo>
                <a:lnTo>
                  <a:pt x="137517" y="41970"/>
                </a:lnTo>
                <a:cubicBezTo>
                  <a:pt x="140894" y="39430"/>
                  <a:pt x="142875" y="35468"/>
                  <a:pt x="142875" y="31254"/>
                </a:cubicBezTo>
                <a:cubicBezTo>
                  <a:pt x="142875" y="23859"/>
                  <a:pt x="136875" y="17859"/>
                  <a:pt x="129480" y="17859"/>
                </a:cubicBezTo>
                <a:lnTo>
                  <a:pt x="13395" y="17859"/>
                </a:lnTo>
                <a:close/>
                <a:moveTo>
                  <a:pt x="0" y="54694"/>
                </a:moveTo>
                <a:lnTo>
                  <a:pt x="0" y="107156"/>
                </a:lnTo>
                <a:cubicBezTo>
                  <a:pt x="0" y="117007"/>
                  <a:pt x="8009" y="125016"/>
                  <a:pt x="17859" y="125016"/>
                </a:cubicBezTo>
                <a:lnTo>
                  <a:pt x="125016" y="125016"/>
                </a:lnTo>
                <a:cubicBezTo>
                  <a:pt x="134866" y="125016"/>
                  <a:pt x="142875" y="117007"/>
                  <a:pt x="142875" y="107156"/>
                </a:cubicBezTo>
                <a:lnTo>
                  <a:pt x="142875" y="54694"/>
                </a:lnTo>
                <a:lnTo>
                  <a:pt x="87511" y="96217"/>
                </a:lnTo>
                <a:cubicBezTo>
                  <a:pt x="77995" y="103361"/>
                  <a:pt x="64880" y="103361"/>
                  <a:pt x="55364" y="96217"/>
                </a:cubicBezTo>
                <a:lnTo>
                  <a:pt x="0" y="54694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3" name="Text 51"/>
          <p:cNvSpPr/>
          <p:nvPr/>
        </p:nvSpPr>
        <p:spPr>
          <a:xfrm>
            <a:off x="6385719" y="3921125"/>
            <a:ext cx="136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Email Integration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85719" y="4111625"/>
            <a:ext cx="135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SMTP/notification services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013031" y="39528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2721" y="0"/>
                  <a:pt x="74005" y="279"/>
                  <a:pt x="75177" y="809"/>
                </a:cubicBezTo>
                <a:lnTo>
                  <a:pt x="127750" y="23106"/>
                </a:lnTo>
                <a:cubicBezTo>
                  <a:pt x="133890" y="25701"/>
                  <a:pt x="138466" y="31756"/>
                  <a:pt x="138438" y="39067"/>
                </a:cubicBezTo>
                <a:cubicBezTo>
                  <a:pt x="138299" y="66749"/>
                  <a:pt x="126913" y="117397"/>
                  <a:pt x="78832" y="140419"/>
                </a:cubicBezTo>
                <a:cubicBezTo>
                  <a:pt x="74172" y="142652"/>
                  <a:pt x="68759" y="142652"/>
                  <a:pt x="64098" y="140419"/>
                </a:cubicBezTo>
                <a:cubicBezTo>
                  <a:pt x="15990" y="117397"/>
                  <a:pt x="4632" y="66749"/>
                  <a:pt x="4493" y="39067"/>
                </a:cubicBezTo>
                <a:cubicBezTo>
                  <a:pt x="4465" y="31756"/>
                  <a:pt x="9041" y="25701"/>
                  <a:pt x="15180" y="23106"/>
                </a:cubicBezTo>
                <a:lnTo>
                  <a:pt x="67726" y="809"/>
                </a:lnTo>
                <a:cubicBezTo>
                  <a:pt x="68898" y="279"/>
                  <a:pt x="70154" y="0"/>
                  <a:pt x="71438" y="0"/>
                </a:cubicBezTo>
                <a:close/>
                <a:moveTo>
                  <a:pt x="71438" y="18641"/>
                </a:moveTo>
                <a:lnTo>
                  <a:pt x="71438" y="124151"/>
                </a:lnTo>
                <a:cubicBezTo>
                  <a:pt x="109947" y="105510"/>
                  <a:pt x="120300" y="64210"/>
                  <a:pt x="120551" y="39486"/>
                </a:cubicBezTo>
                <a:lnTo>
                  <a:pt x="71438" y="18669"/>
                </a:lnTo>
                <a:lnTo>
                  <a:pt x="71438" y="18669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6" name="Text 54"/>
          <p:cNvSpPr/>
          <p:nvPr/>
        </p:nvSpPr>
        <p:spPr>
          <a:xfrm>
            <a:off x="9235281" y="3921125"/>
            <a:ext cx="1484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Secure Auth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235281" y="4111625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OAuth/JWT implementation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33375" y="4524375"/>
            <a:ext cx="5699125" cy="2159000"/>
          </a:xfrm>
          <a:custGeom>
            <a:avLst/>
            <a:gdLst/>
            <a:ahLst/>
            <a:cxnLst/>
            <a:rect l="l" t="t" r="r" b="b"/>
            <a:pathLst>
              <a:path w="5699125" h="2159000">
                <a:moveTo>
                  <a:pt x="0" y="0"/>
                </a:moveTo>
                <a:lnTo>
                  <a:pt x="5699125" y="0"/>
                </a:lnTo>
                <a:lnTo>
                  <a:pt x="5699125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9" name="Shape 57"/>
          <p:cNvSpPr/>
          <p:nvPr/>
        </p:nvSpPr>
        <p:spPr>
          <a:xfrm>
            <a:off x="333375" y="4524375"/>
            <a:ext cx="31750" cy="2159000"/>
          </a:xfrm>
          <a:custGeom>
            <a:avLst/>
            <a:gdLst/>
            <a:ahLst/>
            <a:cxnLst/>
            <a:rect l="l" t="t" r="r" b="b"/>
            <a:pathLst>
              <a:path w="31750" h="2159000">
                <a:moveTo>
                  <a:pt x="0" y="0"/>
                </a:moveTo>
                <a:lnTo>
                  <a:pt x="31750" y="0"/>
                </a:lnTo>
                <a:lnTo>
                  <a:pt x="31750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496094" y="46751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95603" y="2623"/>
                </a:moveTo>
                <a:cubicBezTo>
                  <a:pt x="92115" y="-865"/>
                  <a:pt x="86451" y="-865"/>
                  <a:pt x="82962" y="2623"/>
                </a:cubicBezTo>
                <a:cubicBezTo>
                  <a:pt x="79474" y="6111"/>
                  <a:pt x="79474" y="11776"/>
                  <a:pt x="82962" y="15264"/>
                </a:cubicBezTo>
                <a:lnTo>
                  <a:pt x="85585" y="17859"/>
                </a:lnTo>
                <a:lnTo>
                  <a:pt x="7841" y="95603"/>
                </a:lnTo>
                <a:cubicBezTo>
                  <a:pt x="2818" y="100626"/>
                  <a:pt x="0" y="107435"/>
                  <a:pt x="0" y="114551"/>
                </a:cubicBezTo>
                <a:lnTo>
                  <a:pt x="0" y="116086"/>
                </a:lnTo>
                <a:cubicBezTo>
                  <a:pt x="0" y="130876"/>
                  <a:pt x="11999" y="142875"/>
                  <a:pt x="26789" y="142875"/>
                </a:cubicBezTo>
                <a:lnTo>
                  <a:pt x="28324" y="142875"/>
                </a:lnTo>
                <a:cubicBezTo>
                  <a:pt x="35440" y="142875"/>
                  <a:pt x="42249" y="140057"/>
                  <a:pt x="47272" y="135034"/>
                </a:cubicBezTo>
                <a:lnTo>
                  <a:pt x="125016" y="57290"/>
                </a:lnTo>
                <a:lnTo>
                  <a:pt x="127639" y="59913"/>
                </a:lnTo>
                <a:cubicBezTo>
                  <a:pt x="131127" y="63401"/>
                  <a:pt x="136792" y="63401"/>
                  <a:pt x="140280" y="59913"/>
                </a:cubicBezTo>
                <a:cubicBezTo>
                  <a:pt x="143768" y="56424"/>
                  <a:pt x="143768" y="50760"/>
                  <a:pt x="140280" y="47272"/>
                </a:cubicBezTo>
                <a:lnTo>
                  <a:pt x="95631" y="2623"/>
                </a:lnTo>
                <a:close/>
                <a:moveTo>
                  <a:pt x="57290" y="71438"/>
                </a:moveTo>
                <a:lnTo>
                  <a:pt x="98227" y="30500"/>
                </a:lnTo>
                <a:lnTo>
                  <a:pt x="112375" y="44648"/>
                </a:lnTo>
                <a:lnTo>
                  <a:pt x="85585" y="71438"/>
                </a:lnTo>
                <a:lnTo>
                  <a:pt x="57262" y="7143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1" name="Text 59"/>
          <p:cNvSpPr/>
          <p:nvPr/>
        </p:nvSpPr>
        <p:spPr>
          <a:xfrm>
            <a:off x="698500" y="4651375"/>
            <a:ext cx="5278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Testing &amp; Quality Assurance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92125" y="50006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3" name="Text 61"/>
          <p:cNvSpPr/>
          <p:nvPr/>
        </p:nvSpPr>
        <p:spPr>
          <a:xfrm>
            <a:off x="698500" y="4968875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Desktop browser compatibility (Chrome, Firefox, Safari, Edge)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92125" y="52546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5" name="Text 63"/>
          <p:cNvSpPr/>
          <p:nvPr/>
        </p:nvSpPr>
        <p:spPr>
          <a:xfrm>
            <a:off x="698500" y="5222875"/>
            <a:ext cx="255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Mobile responsiveness testing (iOS, Android)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92125" y="55086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7" name="Text 65"/>
          <p:cNvSpPr/>
          <p:nvPr/>
        </p:nvSpPr>
        <p:spPr>
          <a:xfrm>
            <a:off x="698500" y="5476875"/>
            <a:ext cx="1920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Unit and integration testing suites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92125" y="5762625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9" name="Text 67"/>
          <p:cNvSpPr/>
          <p:nvPr/>
        </p:nvSpPr>
        <p:spPr>
          <a:xfrm>
            <a:off x="698500" y="5730875"/>
            <a:ext cx="2436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acceptance testing with teacher cohort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59500" y="4524375"/>
            <a:ext cx="5715000" cy="2159000"/>
          </a:xfrm>
          <a:custGeom>
            <a:avLst/>
            <a:gdLst/>
            <a:ahLst/>
            <a:cxnLst/>
            <a:rect l="l" t="t" r="r" b="b"/>
            <a:pathLst>
              <a:path w="5715000" h="2159000">
                <a:moveTo>
                  <a:pt x="0" y="0"/>
                </a:moveTo>
                <a:lnTo>
                  <a:pt x="5715000" y="0"/>
                </a:lnTo>
                <a:lnTo>
                  <a:pt x="5715000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71" name="Shape 69"/>
          <p:cNvSpPr/>
          <p:nvPr/>
        </p:nvSpPr>
        <p:spPr>
          <a:xfrm>
            <a:off x="6306344" y="46751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62480" y="8930"/>
                </a:moveTo>
                <a:lnTo>
                  <a:pt x="41216" y="8930"/>
                </a:lnTo>
                <a:cubicBezTo>
                  <a:pt x="33012" y="8930"/>
                  <a:pt x="25840" y="14539"/>
                  <a:pt x="23887" y="22492"/>
                </a:cubicBezTo>
                <a:lnTo>
                  <a:pt x="391" y="117342"/>
                </a:lnTo>
                <a:cubicBezTo>
                  <a:pt x="-1702" y="125769"/>
                  <a:pt x="4688" y="133945"/>
                  <a:pt x="13395" y="133945"/>
                </a:cubicBezTo>
                <a:lnTo>
                  <a:pt x="62480" y="133945"/>
                </a:lnTo>
                <a:lnTo>
                  <a:pt x="62480" y="116086"/>
                </a:lnTo>
                <a:cubicBezTo>
                  <a:pt x="62480" y="111147"/>
                  <a:pt x="66470" y="107156"/>
                  <a:pt x="71410" y="107156"/>
                </a:cubicBezTo>
                <a:cubicBezTo>
                  <a:pt x="76349" y="107156"/>
                  <a:pt x="80339" y="111147"/>
                  <a:pt x="80339" y="116086"/>
                </a:cubicBezTo>
                <a:lnTo>
                  <a:pt x="80339" y="133945"/>
                </a:lnTo>
                <a:lnTo>
                  <a:pt x="129480" y="133945"/>
                </a:lnTo>
                <a:cubicBezTo>
                  <a:pt x="138187" y="133945"/>
                  <a:pt x="144577" y="125769"/>
                  <a:pt x="142484" y="117342"/>
                </a:cubicBezTo>
                <a:lnTo>
                  <a:pt x="119016" y="22492"/>
                </a:lnTo>
                <a:cubicBezTo>
                  <a:pt x="117035" y="14539"/>
                  <a:pt x="109891" y="8930"/>
                  <a:pt x="101659" y="8930"/>
                </a:cubicBezTo>
                <a:lnTo>
                  <a:pt x="80339" y="8930"/>
                </a:lnTo>
                <a:lnTo>
                  <a:pt x="80339" y="26789"/>
                </a:lnTo>
                <a:cubicBezTo>
                  <a:pt x="80339" y="31728"/>
                  <a:pt x="76349" y="35719"/>
                  <a:pt x="71410" y="35719"/>
                </a:cubicBezTo>
                <a:cubicBezTo>
                  <a:pt x="66470" y="35719"/>
                  <a:pt x="62480" y="31728"/>
                  <a:pt x="62480" y="26789"/>
                </a:cubicBezTo>
                <a:lnTo>
                  <a:pt x="62480" y="8930"/>
                </a:lnTo>
                <a:close/>
                <a:moveTo>
                  <a:pt x="80339" y="62508"/>
                </a:moveTo>
                <a:lnTo>
                  <a:pt x="80339" y="80367"/>
                </a:lnTo>
                <a:cubicBezTo>
                  <a:pt x="80339" y="85306"/>
                  <a:pt x="76349" y="89297"/>
                  <a:pt x="71410" y="89297"/>
                </a:cubicBezTo>
                <a:cubicBezTo>
                  <a:pt x="66470" y="89297"/>
                  <a:pt x="62480" y="85306"/>
                  <a:pt x="62480" y="80367"/>
                </a:cubicBezTo>
                <a:lnTo>
                  <a:pt x="62480" y="62508"/>
                </a:lnTo>
                <a:cubicBezTo>
                  <a:pt x="62480" y="57569"/>
                  <a:pt x="66470" y="53578"/>
                  <a:pt x="71410" y="53578"/>
                </a:cubicBezTo>
                <a:cubicBezTo>
                  <a:pt x="76349" y="53578"/>
                  <a:pt x="80339" y="57569"/>
                  <a:pt x="80339" y="62508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2" name="Text 70"/>
          <p:cNvSpPr/>
          <p:nvPr/>
        </p:nvSpPr>
        <p:spPr>
          <a:xfrm>
            <a:off x="6508750" y="4651375"/>
            <a:ext cx="531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Implementation Roadmap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286500" y="4968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4" name="Text 72"/>
          <p:cNvSpPr/>
          <p:nvPr/>
        </p:nvSpPr>
        <p:spPr>
          <a:xfrm>
            <a:off x="6258719" y="4968875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540500" y="4968875"/>
            <a:ext cx="20240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Phase 1: MVP Development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540500" y="5159375"/>
            <a:ext cx="201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CRUD operations, basic dashboard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286500" y="53816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8" name="Text 76"/>
          <p:cNvSpPr/>
          <p:nvPr/>
        </p:nvSpPr>
        <p:spPr>
          <a:xfrm>
            <a:off x="6258719" y="5381625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540500" y="5381625"/>
            <a:ext cx="1722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Phase 2: Feature Enhancement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6540500" y="5572125"/>
            <a:ext cx="171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Alerts, reporting, bulk operations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286500" y="5794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2" name="Text 80"/>
          <p:cNvSpPr/>
          <p:nvPr/>
        </p:nvSpPr>
        <p:spPr>
          <a:xfrm>
            <a:off x="6258719" y="5794375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540500" y="5794375"/>
            <a:ext cx="1833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Phase 3: Pilot Rollout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540500" y="5984875"/>
            <a:ext cx="1825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Teacher training, feedback collection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286500" y="6207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6" name="Text 84"/>
          <p:cNvSpPr/>
          <p:nvPr/>
        </p:nvSpPr>
        <p:spPr>
          <a:xfrm>
            <a:off x="6258719" y="6207125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540500" y="6207125"/>
            <a:ext cx="1873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Phase 4: Full Deployment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6540500" y="6397625"/>
            <a:ext cx="18653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9FAFB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School-wide implementation, support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317500" y="6786563"/>
            <a:ext cx="11557000" cy="15875"/>
          </a:xfrm>
          <a:custGeom>
            <a:avLst/>
            <a:gdLst/>
            <a:ahLst/>
            <a:cxnLst/>
            <a:rect l="l" t="t" r="r" b="b"/>
            <a:pathLst>
              <a:path w="11557000" h="15875">
                <a:moveTo>
                  <a:pt x="0" y="0"/>
                </a:moveTo>
                <a:lnTo>
                  <a:pt x="11557000" y="0"/>
                </a:lnTo>
                <a:lnTo>
                  <a:pt x="11557000" y="15875"/>
                </a:lnTo>
                <a:lnTo>
                  <a:pt x="0" y="1587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0" name="Text 88"/>
          <p:cNvSpPr/>
          <p:nvPr/>
        </p:nvSpPr>
        <p:spPr>
          <a:xfrm>
            <a:off x="277813" y="6889750"/>
            <a:ext cx="1163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"Transforming educational data into actionable insights for enhanced learner success."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Teacher Educational Management Dashboard System</dc:title>
  <dc:subject>Teacher Educational Management Dashboard System</dc:subject>
  <dc:creator>Kimi</dc:creator>
  <cp:lastModifiedBy>Kimi</cp:lastModifiedBy>
  <cp:revision>1</cp:revision>
  <dcterms:created xsi:type="dcterms:W3CDTF">2026-02-23T03:37:16Z</dcterms:created>
  <dcterms:modified xsi:type="dcterms:W3CDTF">2026-02-23T03:37:16Z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{"Label":"Teacher Educational Management Dashboard System","ContentProducer":"001191110108MACG2KBH8F10000","ProduceID":"19c88896-f132-8645-8000-0000f5a65af2","ReservedCode1":"","ContentPropagator":"001191110108MACG2KBH8F20000","PropagateID":"19c88896-f132-8645-8000-0000f5a65af2","ReservedCode2":""}</vt:lpwstr>
  </property>
</Properties>
</file>